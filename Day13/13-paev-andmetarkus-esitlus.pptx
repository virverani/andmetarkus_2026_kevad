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417" r:id="rId5"/>
    <p:sldId id="462" r:id="rId6"/>
    <p:sldId id="516" r:id="rId7"/>
    <p:sldId id="482" r:id="rId8"/>
    <p:sldId id="518" r:id="rId9"/>
    <p:sldId id="520" r:id="rId10"/>
    <p:sldId id="525" r:id="rId11"/>
    <p:sldId id="526" r:id="rId12"/>
    <p:sldId id="625" r:id="rId13"/>
    <p:sldId id="607" r:id="rId14"/>
    <p:sldId id="542" r:id="rId15"/>
    <p:sldId id="515" r:id="rId16"/>
    <p:sldId id="528" r:id="rId17"/>
    <p:sldId id="527" r:id="rId18"/>
    <p:sldId id="495" r:id="rId19"/>
    <p:sldId id="529" r:id="rId20"/>
    <p:sldId id="626" r:id="rId21"/>
    <p:sldId id="606" r:id="rId22"/>
    <p:sldId id="609" r:id="rId23"/>
    <p:sldId id="610" r:id="rId24"/>
    <p:sldId id="627" r:id="rId25"/>
    <p:sldId id="628" r:id="rId26"/>
    <p:sldId id="521" r:id="rId27"/>
    <p:sldId id="605" r:id="rId28"/>
    <p:sldId id="630" r:id="rId29"/>
    <p:sldId id="629" r:id="rId30"/>
    <p:sldId id="612" r:id="rId31"/>
    <p:sldId id="631" r:id="rId32"/>
    <p:sldId id="620" r:id="rId33"/>
    <p:sldId id="624" r:id="rId34"/>
    <p:sldId id="622" r:id="rId35"/>
  </p:sldIdLst>
  <p:sldSz cx="12192000" cy="6858000"/>
  <p:notesSz cx="6858000" cy="9144000"/>
  <p:embeddedFontLst>
    <p:embeddedFont>
      <p:font typeface="Inter" panose="020B0604020202020204" charset="0"/>
      <p:regular r:id="rId38"/>
      <p:bold r:id="rId39"/>
      <p:italic r:id="rId40"/>
      <p:boldItalic r:id="rId41"/>
    </p:embeddedFont>
    <p:embeddedFont>
      <p:font typeface="Inter Bold" panose="020B0604020202020204" charset="0"/>
      <p:bold r:id="rId42"/>
    </p:embeddedFont>
    <p:embeddedFont>
      <p:font typeface="Poppins SemiBold" panose="00000700000000000000" pitchFamily="2" charset="0"/>
      <p:bold r:id="rId43"/>
      <p:boldItalic r:id="rId44"/>
    </p:embeddedFont>
    <p:embeddedFont>
      <p:font typeface="Roboto" panose="02000000000000000000" pitchFamily="2" charset="0"/>
      <p:regular r:id="rId45"/>
      <p:bold r:id="rId46"/>
      <p:italic r:id="rId47"/>
      <p:boldItalic r:id="rId48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7C454A-831A-492D-9C51-622AC1842657}" v="6" dt="2026-04-16T08:36:39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modSld">
      <pc:chgData name="Virve Räni" userId="161a7437-7ef4-49ec-91bf-54882f313dfe" providerId="ADAL" clId="{6D754EED-65AA-4A21-B175-6769012CF487}" dt="2026-04-16T08:36:39.990" v="23" actId="20577"/>
      <pc:docMkLst>
        <pc:docMk/>
      </pc:docMkLst>
      <pc:sldChg chg="modSp mod">
        <pc:chgData name="Virve Räni" userId="161a7437-7ef4-49ec-91bf-54882f313dfe" providerId="ADAL" clId="{6D754EED-65AA-4A21-B175-6769012CF487}" dt="2026-03-18T07:39:51.007" v="5" actId="20577"/>
        <pc:sldMkLst>
          <pc:docMk/>
          <pc:sldMk cId="2440097380" sldId="462"/>
        </pc:sldMkLst>
        <pc:spChg chg="mod">
          <ac:chgData name="Virve Räni" userId="161a7437-7ef4-49ec-91bf-54882f313dfe" providerId="ADAL" clId="{6D754EED-65AA-4A21-B175-6769012CF487}" dt="2026-03-18T07:39:51.007" v="5" actId="20577"/>
          <ac:spMkLst>
            <pc:docMk/>
            <pc:sldMk cId="2440097380" sldId="462"/>
            <ac:spMk id="2" creationId="{79604C40-604F-EE8D-CE1F-13061981E5FD}"/>
          </ac:spMkLst>
        </pc:spChg>
      </pc:sldChg>
      <pc:sldChg chg="modSp">
        <pc:chgData name="Virve Räni" userId="161a7437-7ef4-49ec-91bf-54882f313dfe" providerId="ADAL" clId="{6D754EED-65AA-4A21-B175-6769012CF487}" dt="2026-03-18T07:40:25.759" v="8" actId="20577"/>
        <pc:sldMkLst>
          <pc:docMk/>
          <pc:sldMk cId="713765345" sldId="528"/>
        </pc:sldMkLst>
        <pc:spChg chg="mod">
          <ac:chgData name="Virve Räni" userId="161a7437-7ef4-49ec-91bf-54882f313dfe" providerId="ADAL" clId="{6D754EED-65AA-4A21-B175-6769012CF487}" dt="2026-03-18T07:40:25.759" v="8" actId="20577"/>
          <ac:spMkLst>
            <pc:docMk/>
            <pc:sldMk cId="713765345" sldId="528"/>
            <ac:spMk id="6" creationId="{D988D9F6-3B69-D500-134F-75E93D4C5D17}"/>
          </ac:spMkLst>
        </pc:spChg>
      </pc:sldChg>
      <pc:sldChg chg="modSp">
        <pc:chgData name="Virve Räni" userId="161a7437-7ef4-49ec-91bf-54882f313dfe" providerId="ADAL" clId="{6D754EED-65AA-4A21-B175-6769012CF487}" dt="2026-04-16T07:46:49.752" v="20" actId="20577"/>
        <pc:sldMkLst>
          <pc:docMk/>
          <pc:sldMk cId="1973167629" sldId="610"/>
        </pc:sldMkLst>
        <pc:spChg chg="mod">
          <ac:chgData name="Virve Räni" userId="161a7437-7ef4-49ec-91bf-54882f313dfe" providerId="ADAL" clId="{6D754EED-65AA-4A21-B175-6769012CF487}" dt="2026-04-16T07:46:49.752" v="20" actId="20577"/>
          <ac:spMkLst>
            <pc:docMk/>
            <pc:sldMk cId="1973167629" sldId="610"/>
            <ac:spMk id="4" creationId="{BA9D0B26-D03D-2FA5-F688-57B68766535A}"/>
          </ac:spMkLst>
        </pc:spChg>
      </pc:sldChg>
      <pc:sldChg chg="modSp">
        <pc:chgData name="Virve Räni" userId="161a7437-7ef4-49ec-91bf-54882f313dfe" providerId="ADAL" clId="{6D754EED-65AA-4A21-B175-6769012CF487}" dt="2026-04-16T08:36:39.990" v="23" actId="20577"/>
        <pc:sldMkLst>
          <pc:docMk/>
          <pc:sldMk cId="1529040469" sldId="628"/>
        </pc:sldMkLst>
        <pc:spChg chg="mod">
          <ac:chgData name="Virve Räni" userId="161a7437-7ef4-49ec-91bf-54882f313dfe" providerId="ADAL" clId="{6D754EED-65AA-4A21-B175-6769012CF487}" dt="2026-04-16T08:36:39.990" v="23" actId="20577"/>
          <ac:spMkLst>
            <pc:docMk/>
            <pc:sldMk cId="1529040469" sldId="628"/>
            <ac:spMk id="3" creationId="{60CA2AA6-94D4-25A3-65F6-84FAD811714E}"/>
          </ac:spMkLst>
        </pc:spChg>
      </pc:sldChg>
      <pc:sldChg chg="modSp">
        <pc:chgData name="Virve Räni" userId="161a7437-7ef4-49ec-91bf-54882f313dfe" providerId="ADAL" clId="{6D754EED-65AA-4A21-B175-6769012CF487}" dt="2026-03-18T07:40:55.776" v="14" actId="20577"/>
        <pc:sldMkLst>
          <pc:docMk/>
          <pc:sldMk cId="3477013833" sldId="629"/>
        </pc:sldMkLst>
        <pc:spChg chg="mod">
          <ac:chgData name="Virve Räni" userId="161a7437-7ef4-49ec-91bf-54882f313dfe" providerId="ADAL" clId="{6D754EED-65AA-4A21-B175-6769012CF487}" dt="2026-03-18T07:40:55.776" v="14" actId="20577"/>
          <ac:spMkLst>
            <pc:docMk/>
            <pc:sldMk cId="3477013833" sldId="629"/>
            <ac:spMk id="3" creationId="{4571D5DF-1C14-941A-5FB0-C078DD6CF9EF}"/>
          </ac:spMkLst>
        </pc:spChg>
      </pc:sldChg>
      <pc:sldChg chg="modSp">
        <pc:chgData name="Virve Räni" userId="161a7437-7ef4-49ec-91bf-54882f313dfe" providerId="ADAL" clId="{6D754EED-65AA-4A21-B175-6769012CF487}" dt="2026-03-18T07:40:49.138" v="11" actId="20577"/>
        <pc:sldMkLst>
          <pc:docMk/>
          <pc:sldMk cId="333880543" sldId="630"/>
        </pc:sldMkLst>
        <pc:spChg chg="mod">
          <ac:chgData name="Virve Räni" userId="161a7437-7ef4-49ec-91bf-54882f313dfe" providerId="ADAL" clId="{6D754EED-65AA-4A21-B175-6769012CF487}" dt="2026-03-18T07:40:49.138" v="11" actId="20577"/>
          <ac:spMkLst>
            <pc:docMk/>
            <pc:sldMk cId="333880543" sldId="630"/>
            <ac:spMk id="3" creationId="{EEAD82DD-11F7-C6CC-5DC6-0C6419264809}"/>
          </ac:spMkLst>
        </pc:spChg>
      </pc:sldChg>
      <pc:sldChg chg="modSp">
        <pc:chgData name="Virve Räni" userId="161a7437-7ef4-49ec-91bf-54882f313dfe" providerId="ADAL" clId="{6D754EED-65AA-4A21-B175-6769012CF487}" dt="2026-03-18T07:41:05.507" v="17" actId="20577"/>
        <pc:sldMkLst>
          <pc:docMk/>
          <pc:sldMk cId="627213003" sldId="631"/>
        </pc:sldMkLst>
        <pc:spChg chg="mod">
          <ac:chgData name="Virve Räni" userId="161a7437-7ef4-49ec-91bf-54882f313dfe" providerId="ADAL" clId="{6D754EED-65AA-4A21-B175-6769012CF487}" dt="2026-03-18T07:41:05.507" v="17" actId="20577"/>
          <ac:spMkLst>
            <pc:docMk/>
            <pc:sldMk cId="627213003" sldId="631"/>
            <ac:spMk id="3" creationId="{F0A86AF7-AFA7-8551-547F-6EBEC970664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5D4BD2-5D69-4816-8F86-B85152E690F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27AC3F-5D60-4BA0-8BBF-731BE2D3050F}">
      <dgm:prSet phldrT="[Text]" phldr="0"/>
      <dgm:spPr/>
      <dgm:t>
        <a:bodyPr/>
        <a:lstStyle/>
        <a:p>
          <a:r>
            <a:rPr lang="en-US" err="1"/>
            <a:t>Andmetüübid</a:t>
          </a:r>
          <a:endParaRPr lang="en-US"/>
        </a:p>
      </dgm:t>
    </dgm:pt>
    <dgm:pt modelId="{40E47EF3-D723-45E1-ABBE-67E3AA302044}" type="parTrans" cxnId="{593FC03A-402A-4F6B-A7B1-CDE1B36EE7FA}">
      <dgm:prSet/>
      <dgm:spPr/>
      <dgm:t>
        <a:bodyPr/>
        <a:lstStyle/>
        <a:p>
          <a:endParaRPr lang="en-US"/>
        </a:p>
      </dgm:t>
    </dgm:pt>
    <dgm:pt modelId="{D4D40059-6199-4C12-9B31-4E2E3C26FE6A}" type="sibTrans" cxnId="{593FC03A-402A-4F6B-A7B1-CDE1B36EE7FA}">
      <dgm:prSet/>
      <dgm:spPr/>
      <dgm:t>
        <a:bodyPr/>
        <a:lstStyle/>
        <a:p>
          <a:endParaRPr lang="en-US"/>
        </a:p>
      </dgm:t>
    </dgm:pt>
    <dgm:pt modelId="{41445C6D-F3B5-4407-BAE2-B43EC238A5DE}">
      <dgm:prSet phldrT="[Text]" phldr="0"/>
      <dgm:spPr/>
      <dgm:t>
        <a:bodyPr/>
        <a:lstStyle/>
        <a:p>
          <a:pPr rtl="0"/>
          <a:r>
            <a:rPr lang="en-US" err="1"/>
            <a:t>Kategoriaalne</a:t>
          </a:r>
          <a:r>
            <a:rPr lang="en-US"/>
            <a:t> </a:t>
          </a:r>
          <a:r>
            <a:rPr lang="en-US" err="1"/>
            <a:t>ehk</a:t>
          </a:r>
          <a:r>
            <a:rPr lang="en-US"/>
            <a:t> </a:t>
          </a:r>
          <a:r>
            <a:rPr lang="en-US" err="1"/>
            <a:t>kvalitatiivne</a:t>
          </a:r>
          <a:endParaRPr lang="en-US"/>
        </a:p>
      </dgm:t>
    </dgm:pt>
    <dgm:pt modelId="{B6490B65-5969-4DB9-B54D-4854E31D415B}" type="parTrans" cxnId="{F90D9D61-6FC9-4D65-B752-DE31AB4D47F0}">
      <dgm:prSet/>
      <dgm:spPr/>
      <dgm:t>
        <a:bodyPr/>
        <a:lstStyle/>
        <a:p>
          <a:endParaRPr lang="en-US"/>
        </a:p>
      </dgm:t>
    </dgm:pt>
    <dgm:pt modelId="{A508A259-7D1E-402C-819E-3E806605746F}" type="sibTrans" cxnId="{F90D9D61-6FC9-4D65-B752-DE31AB4D47F0}">
      <dgm:prSet/>
      <dgm:spPr/>
      <dgm:t>
        <a:bodyPr/>
        <a:lstStyle/>
        <a:p>
          <a:endParaRPr lang="en-US"/>
        </a:p>
      </dgm:t>
    </dgm:pt>
    <dgm:pt modelId="{683B90F1-1FC2-470A-9B89-9C5BF5C6501C}">
      <dgm:prSet phldrT="[Text]" phldr="0"/>
      <dgm:spPr/>
      <dgm:t>
        <a:bodyPr/>
        <a:lstStyle/>
        <a:p>
          <a:pPr rtl="0"/>
          <a:r>
            <a:rPr lang="en-US"/>
            <a:t>Järjestustunnus</a:t>
          </a:r>
        </a:p>
      </dgm:t>
    </dgm:pt>
    <dgm:pt modelId="{494BECC2-0E01-4A65-AE3A-8BC54729F316}" type="parTrans" cxnId="{E6DD9240-375A-47F3-8F62-0F4B1C469A13}">
      <dgm:prSet/>
      <dgm:spPr/>
      <dgm:t>
        <a:bodyPr/>
        <a:lstStyle/>
        <a:p>
          <a:endParaRPr lang="en-US"/>
        </a:p>
      </dgm:t>
    </dgm:pt>
    <dgm:pt modelId="{19C39347-9D4F-40A9-B991-A6C5E041C4B6}" type="sibTrans" cxnId="{E6DD9240-375A-47F3-8F62-0F4B1C469A13}">
      <dgm:prSet/>
      <dgm:spPr/>
      <dgm:t>
        <a:bodyPr/>
        <a:lstStyle/>
        <a:p>
          <a:endParaRPr lang="en-US"/>
        </a:p>
      </dgm:t>
    </dgm:pt>
    <dgm:pt modelId="{4B0AD802-8E08-4EFA-B48D-684E13314F9C}">
      <dgm:prSet phldrT="[Text]" phldr="0"/>
      <dgm:spPr/>
      <dgm:t>
        <a:bodyPr/>
        <a:lstStyle/>
        <a:p>
          <a:pPr rtl="0"/>
          <a:r>
            <a:rPr lang="en-US" sz="1800"/>
            <a:t>Nominaaltunnus</a:t>
          </a:r>
        </a:p>
      </dgm:t>
    </dgm:pt>
    <dgm:pt modelId="{EF784D51-5B25-4E38-9757-277F406705EA}" type="parTrans" cxnId="{C2B839CF-E0D5-42A5-89D4-142A78C4A76E}">
      <dgm:prSet/>
      <dgm:spPr/>
      <dgm:t>
        <a:bodyPr/>
        <a:lstStyle/>
        <a:p>
          <a:endParaRPr lang="en-US"/>
        </a:p>
      </dgm:t>
    </dgm:pt>
    <dgm:pt modelId="{803DA497-B571-4450-904B-BDECD3276E80}" type="sibTrans" cxnId="{C2B839CF-E0D5-42A5-89D4-142A78C4A76E}">
      <dgm:prSet/>
      <dgm:spPr/>
      <dgm:t>
        <a:bodyPr/>
        <a:lstStyle/>
        <a:p>
          <a:endParaRPr lang="en-US"/>
        </a:p>
      </dgm:t>
    </dgm:pt>
    <dgm:pt modelId="{9B1F2160-C7DD-4B3A-8E69-12F6653C3C20}">
      <dgm:prSet phldrT="[Text]" phldr="0"/>
      <dgm:spPr/>
      <dgm:t>
        <a:bodyPr/>
        <a:lstStyle/>
        <a:p>
          <a:pPr rtl="0"/>
          <a:r>
            <a:rPr lang="en-US" err="1"/>
            <a:t>Arvuline</a:t>
          </a:r>
          <a:r>
            <a:rPr lang="en-US"/>
            <a:t> </a:t>
          </a:r>
          <a:r>
            <a:rPr lang="en-US" err="1"/>
            <a:t>ehk</a:t>
          </a:r>
          <a:r>
            <a:rPr lang="en-US"/>
            <a:t> </a:t>
          </a:r>
          <a:r>
            <a:rPr lang="en-US" err="1"/>
            <a:t>kvantitatiivne</a:t>
          </a:r>
          <a:endParaRPr lang="en-US"/>
        </a:p>
      </dgm:t>
    </dgm:pt>
    <dgm:pt modelId="{8C8C6B67-FF3C-4A2F-A326-8BF388C7D8F7}" type="parTrans" cxnId="{7E040DA7-55F6-49C3-8531-8354259A0F5B}">
      <dgm:prSet/>
      <dgm:spPr/>
      <dgm:t>
        <a:bodyPr/>
        <a:lstStyle/>
        <a:p>
          <a:endParaRPr lang="en-US"/>
        </a:p>
      </dgm:t>
    </dgm:pt>
    <dgm:pt modelId="{DD3F0834-E0FB-479B-9154-15F3F0483A72}" type="sibTrans" cxnId="{7E040DA7-55F6-49C3-8531-8354259A0F5B}">
      <dgm:prSet/>
      <dgm:spPr/>
      <dgm:t>
        <a:bodyPr/>
        <a:lstStyle/>
        <a:p>
          <a:endParaRPr lang="en-US"/>
        </a:p>
      </dgm:t>
    </dgm:pt>
    <dgm:pt modelId="{3E638A60-8EB2-4ACC-BA26-3AF582D52E7E}">
      <dgm:prSet phldrT="[Text]" phldr="0"/>
      <dgm:spPr/>
      <dgm:t>
        <a:bodyPr/>
        <a:lstStyle/>
        <a:p>
          <a:pPr rtl="0"/>
          <a:r>
            <a:rPr lang="en-US" err="1"/>
            <a:t>Pidev</a:t>
          </a:r>
          <a:r>
            <a:rPr lang="en-US"/>
            <a:t> </a:t>
          </a:r>
          <a:r>
            <a:rPr lang="en-US" err="1"/>
            <a:t>tunnus</a:t>
          </a:r>
          <a:endParaRPr lang="en-US"/>
        </a:p>
      </dgm:t>
    </dgm:pt>
    <dgm:pt modelId="{73DB3940-3428-4758-BC40-8B608C65E030}" type="parTrans" cxnId="{A52140A7-94A6-4368-9B87-63B7556EA257}">
      <dgm:prSet/>
      <dgm:spPr/>
      <dgm:t>
        <a:bodyPr/>
        <a:lstStyle/>
        <a:p>
          <a:endParaRPr lang="en-US"/>
        </a:p>
      </dgm:t>
    </dgm:pt>
    <dgm:pt modelId="{26D1F416-6FE0-4823-826F-69388A64DE1A}" type="sibTrans" cxnId="{A52140A7-94A6-4368-9B87-63B7556EA257}">
      <dgm:prSet/>
      <dgm:spPr/>
      <dgm:t>
        <a:bodyPr/>
        <a:lstStyle/>
        <a:p>
          <a:endParaRPr lang="en-US"/>
        </a:p>
      </dgm:t>
    </dgm:pt>
    <dgm:pt modelId="{F6042526-E3BD-4010-9586-3A4A38ADF267}">
      <dgm:prSet phldr="0"/>
      <dgm:spPr/>
      <dgm:t>
        <a:bodyPr/>
        <a:lstStyle/>
        <a:p>
          <a:pPr rtl="0"/>
          <a:r>
            <a:rPr lang="en-US"/>
            <a:t>Diskreetne tunnus</a:t>
          </a:r>
        </a:p>
      </dgm:t>
    </dgm:pt>
    <dgm:pt modelId="{4638EA2C-0FE6-413C-B490-F33B2515AE02}" type="parTrans" cxnId="{CED3E60F-0AC0-47DF-BE1D-B514F920ABF8}">
      <dgm:prSet/>
      <dgm:spPr/>
      <dgm:t>
        <a:bodyPr/>
        <a:lstStyle/>
        <a:p>
          <a:endParaRPr lang="en-US"/>
        </a:p>
      </dgm:t>
    </dgm:pt>
    <dgm:pt modelId="{6625109D-F7D0-4C0D-A2A2-FC0B7E1E02A2}" type="sibTrans" cxnId="{CED3E60F-0AC0-47DF-BE1D-B514F920ABF8}">
      <dgm:prSet/>
      <dgm:spPr/>
      <dgm:t>
        <a:bodyPr/>
        <a:lstStyle/>
        <a:p>
          <a:endParaRPr lang="en-US"/>
        </a:p>
      </dgm:t>
    </dgm:pt>
    <dgm:pt modelId="{2B503E97-50F8-488D-B3F0-75854C9B2E5D}" type="pres">
      <dgm:prSet presAssocID="{185D4BD2-5D69-4816-8F86-B85152E690F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C5FBBF5-038E-4BE5-9424-45E86E553858}" type="pres">
      <dgm:prSet presAssocID="{B327AC3F-5D60-4BA0-8BBF-731BE2D3050F}" presName="hierRoot1" presStyleCnt="0">
        <dgm:presLayoutVars>
          <dgm:hierBranch val="init"/>
        </dgm:presLayoutVars>
      </dgm:prSet>
      <dgm:spPr/>
    </dgm:pt>
    <dgm:pt modelId="{9CD665FF-0371-4F7F-A0DA-B28F8D92798C}" type="pres">
      <dgm:prSet presAssocID="{B327AC3F-5D60-4BA0-8BBF-731BE2D3050F}" presName="rootComposite1" presStyleCnt="0"/>
      <dgm:spPr/>
    </dgm:pt>
    <dgm:pt modelId="{73F2460C-EBA7-44DB-822E-9947BDC34D3E}" type="pres">
      <dgm:prSet presAssocID="{B327AC3F-5D60-4BA0-8BBF-731BE2D3050F}" presName="rootText1" presStyleLbl="node0" presStyleIdx="0" presStyleCnt="1">
        <dgm:presLayoutVars>
          <dgm:chPref val="3"/>
        </dgm:presLayoutVars>
      </dgm:prSet>
      <dgm:spPr/>
    </dgm:pt>
    <dgm:pt modelId="{C3A8A31B-14FF-4536-AD0F-921D5BB8323A}" type="pres">
      <dgm:prSet presAssocID="{B327AC3F-5D60-4BA0-8BBF-731BE2D3050F}" presName="rootConnector1" presStyleLbl="node1" presStyleIdx="0" presStyleCnt="0"/>
      <dgm:spPr/>
    </dgm:pt>
    <dgm:pt modelId="{AF0123F8-C2CE-456A-AD12-AEE22937490A}" type="pres">
      <dgm:prSet presAssocID="{B327AC3F-5D60-4BA0-8BBF-731BE2D3050F}" presName="hierChild2" presStyleCnt="0"/>
      <dgm:spPr/>
    </dgm:pt>
    <dgm:pt modelId="{CD97373E-1243-4BF2-86A6-362435952472}" type="pres">
      <dgm:prSet presAssocID="{B6490B65-5969-4DB9-B54D-4854E31D415B}" presName="Name37" presStyleLbl="parChTrans1D2" presStyleIdx="0" presStyleCnt="2"/>
      <dgm:spPr/>
    </dgm:pt>
    <dgm:pt modelId="{8A9CFB01-BF8A-4520-94E5-0238393135B1}" type="pres">
      <dgm:prSet presAssocID="{41445C6D-F3B5-4407-BAE2-B43EC238A5DE}" presName="hierRoot2" presStyleCnt="0">
        <dgm:presLayoutVars>
          <dgm:hierBranch val="init"/>
        </dgm:presLayoutVars>
      </dgm:prSet>
      <dgm:spPr/>
    </dgm:pt>
    <dgm:pt modelId="{053BCBD8-AAA2-4FA2-AE37-248CB7FD987D}" type="pres">
      <dgm:prSet presAssocID="{41445C6D-F3B5-4407-BAE2-B43EC238A5DE}" presName="rootComposite" presStyleCnt="0"/>
      <dgm:spPr/>
    </dgm:pt>
    <dgm:pt modelId="{1C717799-3F95-4A3C-BBDF-1734DBA1204A}" type="pres">
      <dgm:prSet presAssocID="{41445C6D-F3B5-4407-BAE2-B43EC238A5DE}" presName="rootText" presStyleLbl="node2" presStyleIdx="0" presStyleCnt="2">
        <dgm:presLayoutVars>
          <dgm:chPref val="3"/>
        </dgm:presLayoutVars>
      </dgm:prSet>
      <dgm:spPr/>
    </dgm:pt>
    <dgm:pt modelId="{F10E4A49-3D58-4B90-82DF-91E6B791E9DF}" type="pres">
      <dgm:prSet presAssocID="{41445C6D-F3B5-4407-BAE2-B43EC238A5DE}" presName="rootConnector" presStyleLbl="node2" presStyleIdx="0" presStyleCnt="2"/>
      <dgm:spPr/>
    </dgm:pt>
    <dgm:pt modelId="{7FA816A6-DB69-4821-B018-5FAD5EDC5899}" type="pres">
      <dgm:prSet presAssocID="{41445C6D-F3B5-4407-BAE2-B43EC238A5DE}" presName="hierChild4" presStyleCnt="0"/>
      <dgm:spPr/>
    </dgm:pt>
    <dgm:pt modelId="{1013480E-CB53-416E-9F1F-AA5113836A59}" type="pres">
      <dgm:prSet presAssocID="{494BECC2-0E01-4A65-AE3A-8BC54729F316}" presName="Name37" presStyleLbl="parChTrans1D3" presStyleIdx="0" presStyleCnt="4"/>
      <dgm:spPr/>
    </dgm:pt>
    <dgm:pt modelId="{17188A54-B2C5-4A7C-8A2A-10912D8012C9}" type="pres">
      <dgm:prSet presAssocID="{683B90F1-1FC2-470A-9B89-9C5BF5C6501C}" presName="hierRoot2" presStyleCnt="0">
        <dgm:presLayoutVars>
          <dgm:hierBranch val="init"/>
        </dgm:presLayoutVars>
      </dgm:prSet>
      <dgm:spPr/>
    </dgm:pt>
    <dgm:pt modelId="{A82A9DA2-2FC7-4A2E-AE23-C9DCD20560BB}" type="pres">
      <dgm:prSet presAssocID="{683B90F1-1FC2-470A-9B89-9C5BF5C6501C}" presName="rootComposite" presStyleCnt="0"/>
      <dgm:spPr/>
    </dgm:pt>
    <dgm:pt modelId="{E2DB0A40-179D-463C-B8A0-E622AFF19469}" type="pres">
      <dgm:prSet presAssocID="{683B90F1-1FC2-470A-9B89-9C5BF5C6501C}" presName="rootText" presStyleLbl="node3" presStyleIdx="0" presStyleCnt="4">
        <dgm:presLayoutVars>
          <dgm:chPref val="3"/>
        </dgm:presLayoutVars>
      </dgm:prSet>
      <dgm:spPr/>
    </dgm:pt>
    <dgm:pt modelId="{2516B9A0-D9BD-49E9-9AA8-173FACEA9BE2}" type="pres">
      <dgm:prSet presAssocID="{683B90F1-1FC2-470A-9B89-9C5BF5C6501C}" presName="rootConnector" presStyleLbl="node3" presStyleIdx="0" presStyleCnt="4"/>
      <dgm:spPr/>
    </dgm:pt>
    <dgm:pt modelId="{C5DC382C-8060-4679-99AF-852A6483DFB1}" type="pres">
      <dgm:prSet presAssocID="{683B90F1-1FC2-470A-9B89-9C5BF5C6501C}" presName="hierChild4" presStyleCnt="0"/>
      <dgm:spPr/>
    </dgm:pt>
    <dgm:pt modelId="{6581C0AE-35BE-421B-91F3-7D4BFE6CE5DB}" type="pres">
      <dgm:prSet presAssocID="{683B90F1-1FC2-470A-9B89-9C5BF5C6501C}" presName="hierChild5" presStyleCnt="0"/>
      <dgm:spPr/>
    </dgm:pt>
    <dgm:pt modelId="{905E4C29-CEAA-49DE-85F4-E6AB1CD846E3}" type="pres">
      <dgm:prSet presAssocID="{EF784D51-5B25-4E38-9757-277F406705EA}" presName="Name37" presStyleLbl="parChTrans1D3" presStyleIdx="1" presStyleCnt="4"/>
      <dgm:spPr/>
    </dgm:pt>
    <dgm:pt modelId="{1DC8CCDE-5BAC-4946-90EC-CEB0CD178F11}" type="pres">
      <dgm:prSet presAssocID="{4B0AD802-8E08-4EFA-B48D-684E13314F9C}" presName="hierRoot2" presStyleCnt="0">
        <dgm:presLayoutVars>
          <dgm:hierBranch val="init"/>
        </dgm:presLayoutVars>
      </dgm:prSet>
      <dgm:spPr/>
    </dgm:pt>
    <dgm:pt modelId="{ABAF814F-2B01-4DEA-8019-6BE1FDDF3E12}" type="pres">
      <dgm:prSet presAssocID="{4B0AD802-8E08-4EFA-B48D-684E13314F9C}" presName="rootComposite" presStyleCnt="0"/>
      <dgm:spPr/>
    </dgm:pt>
    <dgm:pt modelId="{F7390953-2DC9-44C0-B753-2013E1EFA1B0}" type="pres">
      <dgm:prSet presAssocID="{4B0AD802-8E08-4EFA-B48D-684E13314F9C}" presName="rootText" presStyleLbl="node3" presStyleIdx="1" presStyleCnt="4">
        <dgm:presLayoutVars>
          <dgm:chPref val="3"/>
        </dgm:presLayoutVars>
      </dgm:prSet>
      <dgm:spPr/>
    </dgm:pt>
    <dgm:pt modelId="{CEFF4367-4E4B-468D-8E62-994BAE907BAC}" type="pres">
      <dgm:prSet presAssocID="{4B0AD802-8E08-4EFA-B48D-684E13314F9C}" presName="rootConnector" presStyleLbl="node3" presStyleIdx="1" presStyleCnt="4"/>
      <dgm:spPr/>
    </dgm:pt>
    <dgm:pt modelId="{92892AC1-4F49-449C-9A4C-A5C481401233}" type="pres">
      <dgm:prSet presAssocID="{4B0AD802-8E08-4EFA-B48D-684E13314F9C}" presName="hierChild4" presStyleCnt="0"/>
      <dgm:spPr/>
    </dgm:pt>
    <dgm:pt modelId="{FCFFAFFA-4254-4299-9DD1-EF2F67919FB4}" type="pres">
      <dgm:prSet presAssocID="{4B0AD802-8E08-4EFA-B48D-684E13314F9C}" presName="hierChild5" presStyleCnt="0"/>
      <dgm:spPr/>
    </dgm:pt>
    <dgm:pt modelId="{334F8752-0CC7-447F-A960-24CF17E0D1FA}" type="pres">
      <dgm:prSet presAssocID="{41445C6D-F3B5-4407-BAE2-B43EC238A5DE}" presName="hierChild5" presStyleCnt="0"/>
      <dgm:spPr/>
    </dgm:pt>
    <dgm:pt modelId="{EF5EC30D-99F0-47DA-A2E5-1679B62D74D5}" type="pres">
      <dgm:prSet presAssocID="{8C8C6B67-FF3C-4A2F-A326-8BF388C7D8F7}" presName="Name37" presStyleLbl="parChTrans1D2" presStyleIdx="1" presStyleCnt="2"/>
      <dgm:spPr/>
    </dgm:pt>
    <dgm:pt modelId="{62460191-3B65-40E9-8707-CE317A1475F2}" type="pres">
      <dgm:prSet presAssocID="{9B1F2160-C7DD-4B3A-8E69-12F6653C3C20}" presName="hierRoot2" presStyleCnt="0">
        <dgm:presLayoutVars>
          <dgm:hierBranch val="init"/>
        </dgm:presLayoutVars>
      </dgm:prSet>
      <dgm:spPr/>
    </dgm:pt>
    <dgm:pt modelId="{8C6BDBC3-73A8-4784-A839-858F54A24C6D}" type="pres">
      <dgm:prSet presAssocID="{9B1F2160-C7DD-4B3A-8E69-12F6653C3C20}" presName="rootComposite" presStyleCnt="0"/>
      <dgm:spPr/>
    </dgm:pt>
    <dgm:pt modelId="{8971886A-6BBD-4998-AFF6-CA7CE229D6BD}" type="pres">
      <dgm:prSet presAssocID="{9B1F2160-C7DD-4B3A-8E69-12F6653C3C20}" presName="rootText" presStyleLbl="node2" presStyleIdx="1" presStyleCnt="2">
        <dgm:presLayoutVars>
          <dgm:chPref val="3"/>
        </dgm:presLayoutVars>
      </dgm:prSet>
      <dgm:spPr/>
    </dgm:pt>
    <dgm:pt modelId="{94278E73-5074-482D-902A-218BACD77D3E}" type="pres">
      <dgm:prSet presAssocID="{9B1F2160-C7DD-4B3A-8E69-12F6653C3C20}" presName="rootConnector" presStyleLbl="node2" presStyleIdx="1" presStyleCnt="2"/>
      <dgm:spPr/>
    </dgm:pt>
    <dgm:pt modelId="{F5470FA8-637F-4C75-A284-450215BBC180}" type="pres">
      <dgm:prSet presAssocID="{9B1F2160-C7DD-4B3A-8E69-12F6653C3C20}" presName="hierChild4" presStyleCnt="0"/>
      <dgm:spPr/>
    </dgm:pt>
    <dgm:pt modelId="{D2C51550-CDE7-4404-AA52-D9787F043AE0}" type="pres">
      <dgm:prSet presAssocID="{73DB3940-3428-4758-BC40-8B608C65E030}" presName="Name37" presStyleLbl="parChTrans1D3" presStyleIdx="2" presStyleCnt="4"/>
      <dgm:spPr/>
    </dgm:pt>
    <dgm:pt modelId="{06D89B4D-759D-4029-A53F-0A02A0631BF7}" type="pres">
      <dgm:prSet presAssocID="{3E638A60-8EB2-4ACC-BA26-3AF582D52E7E}" presName="hierRoot2" presStyleCnt="0">
        <dgm:presLayoutVars>
          <dgm:hierBranch val="init"/>
        </dgm:presLayoutVars>
      </dgm:prSet>
      <dgm:spPr/>
    </dgm:pt>
    <dgm:pt modelId="{8A0E4E81-A412-42A5-9F2F-8DBE625A7646}" type="pres">
      <dgm:prSet presAssocID="{3E638A60-8EB2-4ACC-BA26-3AF582D52E7E}" presName="rootComposite" presStyleCnt="0"/>
      <dgm:spPr/>
    </dgm:pt>
    <dgm:pt modelId="{5F9402D2-F9CE-4E13-902A-A3AB937B054D}" type="pres">
      <dgm:prSet presAssocID="{3E638A60-8EB2-4ACC-BA26-3AF582D52E7E}" presName="rootText" presStyleLbl="node3" presStyleIdx="2" presStyleCnt="4">
        <dgm:presLayoutVars>
          <dgm:chPref val="3"/>
        </dgm:presLayoutVars>
      </dgm:prSet>
      <dgm:spPr/>
    </dgm:pt>
    <dgm:pt modelId="{93B6E48C-E1D0-4D8D-ACCA-46F84D894192}" type="pres">
      <dgm:prSet presAssocID="{3E638A60-8EB2-4ACC-BA26-3AF582D52E7E}" presName="rootConnector" presStyleLbl="node3" presStyleIdx="2" presStyleCnt="4"/>
      <dgm:spPr/>
    </dgm:pt>
    <dgm:pt modelId="{7619FCA7-4C64-46AF-865E-6AC3E045D79E}" type="pres">
      <dgm:prSet presAssocID="{3E638A60-8EB2-4ACC-BA26-3AF582D52E7E}" presName="hierChild4" presStyleCnt="0"/>
      <dgm:spPr/>
    </dgm:pt>
    <dgm:pt modelId="{36D186E5-DBF6-4388-90E7-68196C4C0440}" type="pres">
      <dgm:prSet presAssocID="{3E638A60-8EB2-4ACC-BA26-3AF582D52E7E}" presName="hierChild5" presStyleCnt="0"/>
      <dgm:spPr/>
    </dgm:pt>
    <dgm:pt modelId="{9B5F951F-F030-4105-AA21-1C6D8AD78937}" type="pres">
      <dgm:prSet presAssocID="{4638EA2C-0FE6-413C-B490-F33B2515AE02}" presName="Name37" presStyleLbl="parChTrans1D3" presStyleIdx="3" presStyleCnt="4"/>
      <dgm:spPr/>
    </dgm:pt>
    <dgm:pt modelId="{EF1CD042-75AA-41EC-AB0F-B356715D1D33}" type="pres">
      <dgm:prSet presAssocID="{F6042526-E3BD-4010-9586-3A4A38ADF267}" presName="hierRoot2" presStyleCnt="0">
        <dgm:presLayoutVars>
          <dgm:hierBranch val="init"/>
        </dgm:presLayoutVars>
      </dgm:prSet>
      <dgm:spPr/>
    </dgm:pt>
    <dgm:pt modelId="{0FE36B34-4F14-48D7-BF81-EDF101C98D4D}" type="pres">
      <dgm:prSet presAssocID="{F6042526-E3BD-4010-9586-3A4A38ADF267}" presName="rootComposite" presStyleCnt="0"/>
      <dgm:spPr/>
    </dgm:pt>
    <dgm:pt modelId="{FC0BCD9F-5A0F-4E04-B418-E07A48FA3FE3}" type="pres">
      <dgm:prSet presAssocID="{F6042526-E3BD-4010-9586-3A4A38ADF267}" presName="rootText" presStyleLbl="node3" presStyleIdx="3" presStyleCnt="4">
        <dgm:presLayoutVars>
          <dgm:chPref val="3"/>
        </dgm:presLayoutVars>
      </dgm:prSet>
      <dgm:spPr/>
    </dgm:pt>
    <dgm:pt modelId="{80333DEB-D3E3-43CF-8DAC-F4746EA64BC0}" type="pres">
      <dgm:prSet presAssocID="{F6042526-E3BD-4010-9586-3A4A38ADF267}" presName="rootConnector" presStyleLbl="node3" presStyleIdx="3" presStyleCnt="4"/>
      <dgm:spPr/>
    </dgm:pt>
    <dgm:pt modelId="{DE812C6F-2FE5-4496-BB68-AAB54ACC2330}" type="pres">
      <dgm:prSet presAssocID="{F6042526-E3BD-4010-9586-3A4A38ADF267}" presName="hierChild4" presStyleCnt="0"/>
      <dgm:spPr/>
    </dgm:pt>
    <dgm:pt modelId="{CB169192-9C8E-4C7A-91BC-07A6FD84DC73}" type="pres">
      <dgm:prSet presAssocID="{F6042526-E3BD-4010-9586-3A4A38ADF267}" presName="hierChild5" presStyleCnt="0"/>
      <dgm:spPr/>
    </dgm:pt>
    <dgm:pt modelId="{165E6A0E-1B86-43BF-AF57-08A7E2CCB895}" type="pres">
      <dgm:prSet presAssocID="{9B1F2160-C7DD-4B3A-8E69-12F6653C3C20}" presName="hierChild5" presStyleCnt="0"/>
      <dgm:spPr/>
    </dgm:pt>
    <dgm:pt modelId="{FAFFF03B-1386-4AC3-9877-83181B8AB64B}" type="pres">
      <dgm:prSet presAssocID="{B327AC3F-5D60-4BA0-8BBF-731BE2D3050F}" presName="hierChild3" presStyleCnt="0"/>
      <dgm:spPr/>
    </dgm:pt>
  </dgm:ptLst>
  <dgm:cxnLst>
    <dgm:cxn modelId="{AA98ED09-DD68-45FD-96BE-9F70A2E2290D}" type="presOf" srcId="{3E638A60-8EB2-4ACC-BA26-3AF582D52E7E}" destId="{93B6E48C-E1D0-4D8D-ACCA-46F84D894192}" srcOrd="1" destOrd="0" presId="urn:microsoft.com/office/officeart/2005/8/layout/orgChart1"/>
    <dgm:cxn modelId="{CED3E60F-0AC0-47DF-BE1D-B514F920ABF8}" srcId="{9B1F2160-C7DD-4B3A-8E69-12F6653C3C20}" destId="{F6042526-E3BD-4010-9586-3A4A38ADF267}" srcOrd="1" destOrd="0" parTransId="{4638EA2C-0FE6-413C-B490-F33B2515AE02}" sibTransId="{6625109D-F7D0-4C0D-A2A2-FC0B7E1E02A2}"/>
    <dgm:cxn modelId="{390FD612-F043-44D9-8408-06A5CD0DC260}" type="presOf" srcId="{9B1F2160-C7DD-4B3A-8E69-12F6653C3C20}" destId="{8971886A-6BBD-4998-AFF6-CA7CE229D6BD}" srcOrd="0" destOrd="0" presId="urn:microsoft.com/office/officeart/2005/8/layout/orgChart1"/>
    <dgm:cxn modelId="{2EE60115-BC32-428E-A0C3-AF89EA772762}" type="presOf" srcId="{494BECC2-0E01-4A65-AE3A-8BC54729F316}" destId="{1013480E-CB53-416E-9F1F-AA5113836A59}" srcOrd="0" destOrd="0" presId="urn:microsoft.com/office/officeart/2005/8/layout/orgChart1"/>
    <dgm:cxn modelId="{00A2C822-9B90-48DF-99D5-C3BD33F2E3F6}" type="presOf" srcId="{683B90F1-1FC2-470A-9B89-9C5BF5C6501C}" destId="{2516B9A0-D9BD-49E9-9AA8-173FACEA9BE2}" srcOrd="1" destOrd="0" presId="urn:microsoft.com/office/officeart/2005/8/layout/orgChart1"/>
    <dgm:cxn modelId="{947A0F2E-40AD-49B5-A104-8F8D02A25096}" type="presOf" srcId="{F6042526-E3BD-4010-9586-3A4A38ADF267}" destId="{FC0BCD9F-5A0F-4E04-B418-E07A48FA3FE3}" srcOrd="0" destOrd="0" presId="urn:microsoft.com/office/officeart/2005/8/layout/orgChart1"/>
    <dgm:cxn modelId="{150B9137-4EF1-4C2E-9E78-024460068AFB}" type="presOf" srcId="{B327AC3F-5D60-4BA0-8BBF-731BE2D3050F}" destId="{73F2460C-EBA7-44DB-822E-9947BDC34D3E}" srcOrd="0" destOrd="0" presId="urn:microsoft.com/office/officeart/2005/8/layout/orgChart1"/>
    <dgm:cxn modelId="{593FC03A-402A-4F6B-A7B1-CDE1B36EE7FA}" srcId="{185D4BD2-5D69-4816-8F86-B85152E690F4}" destId="{B327AC3F-5D60-4BA0-8BBF-731BE2D3050F}" srcOrd="0" destOrd="0" parTransId="{40E47EF3-D723-45E1-ABBE-67E3AA302044}" sibTransId="{D4D40059-6199-4C12-9B31-4E2E3C26FE6A}"/>
    <dgm:cxn modelId="{3095693D-6BD6-43A3-AC00-3701DED22BE5}" type="presOf" srcId="{9B1F2160-C7DD-4B3A-8E69-12F6653C3C20}" destId="{94278E73-5074-482D-902A-218BACD77D3E}" srcOrd="1" destOrd="0" presId="urn:microsoft.com/office/officeart/2005/8/layout/orgChart1"/>
    <dgm:cxn modelId="{5296C93D-3755-4AE4-B930-E397C407FCF9}" type="presOf" srcId="{41445C6D-F3B5-4407-BAE2-B43EC238A5DE}" destId="{1C717799-3F95-4A3C-BBDF-1734DBA1204A}" srcOrd="0" destOrd="0" presId="urn:microsoft.com/office/officeart/2005/8/layout/orgChart1"/>
    <dgm:cxn modelId="{E6DD9240-375A-47F3-8F62-0F4B1C469A13}" srcId="{41445C6D-F3B5-4407-BAE2-B43EC238A5DE}" destId="{683B90F1-1FC2-470A-9B89-9C5BF5C6501C}" srcOrd="0" destOrd="0" parTransId="{494BECC2-0E01-4A65-AE3A-8BC54729F316}" sibTransId="{19C39347-9D4F-40A9-B991-A6C5E041C4B6}"/>
    <dgm:cxn modelId="{F90D9D61-6FC9-4D65-B752-DE31AB4D47F0}" srcId="{B327AC3F-5D60-4BA0-8BBF-731BE2D3050F}" destId="{41445C6D-F3B5-4407-BAE2-B43EC238A5DE}" srcOrd="0" destOrd="0" parTransId="{B6490B65-5969-4DB9-B54D-4854E31D415B}" sibTransId="{A508A259-7D1E-402C-819E-3E806605746F}"/>
    <dgm:cxn modelId="{C1DF8570-FE1D-4D46-9F30-8B9C95230894}" type="presOf" srcId="{73DB3940-3428-4758-BC40-8B608C65E030}" destId="{D2C51550-CDE7-4404-AA52-D9787F043AE0}" srcOrd="0" destOrd="0" presId="urn:microsoft.com/office/officeart/2005/8/layout/orgChart1"/>
    <dgm:cxn modelId="{A2FEC373-3C02-493D-9172-9F8B3B13804F}" type="presOf" srcId="{185D4BD2-5D69-4816-8F86-B85152E690F4}" destId="{2B503E97-50F8-488D-B3F0-75854C9B2E5D}" srcOrd="0" destOrd="0" presId="urn:microsoft.com/office/officeart/2005/8/layout/orgChart1"/>
    <dgm:cxn modelId="{57054B7D-7E86-455B-BA6E-0A2D9D23F05D}" type="presOf" srcId="{EF784D51-5B25-4E38-9757-277F406705EA}" destId="{905E4C29-CEAA-49DE-85F4-E6AB1CD846E3}" srcOrd="0" destOrd="0" presId="urn:microsoft.com/office/officeart/2005/8/layout/orgChart1"/>
    <dgm:cxn modelId="{007DFC7D-6940-4579-890F-EBEF267068FE}" type="presOf" srcId="{3E638A60-8EB2-4ACC-BA26-3AF582D52E7E}" destId="{5F9402D2-F9CE-4E13-902A-A3AB937B054D}" srcOrd="0" destOrd="0" presId="urn:microsoft.com/office/officeart/2005/8/layout/orgChart1"/>
    <dgm:cxn modelId="{62CFAD86-8242-4403-9DCC-02DDAD02219D}" type="presOf" srcId="{8C8C6B67-FF3C-4A2F-A326-8BF388C7D8F7}" destId="{EF5EC30D-99F0-47DA-A2E5-1679B62D74D5}" srcOrd="0" destOrd="0" presId="urn:microsoft.com/office/officeart/2005/8/layout/orgChart1"/>
    <dgm:cxn modelId="{50952094-AB01-4781-8829-28FDD3A5C798}" type="presOf" srcId="{4B0AD802-8E08-4EFA-B48D-684E13314F9C}" destId="{CEFF4367-4E4B-468D-8E62-994BAE907BAC}" srcOrd="1" destOrd="0" presId="urn:microsoft.com/office/officeart/2005/8/layout/orgChart1"/>
    <dgm:cxn modelId="{38E0009D-7A7B-4CCB-B2DE-ACC033DCC712}" type="presOf" srcId="{B6490B65-5969-4DB9-B54D-4854E31D415B}" destId="{CD97373E-1243-4BF2-86A6-362435952472}" srcOrd="0" destOrd="0" presId="urn:microsoft.com/office/officeart/2005/8/layout/orgChart1"/>
    <dgm:cxn modelId="{D8B0F4A5-1043-4E37-9BE6-99AC9FFD41E3}" type="presOf" srcId="{683B90F1-1FC2-470A-9B89-9C5BF5C6501C}" destId="{E2DB0A40-179D-463C-B8A0-E622AFF19469}" srcOrd="0" destOrd="0" presId="urn:microsoft.com/office/officeart/2005/8/layout/orgChart1"/>
    <dgm:cxn modelId="{AEDCFFA5-E439-49AE-8049-8F34947E9592}" type="presOf" srcId="{4B0AD802-8E08-4EFA-B48D-684E13314F9C}" destId="{F7390953-2DC9-44C0-B753-2013E1EFA1B0}" srcOrd="0" destOrd="0" presId="urn:microsoft.com/office/officeart/2005/8/layout/orgChart1"/>
    <dgm:cxn modelId="{7E040DA7-55F6-49C3-8531-8354259A0F5B}" srcId="{B327AC3F-5D60-4BA0-8BBF-731BE2D3050F}" destId="{9B1F2160-C7DD-4B3A-8E69-12F6653C3C20}" srcOrd="1" destOrd="0" parTransId="{8C8C6B67-FF3C-4A2F-A326-8BF388C7D8F7}" sibTransId="{DD3F0834-E0FB-479B-9154-15F3F0483A72}"/>
    <dgm:cxn modelId="{A52140A7-94A6-4368-9B87-63B7556EA257}" srcId="{9B1F2160-C7DD-4B3A-8E69-12F6653C3C20}" destId="{3E638A60-8EB2-4ACC-BA26-3AF582D52E7E}" srcOrd="0" destOrd="0" parTransId="{73DB3940-3428-4758-BC40-8B608C65E030}" sibTransId="{26D1F416-6FE0-4823-826F-69388A64DE1A}"/>
    <dgm:cxn modelId="{E646DABC-CFFD-444C-A201-BA8B5ECFA7C7}" type="presOf" srcId="{4638EA2C-0FE6-413C-B490-F33B2515AE02}" destId="{9B5F951F-F030-4105-AA21-1C6D8AD78937}" srcOrd="0" destOrd="0" presId="urn:microsoft.com/office/officeart/2005/8/layout/orgChart1"/>
    <dgm:cxn modelId="{0489BDCE-B595-44E2-A969-077D275AF778}" type="presOf" srcId="{B327AC3F-5D60-4BA0-8BBF-731BE2D3050F}" destId="{C3A8A31B-14FF-4536-AD0F-921D5BB8323A}" srcOrd="1" destOrd="0" presId="urn:microsoft.com/office/officeart/2005/8/layout/orgChart1"/>
    <dgm:cxn modelId="{C2B839CF-E0D5-42A5-89D4-142A78C4A76E}" srcId="{41445C6D-F3B5-4407-BAE2-B43EC238A5DE}" destId="{4B0AD802-8E08-4EFA-B48D-684E13314F9C}" srcOrd="1" destOrd="0" parTransId="{EF784D51-5B25-4E38-9757-277F406705EA}" sibTransId="{803DA497-B571-4450-904B-BDECD3276E80}"/>
    <dgm:cxn modelId="{84650CE1-D1A5-44FB-A4A8-1C8D2C0C5AB2}" type="presOf" srcId="{F6042526-E3BD-4010-9586-3A4A38ADF267}" destId="{80333DEB-D3E3-43CF-8DAC-F4746EA64BC0}" srcOrd="1" destOrd="0" presId="urn:microsoft.com/office/officeart/2005/8/layout/orgChart1"/>
    <dgm:cxn modelId="{C5A80EF3-7C97-4B90-A00D-9BE6DBF4629C}" type="presOf" srcId="{41445C6D-F3B5-4407-BAE2-B43EC238A5DE}" destId="{F10E4A49-3D58-4B90-82DF-91E6B791E9DF}" srcOrd="1" destOrd="0" presId="urn:microsoft.com/office/officeart/2005/8/layout/orgChart1"/>
    <dgm:cxn modelId="{E92E0437-9F31-4ED0-BA47-913B7E49151A}" type="presParOf" srcId="{2B503E97-50F8-488D-B3F0-75854C9B2E5D}" destId="{3C5FBBF5-038E-4BE5-9424-45E86E553858}" srcOrd="0" destOrd="0" presId="urn:microsoft.com/office/officeart/2005/8/layout/orgChart1"/>
    <dgm:cxn modelId="{DB5307FB-5E8B-40BB-8F6C-2A019474E0C9}" type="presParOf" srcId="{3C5FBBF5-038E-4BE5-9424-45E86E553858}" destId="{9CD665FF-0371-4F7F-A0DA-B28F8D92798C}" srcOrd="0" destOrd="0" presId="urn:microsoft.com/office/officeart/2005/8/layout/orgChart1"/>
    <dgm:cxn modelId="{BCCA740B-6ADE-4E72-BF1F-4447EFE37B17}" type="presParOf" srcId="{9CD665FF-0371-4F7F-A0DA-B28F8D92798C}" destId="{73F2460C-EBA7-44DB-822E-9947BDC34D3E}" srcOrd="0" destOrd="0" presId="urn:microsoft.com/office/officeart/2005/8/layout/orgChart1"/>
    <dgm:cxn modelId="{B4D3DDC8-F11A-4C55-961C-FFF12377A7DF}" type="presParOf" srcId="{9CD665FF-0371-4F7F-A0DA-B28F8D92798C}" destId="{C3A8A31B-14FF-4536-AD0F-921D5BB8323A}" srcOrd="1" destOrd="0" presId="urn:microsoft.com/office/officeart/2005/8/layout/orgChart1"/>
    <dgm:cxn modelId="{FCECC136-DF3E-40F8-8ADA-3BB4E1954C28}" type="presParOf" srcId="{3C5FBBF5-038E-4BE5-9424-45E86E553858}" destId="{AF0123F8-C2CE-456A-AD12-AEE22937490A}" srcOrd="1" destOrd="0" presId="urn:microsoft.com/office/officeart/2005/8/layout/orgChart1"/>
    <dgm:cxn modelId="{3D252D97-A912-4083-AE7D-60CBEAC596CB}" type="presParOf" srcId="{AF0123F8-C2CE-456A-AD12-AEE22937490A}" destId="{CD97373E-1243-4BF2-86A6-362435952472}" srcOrd="0" destOrd="0" presId="urn:microsoft.com/office/officeart/2005/8/layout/orgChart1"/>
    <dgm:cxn modelId="{79094AE9-D30F-4E6D-8F02-AA757C495AC4}" type="presParOf" srcId="{AF0123F8-C2CE-456A-AD12-AEE22937490A}" destId="{8A9CFB01-BF8A-4520-94E5-0238393135B1}" srcOrd="1" destOrd="0" presId="urn:microsoft.com/office/officeart/2005/8/layout/orgChart1"/>
    <dgm:cxn modelId="{71F27608-9428-484A-9FEB-C621F4F1329A}" type="presParOf" srcId="{8A9CFB01-BF8A-4520-94E5-0238393135B1}" destId="{053BCBD8-AAA2-4FA2-AE37-248CB7FD987D}" srcOrd="0" destOrd="0" presId="urn:microsoft.com/office/officeart/2005/8/layout/orgChart1"/>
    <dgm:cxn modelId="{899C1505-63F2-4DE6-8106-6C0731335504}" type="presParOf" srcId="{053BCBD8-AAA2-4FA2-AE37-248CB7FD987D}" destId="{1C717799-3F95-4A3C-BBDF-1734DBA1204A}" srcOrd="0" destOrd="0" presId="urn:microsoft.com/office/officeart/2005/8/layout/orgChart1"/>
    <dgm:cxn modelId="{E5BCC01B-D0DA-4453-AB4D-01CF097B3323}" type="presParOf" srcId="{053BCBD8-AAA2-4FA2-AE37-248CB7FD987D}" destId="{F10E4A49-3D58-4B90-82DF-91E6B791E9DF}" srcOrd="1" destOrd="0" presId="urn:microsoft.com/office/officeart/2005/8/layout/orgChart1"/>
    <dgm:cxn modelId="{D7647151-1957-4B25-9660-79A72B0CFAF9}" type="presParOf" srcId="{8A9CFB01-BF8A-4520-94E5-0238393135B1}" destId="{7FA816A6-DB69-4821-B018-5FAD5EDC5899}" srcOrd="1" destOrd="0" presId="urn:microsoft.com/office/officeart/2005/8/layout/orgChart1"/>
    <dgm:cxn modelId="{B480C25F-DB5A-47B3-8A91-8C7BD8CD9295}" type="presParOf" srcId="{7FA816A6-DB69-4821-B018-5FAD5EDC5899}" destId="{1013480E-CB53-416E-9F1F-AA5113836A59}" srcOrd="0" destOrd="0" presId="urn:microsoft.com/office/officeart/2005/8/layout/orgChart1"/>
    <dgm:cxn modelId="{70B5BCA7-9792-4428-AFEB-DE8056B50962}" type="presParOf" srcId="{7FA816A6-DB69-4821-B018-5FAD5EDC5899}" destId="{17188A54-B2C5-4A7C-8A2A-10912D8012C9}" srcOrd="1" destOrd="0" presId="urn:microsoft.com/office/officeart/2005/8/layout/orgChart1"/>
    <dgm:cxn modelId="{57FAF0FA-0880-413C-860E-9CD8C583B429}" type="presParOf" srcId="{17188A54-B2C5-4A7C-8A2A-10912D8012C9}" destId="{A82A9DA2-2FC7-4A2E-AE23-C9DCD20560BB}" srcOrd="0" destOrd="0" presId="urn:microsoft.com/office/officeart/2005/8/layout/orgChart1"/>
    <dgm:cxn modelId="{F05B66FD-B821-4409-8405-B1DF9703FC90}" type="presParOf" srcId="{A82A9DA2-2FC7-4A2E-AE23-C9DCD20560BB}" destId="{E2DB0A40-179D-463C-B8A0-E622AFF19469}" srcOrd="0" destOrd="0" presId="urn:microsoft.com/office/officeart/2005/8/layout/orgChart1"/>
    <dgm:cxn modelId="{88CF6624-93FE-420E-A64E-8641CB8570FD}" type="presParOf" srcId="{A82A9DA2-2FC7-4A2E-AE23-C9DCD20560BB}" destId="{2516B9A0-D9BD-49E9-9AA8-173FACEA9BE2}" srcOrd="1" destOrd="0" presId="urn:microsoft.com/office/officeart/2005/8/layout/orgChart1"/>
    <dgm:cxn modelId="{00B4C083-78AF-4060-9135-9E606D864E8F}" type="presParOf" srcId="{17188A54-B2C5-4A7C-8A2A-10912D8012C9}" destId="{C5DC382C-8060-4679-99AF-852A6483DFB1}" srcOrd="1" destOrd="0" presId="urn:microsoft.com/office/officeart/2005/8/layout/orgChart1"/>
    <dgm:cxn modelId="{757F7260-923E-4041-933B-02B7B281FB2B}" type="presParOf" srcId="{17188A54-B2C5-4A7C-8A2A-10912D8012C9}" destId="{6581C0AE-35BE-421B-91F3-7D4BFE6CE5DB}" srcOrd="2" destOrd="0" presId="urn:microsoft.com/office/officeart/2005/8/layout/orgChart1"/>
    <dgm:cxn modelId="{B10FBE88-990B-4816-90A5-813A4DAEC2CD}" type="presParOf" srcId="{7FA816A6-DB69-4821-B018-5FAD5EDC5899}" destId="{905E4C29-CEAA-49DE-85F4-E6AB1CD846E3}" srcOrd="2" destOrd="0" presId="urn:microsoft.com/office/officeart/2005/8/layout/orgChart1"/>
    <dgm:cxn modelId="{25B33F48-3684-4E09-BC49-3C2A6A04DEEE}" type="presParOf" srcId="{7FA816A6-DB69-4821-B018-5FAD5EDC5899}" destId="{1DC8CCDE-5BAC-4946-90EC-CEB0CD178F11}" srcOrd="3" destOrd="0" presId="urn:microsoft.com/office/officeart/2005/8/layout/orgChart1"/>
    <dgm:cxn modelId="{2BDB8900-84E4-48F9-AFAE-579555411B86}" type="presParOf" srcId="{1DC8CCDE-5BAC-4946-90EC-CEB0CD178F11}" destId="{ABAF814F-2B01-4DEA-8019-6BE1FDDF3E12}" srcOrd="0" destOrd="0" presId="urn:microsoft.com/office/officeart/2005/8/layout/orgChart1"/>
    <dgm:cxn modelId="{E34EAE6A-69D1-4F84-B9A3-7E407052234B}" type="presParOf" srcId="{ABAF814F-2B01-4DEA-8019-6BE1FDDF3E12}" destId="{F7390953-2DC9-44C0-B753-2013E1EFA1B0}" srcOrd="0" destOrd="0" presId="urn:microsoft.com/office/officeart/2005/8/layout/orgChart1"/>
    <dgm:cxn modelId="{81DA6F22-A8B6-48F9-A532-A4A3D8DCFB83}" type="presParOf" srcId="{ABAF814F-2B01-4DEA-8019-6BE1FDDF3E12}" destId="{CEFF4367-4E4B-468D-8E62-994BAE907BAC}" srcOrd="1" destOrd="0" presId="urn:microsoft.com/office/officeart/2005/8/layout/orgChart1"/>
    <dgm:cxn modelId="{A1A0D46C-360C-4FFB-BEEB-94FE0DED932C}" type="presParOf" srcId="{1DC8CCDE-5BAC-4946-90EC-CEB0CD178F11}" destId="{92892AC1-4F49-449C-9A4C-A5C481401233}" srcOrd="1" destOrd="0" presId="urn:microsoft.com/office/officeart/2005/8/layout/orgChart1"/>
    <dgm:cxn modelId="{242405AB-D068-49EA-9F84-FBBEBF119A8F}" type="presParOf" srcId="{1DC8CCDE-5BAC-4946-90EC-CEB0CD178F11}" destId="{FCFFAFFA-4254-4299-9DD1-EF2F67919FB4}" srcOrd="2" destOrd="0" presId="urn:microsoft.com/office/officeart/2005/8/layout/orgChart1"/>
    <dgm:cxn modelId="{0BB4E6E1-2CCC-470D-8A6D-F757F9355020}" type="presParOf" srcId="{8A9CFB01-BF8A-4520-94E5-0238393135B1}" destId="{334F8752-0CC7-447F-A960-24CF17E0D1FA}" srcOrd="2" destOrd="0" presId="urn:microsoft.com/office/officeart/2005/8/layout/orgChart1"/>
    <dgm:cxn modelId="{D0A5977C-7F17-45EE-B23E-4D1C92200060}" type="presParOf" srcId="{AF0123F8-C2CE-456A-AD12-AEE22937490A}" destId="{EF5EC30D-99F0-47DA-A2E5-1679B62D74D5}" srcOrd="2" destOrd="0" presId="urn:microsoft.com/office/officeart/2005/8/layout/orgChart1"/>
    <dgm:cxn modelId="{A4C382E3-2B1B-40F5-8649-B4149C02EF93}" type="presParOf" srcId="{AF0123F8-C2CE-456A-AD12-AEE22937490A}" destId="{62460191-3B65-40E9-8707-CE317A1475F2}" srcOrd="3" destOrd="0" presId="urn:microsoft.com/office/officeart/2005/8/layout/orgChart1"/>
    <dgm:cxn modelId="{A5817DF7-DF0C-4218-B262-B00DE4897DD1}" type="presParOf" srcId="{62460191-3B65-40E9-8707-CE317A1475F2}" destId="{8C6BDBC3-73A8-4784-A839-858F54A24C6D}" srcOrd="0" destOrd="0" presId="urn:microsoft.com/office/officeart/2005/8/layout/orgChart1"/>
    <dgm:cxn modelId="{BEF45BCF-5956-4D8F-ACBC-7CDAE1CB71FC}" type="presParOf" srcId="{8C6BDBC3-73A8-4784-A839-858F54A24C6D}" destId="{8971886A-6BBD-4998-AFF6-CA7CE229D6BD}" srcOrd="0" destOrd="0" presId="urn:microsoft.com/office/officeart/2005/8/layout/orgChart1"/>
    <dgm:cxn modelId="{8F0E34F5-12B4-44D6-8560-5387109ABCCC}" type="presParOf" srcId="{8C6BDBC3-73A8-4784-A839-858F54A24C6D}" destId="{94278E73-5074-482D-902A-218BACD77D3E}" srcOrd="1" destOrd="0" presId="urn:microsoft.com/office/officeart/2005/8/layout/orgChart1"/>
    <dgm:cxn modelId="{8D082D9B-D4A2-4927-A580-404BF3BEB528}" type="presParOf" srcId="{62460191-3B65-40E9-8707-CE317A1475F2}" destId="{F5470FA8-637F-4C75-A284-450215BBC180}" srcOrd="1" destOrd="0" presId="urn:microsoft.com/office/officeart/2005/8/layout/orgChart1"/>
    <dgm:cxn modelId="{C70EA8C0-5F67-4569-B1F7-710F69E256C0}" type="presParOf" srcId="{F5470FA8-637F-4C75-A284-450215BBC180}" destId="{D2C51550-CDE7-4404-AA52-D9787F043AE0}" srcOrd="0" destOrd="0" presId="urn:microsoft.com/office/officeart/2005/8/layout/orgChart1"/>
    <dgm:cxn modelId="{AE654ABD-88DA-47B7-8890-E5756318F32B}" type="presParOf" srcId="{F5470FA8-637F-4C75-A284-450215BBC180}" destId="{06D89B4D-759D-4029-A53F-0A02A0631BF7}" srcOrd="1" destOrd="0" presId="urn:microsoft.com/office/officeart/2005/8/layout/orgChart1"/>
    <dgm:cxn modelId="{3157D1A8-8ADA-4D09-8CC3-B52C8E8CA3CE}" type="presParOf" srcId="{06D89B4D-759D-4029-A53F-0A02A0631BF7}" destId="{8A0E4E81-A412-42A5-9F2F-8DBE625A7646}" srcOrd="0" destOrd="0" presId="urn:microsoft.com/office/officeart/2005/8/layout/orgChart1"/>
    <dgm:cxn modelId="{65AB0E11-88B0-41D2-8ADD-5508CE2257CB}" type="presParOf" srcId="{8A0E4E81-A412-42A5-9F2F-8DBE625A7646}" destId="{5F9402D2-F9CE-4E13-902A-A3AB937B054D}" srcOrd="0" destOrd="0" presId="urn:microsoft.com/office/officeart/2005/8/layout/orgChart1"/>
    <dgm:cxn modelId="{945881A3-4CDA-4082-AA14-849E7FC483AD}" type="presParOf" srcId="{8A0E4E81-A412-42A5-9F2F-8DBE625A7646}" destId="{93B6E48C-E1D0-4D8D-ACCA-46F84D894192}" srcOrd="1" destOrd="0" presId="urn:microsoft.com/office/officeart/2005/8/layout/orgChart1"/>
    <dgm:cxn modelId="{88F08811-A4AD-4A32-A42C-1F03D830249B}" type="presParOf" srcId="{06D89B4D-759D-4029-A53F-0A02A0631BF7}" destId="{7619FCA7-4C64-46AF-865E-6AC3E045D79E}" srcOrd="1" destOrd="0" presId="urn:microsoft.com/office/officeart/2005/8/layout/orgChart1"/>
    <dgm:cxn modelId="{80ECBF24-AF57-46C5-8DF3-4731E936AEC7}" type="presParOf" srcId="{06D89B4D-759D-4029-A53F-0A02A0631BF7}" destId="{36D186E5-DBF6-4388-90E7-68196C4C0440}" srcOrd="2" destOrd="0" presId="urn:microsoft.com/office/officeart/2005/8/layout/orgChart1"/>
    <dgm:cxn modelId="{9EDD4C02-1B93-40F5-8776-1A3012134284}" type="presParOf" srcId="{F5470FA8-637F-4C75-A284-450215BBC180}" destId="{9B5F951F-F030-4105-AA21-1C6D8AD78937}" srcOrd="2" destOrd="0" presId="urn:microsoft.com/office/officeart/2005/8/layout/orgChart1"/>
    <dgm:cxn modelId="{FB88A502-0F10-46DC-8A52-5DFC5892D431}" type="presParOf" srcId="{F5470FA8-637F-4C75-A284-450215BBC180}" destId="{EF1CD042-75AA-41EC-AB0F-B356715D1D33}" srcOrd="3" destOrd="0" presId="urn:microsoft.com/office/officeart/2005/8/layout/orgChart1"/>
    <dgm:cxn modelId="{3E743A3A-A576-4D7C-A7BA-3AA190FB94B7}" type="presParOf" srcId="{EF1CD042-75AA-41EC-AB0F-B356715D1D33}" destId="{0FE36B34-4F14-48D7-BF81-EDF101C98D4D}" srcOrd="0" destOrd="0" presId="urn:microsoft.com/office/officeart/2005/8/layout/orgChart1"/>
    <dgm:cxn modelId="{90B6D3ED-CC68-472F-9BC5-682488B67D8B}" type="presParOf" srcId="{0FE36B34-4F14-48D7-BF81-EDF101C98D4D}" destId="{FC0BCD9F-5A0F-4E04-B418-E07A48FA3FE3}" srcOrd="0" destOrd="0" presId="urn:microsoft.com/office/officeart/2005/8/layout/orgChart1"/>
    <dgm:cxn modelId="{71BEE5B8-7798-4004-8177-CF7437BE7167}" type="presParOf" srcId="{0FE36B34-4F14-48D7-BF81-EDF101C98D4D}" destId="{80333DEB-D3E3-43CF-8DAC-F4746EA64BC0}" srcOrd="1" destOrd="0" presId="urn:microsoft.com/office/officeart/2005/8/layout/orgChart1"/>
    <dgm:cxn modelId="{BB06C450-DF67-4418-87C3-A9FF778F9049}" type="presParOf" srcId="{EF1CD042-75AA-41EC-AB0F-B356715D1D33}" destId="{DE812C6F-2FE5-4496-BB68-AAB54ACC2330}" srcOrd="1" destOrd="0" presId="urn:microsoft.com/office/officeart/2005/8/layout/orgChart1"/>
    <dgm:cxn modelId="{72660655-AD5F-4C80-B3D5-76B3B68A009E}" type="presParOf" srcId="{EF1CD042-75AA-41EC-AB0F-B356715D1D33}" destId="{CB169192-9C8E-4C7A-91BC-07A6FD84DC73}" srcOrd="2" destOrd="0" presId="urn:microsoft.com/office/officeart/2005/8/layout/orgChart1"/>
    <dgm:cxn modelId="{50B0BB73-6E24-4C50-B9E9-3380023AD57D}" type="presParOf" srcId="{62460191-3B65-40E9-8707-CE317A1475F2}" destId="{165E6A0E-1B86-43BF-AF57-08A7E2CCB895}" srcOrd="2" destOrd="0" presId="urn:microsoft.com/office/officeart/2005/8/layout/orgChart1"/>
    <dgm:cxn modelId="{96587D9A-0357-4765-BE99-FBB62AD89F07}" type="presParOf" srcId="{3C5FBBF5-038E-4BE5-9424-45E86E553858}" destId="{FAFFF03B-1386-4AC3-9877-83181B8AB64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5F951F-F030-4105-AA21-1C6D8AD78937}">
      <dsp:nvSpPr>
        <dsp:cNvPr id="0" name=""/>
        <dsp:cNvSpPr/>
      </dsp:nvSpPr>
      <dsp:spPr>
        <a:xfrm>
          <a:off x="5606353" y="2054543"/>
          <a:ext cx="254677" cy="1986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6487"/>
              </a:lnTo>
              <a:lnTo>
                <a:pt x="254677" y="198648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C51550-CDE7-4404-AA52-D9787F043AE0}">
      <dsp:nvSpPr>
        <dsp:cNvPr id="0" name=""/>
        <dsp:cNvSpPr/>
      </dsp:nvSpPr>
      <dsp:spPr>
        <a:xfrm>
          <a:off x="5606353" y="2054543"/>
          <a:ext cx="254677" cy="781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1012"/>
              </a:lnTo>
              <a:lnTo>
                <a:pt x="254677" y="7810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5EC30D-99F0-47DA-A2E5-1679B62D74D5}">
      <dsp:nvSpPr>
        <dsp:cNvPr id="0" name=""/>
        <dsp:cNvSpPr/>
      </dsp:nvSpPr>
      <dsp:spPr>
        <a:xfrm>
          <a:off x="5258293" y="849068"/>
          <a:ext cx="1027200" cy="356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274"/>
              </a:lnTo>
              <a:lnTo>
                <a:pt x="1027200" y="178274"/>
              </a:lnTo>
              <a:lnTo>
                <a:pt x="1027200" y="3565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5E4C29-CEAA-49DE-85F4-E6AB1CD846E3}">
      <dsp:nvSpPr>
        <dsp:cNvPr id="0" name=""/>
        <dsp:cNvSpPr/>
      </dsp:nvSpPr>
      <dsp:spPr>
        <a:xfrm>
          <a:off x="3551951" y="2054543"/>
          <a:ext cx="254677" cy="1986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6487"/>
              </a:lnTo>
              <a:lnTo>
                <a:pt x="254677" y="198648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13480E-CB53-416E-9F1F-AA5113836A59}">
      <dsp:nvSpPr>
        <dsp:cNvPr id="0" name=""/>
        <dsp:cNvSpPr/>
      </dsp:nvSpPr>
      <dsp:spPr>
        <a:xfrm>
          <a:off x="3551951" y="2054543"/>
          <a:ext cx="254677" cy="781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1012"/>
              </a:lnTo>
              <a:lnTo>
                <a:pt x="254677" y="7810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97373E-1243-4BF2-86A6-362435952472}">
      <dsp:nvSpPr>
        <dsp:cNvPr id="0" name=""/>
        <dsp:cNvSpPr/>
      </dsp:nvSpPr>
      <dsp:spPr>
        <a:xfrm>
          <a:off x="4231092" y="849068"/>
          <a:ext cx="1027200" cy="356549"/>
        </a:xfrm>
        <a:custGeom>
          <a:avLst/>
          <a:gdLst/>
          <a:ahLst/>
          <a:cxnLst/>
          <a:rect l="0" t="0" r="0" b="0"/>
          <a:pathLst>
            <a:path>
              <a:moveTo>
                <a:pt x="1027200" y="0"/>
              </a:moveTo>
              <a:lnTo>
                <a:pt x="1027200" y="178274"/>
              </a:lnTo>
              <a:lnTo>
                <a:pt x="0" y="178274"/>
              </a:lnTo>
              <a:lnTo>
                <a:pt x="0" y="3565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F2460C-EBA7-44DB-822E-9947BDC34D3E}">
      <dsp:nvSpPr>
        <dsp:cNvPr id="0" name=""/>
        <dsp:cNvSpPr/>
      </dsp:nvSpPr>
      <dsp:spPr>
        <a:xfrm>
          <a:off x="4409367" y="142"/>
          <a:ext cx="1697852" cy="848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Andmetüübid</a:t>
          </a:r>
          <a:endParaRPr lang="en-US" sz="1700" kern="1200"/>
        </a:p>
      </dsp:txBody>
      <dsp:txXfrm>
        <a:off x="4409367" y="142"/>
        <a:ext cx="1697852" cy="848926"/>
      </dsp:txXfrm>
    </dsp:sp>
    <dsp:sp modelId="{1C717799-3F95-4A3C-BBDF-1734DBA1204A}">
      <dsp:nvSpPr>
        <dsp:cNvPr id="0" name=""/>
        <dsp:cNvSpPr/>
      </dsp:nvSpPr>
      <dsp:spPr>
        <a:xfrm>
          <a:off x="3382166" y="1205617"/>
          <a:ext cx="1697852" cy="848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Kategoriaalne</a:t>
          </a:r>
          <a:r>
            <a:rPr lang="en-US" sz="1700" kern="1200"/>
            <a:t> </a:t>
          </a:r>
          <a:r>
            <a:rPr lang="en-US" sz="1700" kern="1200" err="1"/>
            <a:t>ehk</a:t>
          </a:r>
          <a:r>
            <a:rPr lang="en-US" sz="1700" kern="1200"/>
            <a:t> </a:t>
          </a:r>
          <a:r>
            <a:rPr lang="en-US" sz="1700" kern="1200" err="1"/>
            <a:t>kvalitatiivne</a:t>
          </a:r>
          <a:endParaRPr lang="en-US" sz="1700" kern="1200"/>
        </a:p>
      </dsp:txBody>
      <dsp:txXfrm>
        <a:off x="3382166" y="1205617"/>
        <a:ext cx="1697852" cy="848926"/>
      </dsp:txXfrm>
    </dsp:sp>
    <dsp:sp modelId="{E2DB0A40-179D-463C-B8A0-E622AFF19469}">
      <dsp:nvSpPr>
        <dsp:cNvPr id="0" name=""/>
        <dsp:cNvSpPr/>
      </dsp:nvSpPr>
      <dsp:spPr>
        <a:xfrm>
          <a:off x="3806629" y="2411093"/>
          <a:ext cx="1697852" cy="848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Järjestustunnus</a:t>
          </a:r>
        </a:p>
      </dsp:txBody>
      <dsp:txXfrm>
        <a:off x="3806629" y="2411093"/>
        <a:ext cx="1697852" cy="848926"/>
      </dsp:txXfrm>
    </dsp:sp>
    <dsp:sp modelId="{F7390953-2DC9-44C0-B753-2013E1EFA1B0}">
      <dsp:nvSpPr>
        <dsp:cNvPr id="0" name=""/>
        <dsp:cNvSpPr/>
      </dsp:nvSpPr>
      <dsp:spPr>
        <a:xfrm>
          <a:off x="3806629" y="3616568"/>
          <a:ext cx="1697852" cy="848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Nominaaltunnus</a:t>
          </a:r>
        </a:p>
      </dsp:txBody>
      <dsp:txXfrm>
        <a:off x="3806629" y="3616568"/>
        <a:ext cx="1697852" cy="848926"/>
      </dsp:txXfrm>
    </dsp:sp>
    <dsp:sp modelId="{8971886A-6BBD-4998-AFF6-CA7CE229D6BD}">
      <dsp:nvSpPr>
        <dsp:cNvPr id="0" name=""/>
        <dsp:cNvSpPr/>
      </dsp:nvSpPr>
      <dsp:spPr>
        <a:xfrm>
          <a:off x="5436567" y="1205617"/>
          <a:ext cx="1697852" cy="848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Arvuline</a:t>
          </a:r>
          <a:r>
            <a:rPr lang="en-US" sz="1700" kern="1200"/>
            <a:t> </a:t>
          </a:r>
          <a:r>
            <a:rPr lang="en-US" sz="1700" kern="1200" err="1"/>
            <a:t>ehk</a:t>
          </a:r>
          <a:r>
            <a:rPr lang="en-US" sz="1700" kern="1200"/>
            <a:t> </a:t>
          </a:r>
          <a:r>
            <a:rPr lang="en-US" sz="1700" kern="1200" err="1"/>
            <a:t>kvantitatiivne</a:t>
          </a:r>
          <a:endParaRPr lang="en-US" sz="1700" kern="1200"/>
        </a:p>
      </dsp:txBody>
      <dsp:txXfrm>
        <a:off x="5436567" y="1205617"/>
        <a:ext cx="1697852" cy="848926"/>
      </dsp:txXfrm>
    </dsp:sp>
    <dsp:sp modelId="{5F9402D2-F9CE-4E13-902A-A3AB937B054D}">
      <dsp:nvSpPr>
        <dsp:cNvPr id="0" name=""/>
        <dsp:cNvSpPr/>
      </dsp:nvSpPr>
      <dsp:spPr>
        <a:xfrm>
          <a:off x="5861031" y="2411093"/>
          <a:ext cx="1697852" cy="848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Pidev</a:t>
          </a:r>
          <a:r>
            <a:rPr lang="en-US" sz="1700" kern="1200"/>
            <a:t> </a:t>
          </a:r>
          <a:r>
            <a:rPr lang="en-US" sz="1700" kern="1200" err="1"/>
            <a:t>tunnus</a:t>
          </a:r>
          <a:endParaRPr lang="en-US" sz="1700" kern="1200"/>
        </a:p>
      </dsp:txBody>
      <dsp:txXfrm>
        <a:off x="5861031" y="2411093"/>
        <a:ext cx="1697852" cy="848926"/>
      </dsp:txXfrm>
    </dsp:sp>
    <dsp:sp modelId="{FC0BCD9F-5A0F-4E04-B418-E07A48FA3FE3}">
      <dsp:nvSpPr>
        <dsp:cNvPr id="0" name=""/>
        <dsp:cNvSpPr/>
      </dsp:nvSpPr>
      <dsp:spPr>
        <a:xfrm>
          <a:off x="5861031" y="3616568"/>
          <a:ext cx="1697852" cy="848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Diskreetne tunnus</a:t>
          </a:r>
        </a:p>
      </dsp:txBody>
      <dsp:txXfrm>
        <a:off x="5861031" y="3616568"/>
        <a:ext cx="1697852" cy="8489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16.04.2026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t-EE" smtClean="0"/>
              <a:t>17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087735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>
                <a:ea typeface="Calibri"/>
                <a:cs typeface="Calibri"/>
              </a:rPr>
              <a:t>Kui </a:t>
            </a:r>
            <a:r>
              <a:rPr lang="en-US" err="1">
                <a:ea typeface="Calibri"/>
                <a:cs typeface="Calibri"/>
              </a:rPr>
              <a:t>teame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populatsiooni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keskmist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nt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šokolaadi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keskmine</a:t>
            </a:r>
            <a:r>
              <a:rPr lang="en-US">
                <a:ea typeface="Calibri"/>
                <a:cs typeface="Calibri"/>
              </a:rPr>
              <a:t> kaal </a:t>
            </a:r>
            <a:r>
              <a:rPr lang="en-US" err="1">
                <a:ea typeface="Calibri"/>
                <a:cs typeface="Calibri"/>
              </a:rPr>
              <a:t>pakil</a:t>
            </a:r>
            <a:r>
              <a:rPr lang="en-US">
                <a:ea typeface="Calibri"/>
                <a:cs typeface="Calibri"/>
              </a:rPr>
              <a:t> vs </a:t>
            </a:r>
            <a:r>
              <a:rPr lang="en-US" err="1">
                <a:ea typeface="Calibri"/>
                <a:cs typeface="Calibri"/>
              </a:rPr>
              <a:t>tegelik</a:t>
            </a:r>
            <a:r>
              <a:rPr lang="en-US">
                <a:ea typeface="Calibri"/>
                <a:cs typeface="Calibri"/>
              </a:rPr>
              <a:t> kaal </a:t>
            </a:r>
            <a:r>
              <a:rPr lang="en-US" err="1">
                <a:ea typeface="Calibri"/>
                <a:cs typeface="Calibri"/>
              </a:rPr>
              <a:t>mõõtmistel</a:t>
            </a:r>
            <a:r>
              <a:rPr lang="en-US">
                <a:ea typeface="Calibri"/>
                <a:cs typeface="Calibri"/>
              </a:rPr>
              <a:t>. </a:t>
            </a:r>
          </a:p>
          <a:p>
            <a:pPr marL="228600" indent="-228600">
              <a:buAutoNum type="arabicParenR"/>
            </a:pPr>
            <a:r>
              <a:rPr lang="en-US">
                <a:ea typeface="Calibri"/>
                <a:cs typeface="Calibri"/>
              </a:rPr>
              <a:t>Kaks </a:t>
            </a:r>
            <a:r>
              <a:rPr lang="en-US" err="1">
                <a:ea typeface="Calibri"/>
                <a:cs typeface="Calibri"/>
              </a:rPr>
              <a:t>üksteisest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sõltumatut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valimit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nt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meeste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naiste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tulemused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küsitluses</a:t>
            </a:r>
            <a:r>
              <a:rPr lang="en-US">
                <a:ea typeface="Calibri"/>
                <a:cs typeface="Calibri"/>
              </a:rPr>
              <a:t>. </a:t>
            </a:r>
            <a:endParaRPr lang="en-US">
              <a:ea typeface="Calibri"/>
              <a:cs typeface="+mn-lt"/>
            </a:endParaRPr>
          </a:p>
          <a:p>
            <a:pPr marL="228600" indent="-228600">
              <a:buAutoNum type="arabicParenR"/>
            </a:pPr>
            <a:r>
              <a:rPr lang="en-US">
                <a:ea typeface="Calibri"/>
                <a:cs typeface="+mn-lt"/>
              </a:rPr>
              <a:t>Kaks </a:t>
            </a:r>
            <a:r>
              <a:rPr lang="en-US" err="1">
                <a:ea typeface="Calibri"/>
                <a:cs typeface="+mn-lt"/>
              </a:rPr>
              <a:t>üksteisest</a:t>
            </a:r>
            <a:r>
              <a:rPr lang="en-US">
                <a:ea typeface="Calibri"/>
                <a:cs typeface="+mn-lt"/>
              </a:rPr>
              <a:t> </a:t>
            </a:r>
            <a:r>
              <a:rPr lang="en-US" err="1">
                <a:ea typeface="Calibri"/>
                <a:cs typeface="+mn-lt"/>
              </a:rPr>
              <a:t>sõltuvat</a:t>
            </a:r>
            <a:r>
              <a:rPr lang="en-US">
                <a:ea typeface="Calibri"/>
                <a:cs typeface="+mn-lt"/>
              </a:rPr>
              <a:t> </a:t>
            </a:r>
            <a:r>
              <a:rPr lang="en-US" err="1">
                <a:ea typeface="Calibri"/>
                <a:cs typeface="+mn-lt"/>
              </a:rPr>
              <a:t>valimit</a:t>
            </a:r>
            <a:r>
              <a:rPr lang="en-US">
                <a:ea typeface="Calibri"/>
                <a:cs typeface="+mn-lt"/>
              </a:rPr>
              <a:t>, </a:t>
            </a:r>
            <a:r>
              <a:rPr lang="en-US" err="1">
                <a:ea typeface="Calibri"/>
                <a:cs typeface="+mn-lt"/>
              </a:rPr>
              <a:t>nt</a:t>
            </a:r>
            <a:r>
              <a:rPr lang="en-US">
                <a:ea typeface="Calibri"/>
                <a:cs typeface="+mn-lt"/>
              </a:rPr>
              <a:t> </a:t>
            </a:r>
            <a:r>
              <a:rPr lang="en-US" err="1">
                <a:ea typeface="Calibri"/>
                <a:cs typeface="+mn-lt"/>
              </a:rPr>
              <a:t>testrühma</a:t>
            </a:r>
            <a:r>
              <a:rPr lang="en-US">
                <a:ea typeface="Calibri"/>
                <a:cs typeface="+mn-lt"/>
              </a:rPr>
              <a:t> kaal </a:t>
            </a:r>
            <a:r>
              <a:rPr lang="en-US" err="1">
                <a:ea typeface="Calibri"/>
                <a:cs typeface="+mn-lt"/>
              </a:rPr>
              <a:t>enne</a:t>
            </a:r>
            <a:r>
              <a:rPr lang="en-US">
                <a:ea typeface="Calibri"/>
                <a:cs typeface="+mn-lt"/>
              </a:rPr>
              <a:t> </a:t>
            </a:r>
            <a:r>
              <a:rPr lang="en-US" err="1">
                <a:ea typeface="Calibri"/>
                <a:cs typeface="+mn-lt"/>
              </a:rPr>
              <a:t>dieedi</a:t>
            </a:r>
            <a:r>
              <a:rPr lang="en-US">
                <a:ea typeface="Calibri"/>
                <a:cs typeface="+mn-lt"/>
              </a:rPr>
              <a:t> </a:t>
            </a:r>
            <a:r>
              <a:rPr lang="en-US" err="1">
                <a:ea typeface="Calibri"/>
                <a:cs typeface="+mn-lt"/>
              </a:rPr>
              <a:t>alustamist</a:t>
            </a:r>
            <a:r>
              <a:rPr lang="en-US">
                <a:ea typeface="Calibri"/>
                <a:cs typeface="+mn-lt"/>
              </a:rPr>
              <a:t> ja 30 </a:t>
            </a:r>
            <a:r>
              <a:rPr lang="en-US" err="1">
                <a:ea typeface="Calibri"/>
                <a:cs typeface="+mn-lt"/>
              </a:rPr>
              <a:t>päeva</a:t>
            </a:r>
            <a:r>
              <a:rPr lang="en-US">
                <a:ea typeface="Calibri"/>
                <a:cs typeface="+mn-lt"/>
              </a:rPr>
              <a:t> </a:t>
            </a:r>
            <a:r>
              <a:rPr lang="en-US" err="1">
                <a:ea typeface="Calibri"/>
                <a:cs typeface="+mn-lt"/>
              </a:rPr>
              <a:t>pärast</a:t>
            </a:r>
            <a:r>
              <a:rPr lang="en-US">
                <a:ea typeface="Calibri"/>
                <a:cs typeface="+mn-lt"/>
              </a:rPr>
              <a:t> </a:t>
            </a:r>
            <a:r>
              <a:rPr lang="en-US" err="1">
                <a:ea typeface="Calibri"/>
                <a:cs typeface="+mn-lt"/>
              </a:rPr>
              <a:t>dieedi</a:t>
            </a:r>
            <a:r>
              <a:rPr lang="en-US">
                <a:ea typeface="Calibri"/>
                <a:cs typeface="+mn-lt"/>
              </a:rPr>
              <a:t> </a:t>
            </a:r>
            <a:r>
              <a:rPr lang="en-US" err="1">
                <a:ea typeface="Calibri"/>
                <a:cs typeface="+mn-lt"/>
              </a:rPr>
              <a:t>alustamist</a:t>
            </a:r>
            <a:r>
              <a:rPr lang="en-US">
                <a:ea typeface="Calibri"/>
                <a:cs typeface="+mn-lt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3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t-EE" smtClean="0"/>
              <a:t>21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065789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16.04.2026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amm.ut.ee/tunnused-ja-nende-tyybid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ab.net/tutorial/descriptive-inferential-statistic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ab.net/tutorial/descriptive-inferential-statistic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hyperlink" Target="https://datatab.net/tutorial/descriptive-inferential-statistics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ab.net/tutorial/descriptive-inferential-statistic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scombe%27s_quartet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amm.ut.ee/regressioonanalyys/" TargetMode="Externa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ab.net/tutorial/t-test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atatab.net/tutorial/t-test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amm.ut.ee/t-test/" TargetMode="Externa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ab.net/tutorial/get-started" TargetMode="External"/><Relationship Id="rId2" Type="http://schemas.openxmlformats.org/officeDocument/2006/relationships/hyperlink" Target="https://www.youtube.com/playlist?list=PL8dPuuaLjXtNM_Y-bUAhblSAdWRnmBUcr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scribbr.com/statistics/statistical-tests/" TargetMode="External"/><Relationship Id="rId4" Type="http://schemas.openxmlformats.org/officeDocument/2006/relationships/hyperlink" Target="https://samm.ut.ee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urvivorship_bias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riigiakadeemia.ee/course/view.php?id=241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102E-2C7C-3DA0-3040-25DF46FB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4C40-604F-EE8D-CE1F-13061981E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XIII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940A91-7988-118D-B25F-D4B87AC08E9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44455648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Andmetüübid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kirjeldav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statistika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Regressioonanalüüs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Exceliga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Võrdlev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analüüs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Exceliga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Andmepõhine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otsustamine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09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5059-3977-814F-D422-21A98BE6F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621B-F096-4728-7E3E-73E2F1252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Andmetüübid</a:t>
            </a:r>
            <a:endParaRPr lang="en-US" err="1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2063C3A-F348-E8A9-A216-E232F810A41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405939833"/>
              </p:ext>
            </p:extLst>
          </p:nvPr>
        </p:nvGraphicFramePr>
        <p:xfrm>
          <a:off x="890128" y="1473893"/>
          <a:ext cx="10941050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9890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61CB-30E6-601A-95E7-16C84D9B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C7F9-A71B-049E-23B2-FCDF6A754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Andmetüübid</a:t>
            </a:r>
            <a:endParaRPr lang="en-US" err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1BE769-972A-E6A8-6698-E6138EDBCC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err="1">
                <a:ea typeface="Inter"/>
              </a:rPr>
              <a:t>Andmetüübid</a:t>
            </a:r>
            <a:endParaRPr lang="en-US" err="1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</a:rPr>
              <a:t>Kategooriaalne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ehk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kvalitatiivne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tunnus</a:t>
            </a:r>
            <a:endParaRPr lang="en-US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err="1">
                <a:ea typeface="Inter"/>
              </a:rPr>
              <a:t>Järjestustunnus</a:t>
            </a:r>
            <a:r>
              <a:rPr lang="en-US">
                <a:ea typeface="Inter"/>
              </a:rPr>
              <a:t>- </a:t>
            </a:r>
            <a:r>
              <a:rPr lang="en-US" err="1">
                <a:ea typeface="Inter"/>
              </a:rPr>
              <a:t>järjekorda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pandavad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kategooriad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nt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haridustase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rahuloluhinnang</a:t>
            </a:r>
            <a:endParaRPr lang="en-US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err="1">
                <a:ea typeface="Inter"/>
              </a:rPr>
              <a:t>Nominaaltunnus</a:t>
            </a:r>
            <a:r>
              <a:rPr lang="en-US">
                <a:ea typeface="Inter"/>
              </a:rPr>
              <a:t> – </a:t>
            </a:r>
            <a:r>
              <a:rPr lang="en-US" err="1">
                <a:ea typeface="Inter"/>
              </a:rPr>
              <a:t>ilma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järjekorrata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kategooriad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nt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rahvus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sugu</a:t>
            </a:r>
            <a:endParaRPr lang="en-US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</a:rPr>
              <a:t>Arvuline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ehk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kvantitatiivne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tunnus</a:t>
            </a:r>
            <a:endParaRPr lang="en-US" err="1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err="1">
                <a:ea typeface="Inter"/>
              </a:rPr>
              <a:t>Diskreetne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arvuline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tunnus</a:t>
            </a:r>
            <a:r>
              <a:rPr lang="en-US">
                <a:ea typeface="Inter"/>
              </a:rPr>
              <a:t> – </a:t>
            </a:r>
            <a:r>
              <a:rPr lang="en-US" err="1">
                <a:ea typeface="Inter"/>
              </a:rPr>
              <a:t>ainult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täisarvulised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väärtused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nt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laste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arv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peres</a:t>
            </a:r>
            <a:endParaRPr lang="en-US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err="1">
                <a:ea typeface="Inter"/>
              </a:rPr>
              <a:t>Pidev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arvuline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tunnus</a:t>
            </a:r>
            <a:r>
              <a:rPr lang="en-US">
                <a:ea typeface="Inter"/>
              </a:rPr>
              <a:t> - </a:t>
            </a:r>
            <a:r>
              <a:rPr lang="en-US" err="1">
                <a:ea typeface="Inter"/>
              </a:rPr>
              <a:t>võimalik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väärtus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kõik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punktid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tunnuse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skaalal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nt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pikkus</a:t>
            </a:r>
            <a:endParaRPr lang="en-US" err="1"/>
          </a:p>
          <a:p>
            <a:pPr lvl="1">
              <a:buFont typeface="Courier New" panose="020B0502030000000004" pitchFamily="34" charset="0"/>
              <a:buChar char="o"/>
            </a:pPr>
            <a:endParaRPr lang="en-US"/>
          </a:p>
          <a:p>
            <a:pPr lvl="1">
              <a:buFont typeface="Courier New" panose="020B0502030000000004" pitchFamily="34" charset="0"/>
              <a:buChar char="o"/>
            </a:pPr>
            <a:endParaRPr lang="en-US"/>
          </a:p>
          <a:p>
            <a:pPr>
              <a:buClr>
                <a:srgbClr val="121212"/>
              </a:buClr>
            </a:pPr>
            <a:r>
              <a:rPr lang="en-US">
                <a:ea typeface="Inter"/>
              </a:rPr>
              <a:t>Loe </a:t>
            </a:r>
            <a:r>
              <a:rPr lang="en-US" err="1">
                <a:ea typeface="Inter"/>
              </a:rPr>
              <a:t>rohkem</a:t>
            </a:r>
            <a:r>
              <a:rPr lang="en-US">
                <a:ea typeface="Inter"/>
              </a:rPr>
              <a:t>: </a:t>
            </a:r>
            <a:r>
              <a:rPr lang="en-US">
                <a:ea typeface="+mn-lt"/>
                <a:cs typeface="+mn-lt"/>
                <a:hlinkClick r:id="rId2"/>
              </a:rPr>
              <a:t>https://samm.ut.ee/tunnused-ja-nende-tyybid/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62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D638-399F-95A2-F3A0-DD61251C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9931-68B6-ED99-A676-C2D2D1AA2A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Kirjeldav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statistika</a:t>
            </a:r>
            <a:r>
              <a:rPr lang="en-US" sz="3600" b="1">
                <a:ea typeface="+mj-lt"/>
                <a:cs typeface="+mj-lt"/>
              </a:rPr>
              <a:t> – </a:t>
            </a:r>
            <a:r>
              <a:rPr lang="en-US" sz="3600" b="1" err="1">
                <a:ea typeface="+mj-lt"/>
                <a:cs typeface="+mj-lt"/>
              </a:rPr>
              <a:t>keskmise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näitajad</a:t>
            </a:r>
            <a:endParaRPr lang="en-US" err="1"/>
          </a:p>
        </p:txBody>
      </p:sp>
      <p:pic>
        <p:nvPicPr>
          <p:cNvPr id="3" name="Content Placeholder 2" descr="A group of people with a red arrow pointing to the top&#10;&#10;AI-generated content may be incorrect.">
            <a:extLst>
              <a:ext uri="{FF2B5EF4-FFF2-40B4-BE49-F238E27FC236}">
                <a16:creationId xmlns:a16="http://schemas.microsoft.com/office/drawing/2014/main" id="{6C2E28F6-838A-8656-1C82-5D1254FFC69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23888" y="2522840"/>
            <a:ext cx="11060399" cy="21128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D7D743-6C6E-7CA8-857A-79EF50457713}"/>
              </a:ext>
            </a:extLst>
          </p:cNvPr>
          <p:cNvSpPr txBox="1"/>
          <p:nvPr/>
        </p:nvSpPr>
        <p:spPr>
          <a:xfrm>
            <a:off x="661736" y="1754604"/>
            <a:ext cx="2957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Inter"/>
              </a:rPr>
              <a:t>Keskmine</a:t>
            </a:r>
            <a:endParaRPr lang="en-US" b="1">
              <a:ea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14A7D-BCE8-62D3-2FFC-B8CC170B89BB}"/>
              </a:ext>
            </a:extLst>
          </p:cNvPr>
          <p:cNvSpPr txBox="1"/>
          <p:nvPr/>
        </p:nvSpPr>
        <p:spPr>
          <a:xfrm>
            <a:off x="4618627" y="1754603"/>
            <a:ext cx="2957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Inter"/>
              </a:rPr>
              <a:t>Mediaan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C0C5A-E0F0-91C7-E0F7-57DAB0715C72}"/>
              </a:ext>
            </a:extLst>
          </p:cNvPr>
          <p:cNvSpPr txBox="1"/>
          <p:nvPr/>
        </p:nvSpPr>
        <p:spPr>
          <a:xfrm>
            <a:off x="8492892" y="1754604"/>
            <a:ext cx="2957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Inter"/>
              </a:rPr>
              <a:t>Mood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B3684-EC6D-CCAF-1515-D8449B0C9D99}"/>
              </a:ext>
            </a:extLst>
          </p:cNvPr>
          <p:cNvSpPr txBox="1"/>
          <p:nvPr/>
        </p:nvSpPr>
        <p:spPr>
          <a:xfrm>
            <a:off x="671763" y="4762499"/>
            <a:ext cx="332873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Inter"/>
              </a:rPr>
              <a:t>Keskmine</a:t>
            </a:r>
            <a:r>
              <a:rPr lang="en-US">
                <a:ea typeface="Inter"/>
              </a:rPr>
              <a:t> - </a:t>
            </a:r>
            <a:r>
              <a:rPr lang="en-US" err="1">
                <a:ea typeface="Inter"/>
              </a:rPr>
              <a:t>väärtuste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keskmine</a:t>
            </a:r>
            <a:r>
              <a:rPr lang="en-US">
                <a:ea typeface="Inter"/>
              </a:rPr>
              <a:t> = </a:t>
            </a:r>
            <a:r>
              <a:rPr lang="en-US" err="1">
                <a:ea typeface="Inter"/>
              </a:rPr>
              <a:t>mõõtetulemuste</a:t>
            </a:r>
            <a:r>
              <a:rPr lang="en-US">
                <a:ea typeface="Inter"/>
              </a:rPr>
              <a:t> summa / </a:t>
            </a:r>
            <a:r>
              <a:rPr lang="en-US" err="1">
                <a:ea typeface="Inter"/>
              </a:rPr>
              <a:t>mõõtetulemuste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arv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7C6CA-9655-6533-C129-C4590A55C2E1}"/>
              </a:ext>
            </a:extLst>
          </p:cNvPr>
          <p:cNvSpPr txBox="1"/>
          <p:nvPr/>
        </p:nvSpPr>
        <p:spPr>
          <a:xfrm>
            <a:off x="4490943" y="4762498"/>
            <a:ext cx="332873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Inter"/>
              </a:rPr>
              <a:t>Mediaan</a:t>
            </a:r>
            <a:r>
              <a:rPr lang="en-US">
                <a:ea typeface="Inter"/>
              </a:rPr>
              <a:t> – </a:t>
            </a:r>
            <a:r>
              <a:rPr lang="en-US" err="1">
                <a:ea typeface="Inter"/>
              </a:rPr>
              <a:t>keskmise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mõõtmise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väärtus</a:t>
            </a:r>
            <a:r>
              <a:rPr lang="en-US">
                <a:ea typeface="Inter"/>
              </a:rPr>
              <a:t> = 50% </a:t>
            </a:r>
            <a:r>
              <a:rPr lang="en-US" err="1">
                <a:ea typeface="Inter"/>
              </a:rPr>
              <a:t>mõõtmistest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madalamad</a:t>
            </a:r>
            <a:r>
              <a:rPr lang="en-US">
                <a:ea typeface="Inter"/>
              </a:rPr>
              <a:t> ja 50% </a:t>
            </a:r>
            <a:r>
              <a:rPr lang="en-US" err="1">
                <a:ea typeface="Inter"/>
              </a:rPr>
              <a:t>kõrgemad</a:t>
            </a:r>
            <a:r>
              <a:rPr lang="en-US">
                <a:ea typeface="Inter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8692F-8724-098E-CCC3-4F2FD7945A95}"/>
              </a:ext>
            </a:extLst>
          </p:cNvPr>
          <p:cNvSpPr txBox="1"/>
          <p:nvPr/>
        </p:nvSpPr>
        <p:spPr>
          <a:xfrm>
            <a:off x="8356028" y="4762499"/>
            <a:ext cx="33287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Mood - </a:t>
            </a:r>
            <a:r>
              <a:rPr lang="en-US" err="1">
                <a:ea typeface="Inter"/>
              </a:rPr>
              <a:t>kõige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sagedasem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väärtus</a:t>
            </a:r>
            <a:r>
              <a:rPr lang="en-US">
                <a:ea typeface="Inter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778785-AA46-6596-52E7-412D3BD3A9B3}"/>
              </a:ext>
            </a:extLst>
          </p:cNvPr>
          <p:cNvSpPr txBox="1"/>
          <p:nvPr/>
        </p:nvSpPr>
        <p:spPr>
          <a:xfrm>
            <a:off x="7573371" y="6087664"/>
            <a:ext cx="26168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Inter"/>
              </a:rPr>
              <a:t>Joonise</a:t>
            </a:r>
            <a:r>
              <a:rPr lang="en-US" sz="1400">
                <a:ea typeface="Inter"/>
              </a:rPr>
              <a:t> </a:t>
            </a:r>
            <a:r>
              <a:rPr lang="en-US" sz="1400" err="1">
                <a:ea typeface="Inter"/>
              </a:rPr>
              <a:t>allikas</a:t>
            </a:r>
            <a:r>
              <a:rPr lang="en-US" sz="1400">
                <a:ea typeface="Inter"/>
              </a:rPr>
              <a:t>: </a:t>
            </a:r>
            <a:r>
              <a:rPr lang="en-US" sz="1400">
                <a:ea typeface="Inter"/>
                <a:hlinkClick r:id="rId3"/>
              </a:rPr>
              <a:t>Datatab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87429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C4C17-4E99-F25D-141F-9771C3BC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group of people with a red arrow pointing to the top&#10;&#10;AI-generated content may be incorrect.">
            <a:extLst>
              <a:ext uri="{FF2B5EF4-FFF2-40B4-BE49-F238E27FC236}">
                <a16:creationId xmlns:a16="http://schemas.microsoft.com/office/drawing/2014/main" id="{D0AAFB28-7D99-8D4C-3494-F3245F1A0E0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74019" y="2552919"/>
            <a:ext cx="11060399" cy="211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9993AD-503F-9B5F-5983-0276551D8A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Kirjeldav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statistika</a:t>
            </a:r>
            <a:r>
              <a:rPr lang="en-US" sz="3600" b="1">
                <a:ea typeface="+mj-lt"/>
                <a:cs typeface="+mj-lt"/>
              </a:rPr>
              <a:t> – </a:t>
            </a:r>
            <a:r>
              <a:rPr lang="en-US" sz="3600" b="1" err="1">
                <a:ea typeface="+mj-lt"/>
                <a:cs typeface="+mj-lt"/>
              </a:rPr>
              <a:t>keskmise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näitajad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näide</a:t>
            </a:r>
            <a:endParaRPr lang="en-US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74EC3-45F3-04D8-EFFD-D56479BCBF16}"/>
              </a:ext>
            </a:extLst>
          </p:cNvPr>
          <p:cNvSpPr txBox="1"/>
          <p:nvPr/>
        </p:nvSpPr>
        <p:spPr>
          <a:xfrm>
            <a:off x="661736" y="1754604"/>
            <a:ext cx="2957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Inter"/>
              </a:rPr>
              <a:t>Keskmine</a:t>
            </a:r>
            <a:endParaRPr lang="en-US" b="1">
              <a:ea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3DB0C-7B38-A60A-4396-40B37B430DC4}"/>
              </a:ext>
            </a:extLst>
          </p:cNvPr>
          <p:cNvSpPr txBox="1"/>
          <p:nvPr/>
        </p:nvSpPr>
        <p:spPr>
          <a:xfrm>
            <a:off x="4618627" y="1754603"/>
            <a:ext cx="2957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Inter"/>
              </a:rPr>
              <a:t>Mediaan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A9561-2901-829E-F129-F5F006351CF5}"/>
              </a:ext>
            </a:extLst>
          </p:cNvPr>
          <p:cNvSpPr txBox="1"/>
          <p:nvPr/>
        </p:nvSpPr>
        <p:spPr>
          <a:xfrm>
            <a:off x="8492892" y="1754604"/>
            <a:ext cx="2957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Inter"/>
              </a:rPr>
              <a:t>Mood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75F3DE-9BF1-2F90-8800-8B617EED067E}"/>
              </a:ext>
            </a:extLst>
          </p:cNvPr>
          <p:cNvSpPr txBox="1"/>
          <p:nvPr/>
        </p:nvSpPr>
        <p:spPr>
          <a:xfrm>
            <a:off x="671763" y="4762499"/>
            <a:ext cx="33287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Inter"/>
              </a:rPr>
              <a:t>Keskmine</a:t>
            </a:r>
            <a:r>
              <a:rPr lang="en-US">
                <a:ea typeface="Inter"/>
              </a:rPr>
              <a:t> = (1+2+2+3+4+5+7)/7 = 3,4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E61D32-F8F1-6027-9075-FD0A3262FBE5}"/>
              </a:ext>
            </a:extLst>
          </p:cNvPr>
          <p:cNvSpPr txBox="1"/>
          <p:nvPr/>
        </p:nvSpPr>
        <p:spPr>
          <a:xfrm>
            <a:off x="4490943" y="4762498"/>
            <a:ext cx="33287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Inter"/>
              </a:rPr>
              <a:t>Mediaan</a:t>
            </a:r>
            <a:r>
              <a:rPr lang="en-US">
                <a:ea typeface="Inter"/>
              </a:rPr>
              <a:t>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63017-DEED-5924-DAC4-998EDE608E63}"/>
              </a:ext>
            </a:extLst>
          </p:cNvPr>
          <p:cNvSpPr txBox="1"/>
          <p:nvPr/>
        </p:nvSpPr>
        <p:spPr>
          <a:xfrm>
            <a:off x="8356028" y="4762499"/>
            <a:ext cx="33287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Mood =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56560A-7160-FEF0-AC60-07EAF37A1764}"/>
              </a:ext>
            </a:extLst>
          </p:cNvPr>
          <p:cNvSpPr txBox="1"/>
          <p:nvPr/>
        </p:nvSpPr>
        <p:spPr>
          <a:xfrm>
            <a:off x="7573371" y="6087664"/>
            <a:ext cx="26168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Inter"/>
              </a:rPr>
              <a:t>Joonise</a:t>
            </a:r>
            <a:r>
              <a:rPr lang="en-US" sz="1400">
                <a:ea typeface="Inter"/>
              </a:rPr>
              <a:t> </a:t>
            </a:r>
            <a:r>
              <a:rPr lang="en-US" sz="1400" err="1">
                <a:ea typeface="Inter"/>
              </a:rPr>
              <a:t>allikas</a:t>
            </a:r>
            <a:r>
              <a:rPr lang="en-US" sz="1400">
                <a:ea typeface="Inter"/>
              </a:rPr>
              <a:t>: </a:t>
            </a:r>
            <a:r>
              <a:rPr lang="en-US" sz="1400">
                <a:ea typeface="Inter"/>
                <a:hlinkClick r:id="rId3"/>
              </a:rPr>
              <a:t>Datatab</a:t>
            </a:r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C7C20-106C-C86B-A4FE-9DB0F78F3FC4}"/>
              </a:ext>
            </a:extLst>
          </p:cNvPr>
          <p:cNvSpPr txBox="1"/>
          <p:nvPr/>
        </p:nvSpPr>
        <p:spPr>
          <a:xfrm>
            <a:off x="1022684" y="3469105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A58DD2-319B-313D-BF2A-A978A30D0601}"/>
              </a:ext>
            </a:extLst>
          </p:cNvPr>
          <p:cNvSpPr txBox="1"/>
          <p:nvPr/>
        </p:nvSpPr>
        <p:spPr>
          <a:xfrm>
            <a:off x="1403684" y="3328736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5F837F-888E-B6B1-69C9-63AAF41D9102}"/>
              </a:ext>
            </a:extLst>
          </p:cNvPr>
          <p:cNvSpPr txBox="1"/>
          <p:nvPr/>
        </p:nvSpPr>
        <p:spPr>
          <a:xfrm>
            <a:off x="1784683" y="3328736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FE1A4F-5273-CB37-4244-B381E4A63E27}"/>
              </a:ext>
            </a:extLst>
          </p:cNvPr>
          <p:cNvSpPr txBox="1"/>
          <p:nvPr/>
        </p:nvSpPr>
        <p:spPr>
          <a:xfrm>
            <a:off x="2145631" y="3148262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9E4DE6-BF55-AEC8-877B-E021D2615DD9}"/>
              </a:ext>
            </a:extLst>
          </p:cNvPr>
          <p:cNvSpPr txBox="1"/>
          <p:nvPr/>
        </p:nvSpPr>
        <p:spPr>
          <a:xfrm>
            <a:off x="2546684" y="3048000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291254-80DB-59C8-4663-749CE4717020}"/>
              </a:ext>
            </a:extLst>
          </p:cNvPr>
          <p:cNvSpPr txBox="1"/>
          <p:nvPr/>
        </p:nvSpPr>
        <p:spPr>
          <a:xfrm>
            <a:off x="2897605" y="3007894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7F8879-C718-ABD7-F05D-BF742470B9C6}"/>
              </a:ext>
            </a:extLst>
          </p:cNvPr>
          <p:cNvSpPr txBox="1"/>
          <p:nvPr/>
        </p:nvSpPr>
        <p:spPr>
          <a:xfrm>
            <a:off x="3288631" y="2556710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3F0083-D878-ABBA-17CD-F94C1EC5484D}"/>
              </a:ext>
            </a:extLst>
          </p:cNvPr>
          <p:cNvSpPr txBox="1"/>
          <p:nvPr/>
        </p:nvSpPr>
        <p:spPr>
          <a:xfrm>
            <a:off x="4752473" y="3428999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A8C31-4499-AD1E-E8D7-DDE49FE0C3F8}"/>
              </a:ext>
            </a:extLst>
          </p:cNvPr>
          <p:cNvSpPr txBox="1"/>
          <p:nvPr/>
        </p:nvSpPr>
        <p:spPr>
          <a:xfrm>
            <a:off x="5163552" y="3338761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CF5607-77A3-5986-1CC2-F149D3BA12A5}"/>
              </a:ext>
            </a:extLst>
          </p:cNvPr>
          <p:cNvSpPr txBox="1"/>
          <p:nvPr/>
        </p:nvSpPr>
        <p:spPr>
          <a:xfrm>
            <a:off x="5574630" y="3338761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4EFC51-1310-19AC-EA1B-735B2F8E37E3}"/>
              </a:ext>
            </a:extLst>
          </p:cNvPr>
          <p:cNvSpPr txBox="1"/>
          <p:nvPr/>
        </p:nvSpPr>
        <p:spPr>
          <a:xfrm>
            <a:off x="5945604" y="2907630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CB1D79-E86E-E396-4AA0-D744B9869F18}"/>
              </a:ext>
            </a:extLst>
          </p:cNvPr>
          <p:cNvSpPr txBox="1"/>
          <p:nvPr/>
        </p:nvSpPr>
        <p:spPr>
          <a:xfrm>
            <a:off x="6346657" y="3007894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0F6610-080F-02A7-6BF0-51EA751E2D89}"/>
              </a:ext>
            </a:extLst>
          </p:cNvPr>
          <p:cNvSpPr txBox="1"/>
          <p:nvPr/>
        </p:nvSpPr>
        <p:spPr>
          <a:xfrm>
            <a:off x="6767762" y="2907630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DA5984-89C1-6CC5-3A09-BBE06CF9DAC6}"/>
              </a:ext>
            </a:extLst>
          </p:cNvPr>
          <p:cNvSpPr txBox="1"/>
          <p:nvPr/>
        </p:nvSpPr>
        <p:spPr>
          <a:xfrm>
            <a:off x="7148762" y="2416342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17AF7C-D943-1D46-0783-3E0A49E92701}"/>
              </a:ext>
            </a:extLst>
          </p:cNvPr>
          <p:cNvSpPr txBox="1"/>
          <p:nvPr/>
        </p:nvSpPr>
        <p:spPr>
          <a:xfrm flipH="1">
            <a:off x="8572499" y="3569369"/>
            <a:ext cx="4110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27ACB5-0324-D320-EC90-E83545D941C0}"/>
              </a:ext>
            </a:extLst>
          </p:cNvPr>
          <p:cNvSpPr txBox="1"/>
          <p:nvPr/>
        </p:nvSpPr>
        <p:spPr>
          <a:xfrm flipH="1">
            <a:off x="8983578" y="3148263"/>
            <a:ext cx="4110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6EEF2E-8B66-E816-0DD2-F9B87D82B867}"/>
              </a:ext>
            </a:extLst>
          </p:cNvPr>
          <p:cNvSpPr txBox="1"/>
          <p:nvPr/>
        </p:nvSpPr>
        <p:spPr>
          <a:xfrm flipH="1">
            <a:off x="9394656" y="3148263"/>
            <a:ext cx="4110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9779E2-19A7-6D1B-69EF-4798E86F5C2D}"/>
              </a:ext>
            </a:extLst>
          </p:cNvPr>
          <p:cNvSpPr txBox="1"/>
          <p:nvPr/>
        </p:nvSpPr>
        <p:spPr>
          <a:xfrm flipH="1">
            <a:off x="9765631" y="3208421"/>
            <a:ext cx="4110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87C049-EC76-AD21-06E7-5F5CB32CD9FF}"/>
              </a:ext>
            </a:extLst>
          </p:cNvPr>
          <p:cNvSpPr txBox="1"/>
          <p:nvPr/>
        </p:nvSpPr>
        <p:spPr>
          <a:xfrm flipH="1">
            <a:off x="10146631" y="3048001"/>
            <a:ext cx="4110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25F1DC-F10C-9AD6-62E8-3944A7953EE7}"/>
              </a:ext>
            </a:extLst>
          </p:cNvPr>
          <p:cNvSpPr txBox="1"/>
          <p:nvPr/>
        </p:nvSpPr>
        <p:spPr>
          <a:xfrm flipH="1">
            <a:off x="10557710" y="3007895"/>
            <a:ext cx="4110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05B92C-6F17-E5EC-80BC-ACFAF8BB3772}"/>
              </a:ext>
            </a:extLst>
          </p:cNvPr>
          <p:cNvSpPr txBox="1"/>
          <p:nvPr/>
        </p:nvSpPr>
        <p:spPr>
          <a:xfrm flipH="1">
            <a:off x="10968789" y="2416342"/>
            <a:ext cx="4110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10169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90361-C600-FA22-1DBC-1AD7B3D6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B439E5B-D8D6-B2F9-45F8-A984F8F7D4A2}"/>
              </a:ext>
            </a:extLst>
          </p:cNvPr>
          <p:cNvSpPr/>
          <p:nvPr/>
        </p:nvSpPr>
        <p:spPr>
          <a:xfrm>
            <a:off x="6827921" y="3218446"/>
            <a:ext cx="2877551" cy="441158"/>
          </a:xfrm>
          <a:prstGeom prst="rect">
            <a:avLst/>
          </a:prstGeom>
          <a:solidFill>
            <a:srgbClr val="B78885"/>
          </a:solidFill>
          <a:ln w="28575">
            <a:solidFill>
              <a:srgbClr val="942B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A6CCA4-1122-50D7-B50E-6DEC5681AE0C}"/>
              </a:ext>
            </a:extLst>
          </p:cNvPr>
          <p:cNvSpPr/>
          <p:nvPr/>
        </p:nvSpPr>
        <p:spPr>
          <a:xfrm>
            <a:off x="1163053" y="2797341"/>
            <a:ext cx="2827420" cy="1042737"/>
          </a:xfrm>
          <a:prstGeom prst="rect">
            <a:avLst/>
          </a:prstGeom>
          <a:solidFill>
            <a:srgbClr val="B78885"/>
          </a:solidFill>
          <a:ln w="28575">
            <a:solidFill>
              <a:srgbClr val="942B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A65BC-4D9A-1453-DF3B-58DEDDBA7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Kirjeldav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statistika</a:t>
            </a:r>
            <a:r>
              <a:rPr lang="en-US" sz="3600" b="1">
                <a:ea typeface="+mj-lt"/>
                <a:cs typeface="+mj-lt"/>
              </a:rPr>
              <a:t> – </a:t>
            </a:r>
            <a:r>
              <a:rPr lang="en-US" sz="3600" b="1" err="1">
                <a:ea typeface="+mj-lt"/>
                <a:cs typeface="+mj-lt"/>
              </a:rPr>
              <a:t>hajuvuse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näitajad</a:t>
            </a:r>
            <a:endParaRPr lang="en-US" sz="3600" b="1" err="1">
              <a:ea typeface="Inter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6700A-6057-D551-1898-0B4A00925493}"/>
              </a:ext>
            </a:extLst>
          </p:cNvPr>
          <p:cNvSpPr txBox="1"/>
          <p:nvPr/>
        </p:nvSpPr>
        <p:spPr>
          <a:xfrm>
            <a:off x="8137395" y="6428207"/>
            <a:ext cx="26168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Inter"/>
              </a:rPr>
              <a:t>Joonise</a:t>
            </a:r>
            <a:r>
              <a:rPr lang="en-US" sz="1400">
                <a:ea typeface="Inter"/>
              </a:rPr>
              <a:t> </a:t>
            </a:r>
            <a:r>
              <a:rPr lang="en-US" sz="1400" err="1">
                <a:ea typeface="Inter"/>
              </a:rPr>
              <a:t>allikas</a:t>
            </a:r>
            <a:r>
              <a:rPr lang="en-US" sz="1400">
                <a:ea typeface="Inter"/>
              </a:rPr>
              <a:t>: </a:t>
            </a:r>
            <a:r>
              <a:rPr lang="en-US" sz="1400">
                <a:ea typeface="Inter"/>
                <a:hlinkClick r:id="rId2"/>
              </a:rPr>
              <a:t>Datatab</a:t>
            </a:r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D375BF-A4CF-02FF-4E0B-C26B0E0678A3}"/>
              </a:ext>
            </a:extLst>
          </p:cNvPr>
          <p:cNvSpPr txBox="1"/>
          <p:nvPr/>
        </p:nvSpPr>
        <p:spPr>
          <a:xfrm>
            <a:off x="1163052" y="1814763"/>
            <a:ext cx="31282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Inter"/>
              </a:rPr>
              <a:t>Vahemik</a:t>
            </a:r>
            <a:endParaRPr lang="en-US" b="1">
              <a:ea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A185F1-4439-A32A-2163-8E157F75232F}"/>
              </a:ext>
            </a:extLst>
          </p:cNvPr>
          <p:cNvSpPr txBox="1"/>
          <p:nvPr/>
        </p:nvSpPr>
        <p:spPr>
          <a:xfrm>
            <a:off x="1052762" y="4582026"/>
            <a:ext cx="37899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Inter"/>
              </a:rPr>
              <a:t>Vahemik</a:t>
            </a:r>
            <a:r>
              <a:rPr lang="en-US">
                <a:ea typeface="Inter"/>
              </a:rPr>
              <a:t> - </a:t>
            </a:r>
            <a:r>
              <a:rPr lang="en-US" err="1">
                <a:ea typeface="Inter"/>
              </a:rPr>
              <a:t>mõõtmiste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miinimum</a:t>
            </a:r>
            <a:r>
              <a:rPr lang="en-US">
                <a:ea typeface="Inter"/>
              </a:rPr>
              <a:t>- ja </a:t>
            </a:r>
            <a:r>
              <a:rPr lang="en-US" err="1">
                <a:ea typeface="Inter"/>
              </a:rPr>
              <a:t>maksmimumväärtuste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erinevus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A93B38-92AA-4074-9596-EDC60E88D05F}"/>
              </a:ext>
            </a:extLst>
          </p:cNvPr>
          <p:cNvSpPr txBox="1"/>
          <p:nvPr/>
        </p:nvSpPr>
        <p:spPr>
          <a:xfrm>
            <a:off x="6878052" y="1814763"/>
            <a:ext cx="31282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Inter"/>
              </a:rPr>
              <a:t>Standardhälve</a:t>
            </a:r>
            <a:endParaRPr lang="en-US" err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2621B5-0A1C-A507-9196-57ABE130537E}"/>
              </a:ext>
            </a:extLst>
          </p:cNvPr>
          <p:cNvSpPr txBox="1"/>
          <p:nvPr/>
        </p:nvSpPr>
        <p:spPr>
          <a:xfrm>
            <a:off x="6717630" y="4582026"/>
            <a:ext cx="37899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Inter"/>
              </a:rPr>
              <a:t>Standardhälve</a:t>
            </a:r>
            <a:r>
              <a:rPr lang="en-US">
                <a:ea typeface="Inter"/>
              </a:rPr>
              <a:t> - </a:t>
            </a:r>
            <a:r>
              <a:rPr lang="en-US" err="1">
                <a:ea typeface="Inter"/>
              </a:rPr>
              <a:t>mõõtmiste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erinevus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keskmisest</a:t>
            </a:r>
            <a:r>
              <a:rPr lang="en-US">
                <a:ea typeface="Inter"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F6538-DEEE-D167-F1AA-FA06A732274B}"/>
              </a:ext>
            </a:extLst>
          </p:cNvPr>
          <p:cNvSpPr txBox="1"/>
          <p:nvPr/>
        </p:nvSpPr>
        <p:spPr>
          <a:xfrm>
            <a:off x="2188998" y="3147296"/>
            <a:ext cx="20052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>
              <a:ea typeface="Inter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C6310F2-C05F-4EC7-ACE4-2451475507F9}"/>
              </a:ext>
            </a:extLst>
          </p:cNvPr>
          <p:cNvCxnSpPr/>
          <p:nvPr/>
        </p:nvCxnSpPr>
        <p:spPr>
          <a:xfrm flipV="1">
            <a:off x="1163052" y="2476500"/>
            <a:ext cx="10026" cy="1925051"/>
          </a:xfrm>
          <a:prstGeom prst="straightConnector1">
            <a:avLst/>
          </a:prstGeom>
          <a:ln>
            <a:solidFill>
              <a:srgbClr val="2784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EC78D3-2321-B8BB-E308-34179F327064}"/>
              </a:ext>
            </a:extLst>
          </p:cNvPr>
          <p:cNvCxnSpPr>
            <a:cxnSpLocks/>
          </p:cNvCxnSpPr>
          <p:nvPr/>
        </p:nvCxnSpPr>
        <p:spPr>
          <a:xfrm flipV="1">
            <a:off x="1173078" y="4441655"/>
            <a:ext cx="2957763" cy="10025"/>
          </a:xfrm>
          <a:prstGeom prst="straightConnector1">
            <a:avLst/>
          </a:prstGeom>
          <a:ln>
            <a:solidFill>
              <a:srgbClr val="17868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D4D6C7AA-FDB9-7D0C-5EAE-5A3A636A49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6932" y="3844089"/>
            <a:ext cx="623639" cy="633664"/>
          </a:xfrm>
          <a:prstGeom prst="rect">
            <a:avLst/>
          </a:prstGeom>
        </p:spPr>
      </p:pic>
      <p:pic>
        <p:nvPicPr>
          <p:cNvPr id="18" name="Graphic 17" descr="Woman with solid fill">
            <a:extLst>
              <a:ext uri="{FF2B5EF4-FFF2-40B4-BE49-F238E27FC236}">
                <a16:creationId xmlns:a16="http://schemas.microsoft.com/office/drawing/2014/main" id="{D4939EA0-6D16-C57E-E2F1-25601F87A1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7773" y="3658599"/>
            <a:ext cx="623639" cy="824165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628DA818-98F7-F864-8BB8-B8D11AAD8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8615" y="3663614"/>
            <a:ext cx="623639" cy="814137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94A3F223-A521-AB15-CABE-EF461A4032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9457" y="3533273"/>
            <a:ext cx="643691" cy="964531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2A75E795-FC88-0CC2-718C-0FA0DB43E7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0562" y="3362826"/>
            <a:ext cx="643691" cy="1104899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18BBCBEF-B251-7A74-B96B-5FA7E79FA3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2773" y="2801353"/>
            <a:ext cx="643691" cy="1696451"/>
          </a:xfrm>
          <a:prstGeom prst="rect">
            <a:avLst/>
          </a:prstGeom>
        </p:spPr>
      </p:pic>
      <p:pic>
        <p:nvPicPr>
          <p:cNvPr id="23" name="Graphic 22" descr="Woman with solid fill">
            <a:extLst>
              <a:ext uri="{FF2B5EF4-FFF2-40B4-BE49-F238E27FC236}">
                <a16:creationId xmlns:a16="http://schemas.microsoft.com/office/drawing/2014/main" id="{8B358F2A-5EE1-E8AB-8564-198D594F2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1746" y="3217442"/>
            <a:ext cx="623639" cy="1265322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7615F61-6542-B213-3D95-0F54B3C3269B}"/>
              </a:ext>
            </a:extLst>
          </p:cNvPr>
          <p:cNvCxnSpPr>
            <a:cxnSpLocks/>
          </p:cNvCxnSpPr>
          <p:nvPr/>
        </p:nvCxnSpPr>
        <p:spPr>
          <a:xfrm flipV="1">
            <a:off x="6827920" y="2406315"/>
            <a:ext cx="10026" cy="1965156"/>
          </a:xfrm>
          <a:prstGeom prst="straightConnector1">
            <a:avLst/>
          </a:prstGeom>
          <a:ln>
            <a:solidFill>
              <a:srgbClr val="2784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170035C-D416-39D7-9C01-70DF45DAAA41}"/>
              </a:ext>
            </a:extLst>
          </p:cNvPr>
          <p:cNvCxnSpPr>
            <a:cxnSpLocks/>
          </p:cNvCxnSpPr>
          <p:nvPr/>
        </p:nvCxnSpPr>
        <p:spPr>
          <a:xfrm flipV="1">
            <a:off x="6888077" y="4371470"/>
            <a:ext cx="2957763" cy="10025"/>
          </a:xfrm>
          <a:prstGeom prst="straightConnector1">
            <a:avLst/>
          </a:prstGeom>
          <a:ln>
            <a:solidFill>
              <a:srgbClr val="17868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070A958B-8B1D-B25D-B077-164D74D62E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1931" y="3773904"/>
            <a:ext cx="623639" cy="633664"/>
          </a:xfrm>
          <a:prstGeom prst="rect">
            <a:avLst/>
          </a:prstGeom>
        </p:spPr>
      </p:pic>
      <p:pic>
        <p:nvPicPr>
          <p:cNvPr id="57" name="Graphic 56" descr="Man with solid fill">
            <a:extLst>
              <a:ext uri="{FF2B5EF4-FFF2-40B4-BE49-F238E27FC236}">
                <a16:creationId xmlns:a16="http://schemas.microsoft.com/office/drawing/2014/main" id="{ED617D06-F123-5956-0630-A0BE7654AF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456" y="3463088"/>
            <a:ext cx="643691" cy="964531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2BA8BDA2-ED3A-4A1A-B749-33BB46C996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5561" y="3292641"/>
            <a:ext cx="643691" cy="1104899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B2312E32-9896-1F73-193B-0778399796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7772" y="2731168"/>
            <a:ext cx="643691" cy="1696451"/>
          </a:xfrm>
          <a:prstGeom prst="rect">
            <a:avLst/>
          </a:prstGeom>
        </p:spPr>
      </p:pic>
      <p:pic>
        <p:nvPicPr>
          <p:cNvPr id="60" name="Graphic 59" descr="Woman with solid fill">
            <a:extLst>
              <a:ext uri="{FF2B5EF4-FFF2-40B4-BE49-F238E27FC236}">
                <a16:creationId xmlns:a16="http://schemas.microsoft.com/office/drawing/2014/main" id="{21C6D8DE-713F-9DA8-4D36-A0F94D96D3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6745" y="3147257"/>
            <a:ext cx="623639" cy="1265322"/>
          </a:xfrm>
          <a:prstGeom prst="rect">
            <a:avLst/>
          </a:prstGeom>
        </p:spPr>
      </p:pic>
      <p:pic>
        <p:nvPicPr>
          <p:cNvPr id="61" name="Graphic 60" descr="Woman with solid fill">
            <a:extLst>
              <a:ext uri="{FF2B5EF4-FFF2-40B4-BE49-F238E27FC236}">
                <a16:creationId xmlns:a16="http://schemas.microsoft.com/office/drawing/2014/main" id="{81B410EB-8992-0C2E-0EAA-5E6D9ED55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2773" y="3588414"/>
            <a:ext cx="623639" cy="824165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3F7152DD-BC14-6A82-AD67-C771253FE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3615" y="3593429"/>
            <a:ext cx="623639" cy="814137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731919B-C54E-1D16-7D7D-039984654360}"/>
              </a:ext>
            </a:extLst>
          </p:cNvPr>
          <p:cNvCxnSpPr/>
          <p:nvPr/>
        </p:nvCxnSpPr>
        <p:spPr>
          <a:xfrm>
            <a:off x="6827921" y="3459078"/>
            <a:ext cx="2877551" cy="0"/>
          </a:xfrm>
          <a:prstGeom prst="straightConnector1">
            <a:avLst/>
          </a:prstGeom>
          <a:ln>
            <a:solidFill>
              <a:srgbClr val="942B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9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7CCE6-EC7C-31D0-C583-2ECC4C5A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043EBD8B-CB1C-0440-07C8-890A14E00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236" y="5281613"/>
            <a:ext cx="1334503" cy="726407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3FEB7001-549F-8BB9-0584-763128F686AA}"/>
              </a:ext>
            </a:extLst>
          </p:cNvPr>
          <p:cNvSpPr/>
          <p:nvPr/>
        </p:nvSpPr>
        <p:spPr>
          <a:xfrm>
            <a:off x="6827921" y="3118183"/>
            <a:ext cx="2877551" cy="571500"/>
          </a:xfrm>
          <a:prstGeom prst="rect">
            <a:avLst/>
          </a:prstGeom>
          <a:solidFill>
            <a:srgbClr val="B78885"/>
          </a:solidFill>
          <a:ln w="28575">
            <a:solidFill>
              <a:srgbClr val="942B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3F2D780-90A7-0EFC-41BE-D264E61E4F4A}"/>
              </a:ext>
            </a:extLst>
          </p:cNvPr>
          <p:cNvSpPr/>
          <p:nvPr/>
        </p:nvSpPr>
        <p:spPr>
          <a:xfrm>
            <a:off x="1163053" y="2797341"/>
            <a:ext cx="2827420" cy="1042737"/>
          </a:xfrm>
          <a:prstGeom prst="rect">
            <a:avLst/>
          </a:prstGeom>
          <a:solidFill>
            <a:srgbClr val="B78885"/>
          </a:solidFill>
          <a:ln w="28575">
            <a:solidFill>
              <a:srgbClr val="942B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14136-FD72-38DC-8506-E738265FFF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Kirjeldav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statistika</a:t>
            </a:r>
            <a:r>
              <a:rPr lang="en-US" sz="3600" b="1">
                <a:ea typeface="+mj-lt"/>
                <a:cs typeface="+mj-lt"/>
              </a:rPr>
              <a:t> – </a:t>
            </a:r>
            <a:r>
              <a:rPr lang="en-US" sz="3600" b="1" err="1">
                <a:ea typeface="+mj-lt"/>
                <a:cs typeface="+mj-lt"/>
              </a:rPr>
              <a:t>hajuvuse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näitajad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näide</a:t>
            </a:r>
            <a:endParaRPr lang="en-US" sz="3600" b="1" err="1">
              <a:ea typeface="Inter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AF91AB-F455-3277-6E40-ED22E67C9155}"/>
              </a:ext>
            </a:extLst>
          </p:cNvPr>
          <p:cNvSpPr txBox="1"/>
          <p:nvPr/>
        </p:nvSpPr>
        <p:spPr>
          <a:xfrm>
            <a:off x="7573371" y="6087664"/>
            <a:ext cx="26168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Inter"/>
              </a:rPr>
              <a:t>Joonise</a:t>
            </a:r>
            <a:r>
              <a:rPr lang="en-US" sz="1400">
                <a:ea typeface="Inter"/>
              </a:rPr>
              <a:t> </a:t>
            </a:r>
            <a:r>
              <a:rPr lang="en-US" sz="1400" err="1">
                <a:ea typeface="Inter"/>
              </a:rPr>
              <a:t>allikas</a:t>
            </a:r>
            <a:r>
              <a:rPr lang="en-US" sz="1400">
                <a:ea typeface="Inter"/>
              </a:rPr>
              <a:t>: </a:t>
            </a:r>
            <a:r>
              <a:rPr lang="en-US" sz="1400">
                <a:ea typeface="Inter"/>
                <a:hlinkClick r:id="rId3"/>
              </a:rPr>
              <a:t>Datatab</a:t>
            </a:r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D0081B-0627-AB36-DF0A-08F9D8166885}"/>
              </a:ext>
            </a:extLst>
          </p:cNvPr>
          <p:cNvSpPr txBox="1"/>
          <p:nvPr/>
        </p:nvSpPr>
        <p:spPr>
          <a:xfrm>
            <a:off x="1163052" y="1814763"/>
            <a:ext cx="31282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Inter"/>
              </a:rPr>
              <a:t>Vahemik</a:t>
            </a:r>
            <a:endParaRPr lang="en-US" b="1">
              <a:ea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8E8035-1B68-A340-580F-4313CD24D67F}"/>
              </a:ext>
            </a:extLst>
          </p:cNvPr>
          <p:cNvSpPr txBox="1"/>
          <p:nvPr/>
        </p:nvSpPr>
        <p:spPr>
          <a:xfrm>
            <a:off x="1112919" y="4582026"/>
            <a:ext cx="31282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Inter"/>
              </a:rPr>
              <a:t>Vahemik</a:t>
            </a:r>
            <a:r>
              <a:rPr lang="en-US">
                <a:ea typeface="Inter"/>
              </a:rPr>
              <a:t>= 7-1 = 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9C4774-F339-D75A-CC9B-68FF541583F8}"/>
              </a:ext>
            </a:extLst>
          </p:cNvPr>
          <p:cNvSpPr txBox="1"/>
          <p:nvPr/>
        </p:nvSpPr>
        <p:spPr>
          <a:xfrm>
            <a:off x="6878052" y="1814763"/>
            <a:ext cx="31282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Inter"/>
              </a:rPr>
              <a:t>Standardhälve</a:t>
            </a:r>
            <a:endParaRPr lang="en-US" err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99D484-4804-512C-64A2-20C891210072}"/>
              </a:ext>
            </a:extLst>
          </p:cNvPr>
          <p:cNvSpPr txBox="1"/>
          <p:nvPr/>
        </p:nvSpPr>
        <p:spPr>
          <a:xfrm>
            <a:off x="6717630" y="4582026"/>
            <a:ext cx="378994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Inter"/>
              </a:rPr>
              <a:t>Standardhälve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kogu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populatsiooni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korral</a:t>
            </a:r>
            <a:r>
              <a:rPr lang="en-US">
                <a:ea typeface="Inter"/>
              </a:rPr>
              <a:t> = 1,92</a:t>
            </a:r>
          </a:p>
          <a:p>
            <a:endParaRPr lang="en-US"/>
          </a:p>
          <a:p>
            <a:r>
              <a:rPr lang="en-US" err="1"/>
              <a:t>Standardhälve</a:t>
            </a:r>
            <a:r>
              <a:rPr lang="en-US"/>
              <a:t> </a:t>
            </a:r>
            <a:r>
              <a:rPr lang="en-US" err="1"/>
              <a:t>valimi</a:t>
            </a:r>
            <a:r>
              <a:rPr lang="en-US"/>
              <a:t> </a:t>
            </a:r>
            <a:r>
              <a:rPr lang="en-US" err="1"/>
              <a:t>korral</a:t>
            </a:r>
            <a:r>
              <a:rPr lang="en-US"/>
              <a:t> = 2,07</a:t>
            </a:r>
            <a:br>
              <a:rPr lang="en-US"/>
            </a:br>
            <a:endParaRPr lang="en-US">
              <a:ea typeface="Int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F38F4-C5BC-0F34-2438-353F6BF981B1}"/>
              </a:ext>
            </a:extLst>
          </p:cNvPr>
          <p:cNvSpPr txBox="1"/>
          <p:nvPr/>
        </p:nvSpPr>
        <p:spPr>
          <a:xfrm>
            <a:off x="2188998" y="3147296"/>
            <a:ext cx="20052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>
              <a:ea typeface="Inter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5D707EA-609D-0234-7BBB-177A68E28D1B}"/>
              </a:ext>
            </a:extLst>
          </p:cNvPr>
          <p:cNvCxnSpPr/>
          <p:nvPr/>
        </p:nvCxnSpPr>
        <p:spPr>
          <a:xfrm flipV="1">
            <a:off x="1163052" y="2476500"/>
            <a:ext cx="10026" cy="1925051"/>
          </a:xfrm>
          <a:prstGeom prst="straightConnector1">
            <a:avLst/>
          </a:prstGeom>
          <a:ln>
            <a:solidFill>
              <a:srgbClr val="2784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F60FAA-75D5-F3D4-75AD-5E6CD4DA353D}"/>
              </a:ext>
            </a:extLst>
          </p:cNvPr>
          <p:cNvCxnSpPr>
            <a:cxnSpLocks/>
          </p:cNvCxnSpPr>
          <p:nvPr/>
        </p:nvCxnSpPr>
        <p:spPr>
          <a:xfrm flipV="1">
            <a:off x="1173078" y="4441655"/>
            <a:ext cx="2957763" cy="10025"/>
          </a:xfrm>
          <a:prstGeom prst="straightConnector1">
            <a:avLst/>
          </a:prstGeom>
          <a:ln>
            <a:solidFill>
              <a:srgbClr val="17868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0E9CB08A-1E69-42A0-2363-ECEC4DD6B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6932" y="3844089"/>
            <a:ext cx="623639" cy="633664"/>
          </a:xfrm>
          <a:prstGeom prst="rect">
            <a:avLst/>
          </a:prstGeom>
        </p:spPr>
      </p:pic>
      <p:pic>
        <p:nvPicPr>
          <p:cNvPr id="18" name="Graphic 17" descr="Woman with solid fill">
            <a:extLst>
              <a:ext uri="{FF2B5EF4-FFF2-40B4-BE49-F238E27FC236}">
                <a16:creationId xmlns:a16="http://schemas.microsoft.com/office/drawing/2014/main" id="{CFF1F20D-B345-6F4F-C5A5-577DF073CB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799" y="3658599"/>
            <a:ext cx="623639" cy="824165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B18181AB-6E90-EEAF-EA7B-FA36DEE7DD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8615" y="3663614"/>
            <a:ext cx="623639" cy="814137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DF70496C-5C44-39E2-3455-F2A81ED55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9457" y="3533273"/>
            <a:ext cx="643691" cy="964531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6063723A-942B-7E13-CD99-9B563A1896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0562" y="3362826"/>
            <a:ext cx="643691" cy="1104899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458A9BBB-EF2F-FA20-995D-C56CFC8F31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2773" y="2801353"/>
            <a:ext cx="643691" cy="1696451"/>
          </a:xfrm>
          <a:prstGeom prst="rect">
            <a:avLst/>
          </a:prstGeom>
        </p:spPr>
      </p:pic>
      <p:pic>
        <p:nvPicPr>
          <p:cNvPr id="23" name="Graphic 22" descr="Woman with solid fill">
            <a:extLst>
              <a:ext uri="{FF2B5EF4-FFF2-40B4-BE49-F238E27FC236}">
                <a16:creationId xmlns:a16="http://schemas.microsoft.com/office/drawing/2014/main" id="{C3D93423-EE8D-3CD2-C91B-D59769C13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51746" y="3217442"/>
            <a:ext cx="623639" cy="1265322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60881FE-3F49-3C11-1018-754DFBED0169}"/>
              </a:ext>
            </a:extLst>
          </p:cNvPr>
          <p:cNvCxnSpPr>
            <a:cxnSpLocks/>
          </p:cNvCxnSpPr>
          <p:nvPr/>
        </p:nvCxnSpPr>
        <p:spPr>
          <a:xfrm flipV="1">
            <a:off x="6827920" y="2406315"/>
            <a:ext cx="10026" cy="1965156"/>
          </a:xfrm>
          <a:prstGeom prst="straightConnector1">
            <a:avLst/>
          </a:prstGeom>
          <a:ln>
            <a:solidFill>
              <a:srgbClr val="2784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2AD3B05-8C6F-3A3F-1925-2C8BF2226D9B}"/>
              </a:ext>
            </a:extLst>
          </p:cNvPr>
          <p:cNvCxnSpPr>
            <a:cxnSpLocks/>
          </p:cNvCxnSpPr>
          <p:nvPr/>
        </p:nvCxnSpPr>
        <p:spPr>
          <a:xfrm flipV="1">
            <a:off x="6888077" y="4371470"/>
            <a:ext cx="2957763" cy="10025"/>
          </a:xfrm>
          <a:prstGeom prst="straightConnector1">
            <a:avLst/>
          </a:prstGeom>
          <a:ln>
            <a:solidFill>
              <a:srgbClr val="17868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31335DE3-623A-CF3E-A11B-F086DE048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1931" y="3773904"/>
            <a:ext cx="623639" cy="633664"/>
          </a:xfrm>
          <a:prstGeom prst="rect">
            <a:avLst/>
          </a:prstGeom>
        </p:spPr>
      </p:pic>
      <p:pic>
        <p:nvPicPr>
          <p:cNvPr id="57" name="Graphic 56" descr="Man with solid fill">
            <a:extLst>
              <a:ext uri="{FF2B5EF4-FFF2-40B4-BE49-F238E27FC236}">
                <a16:creationId xmlns:a16="http://schemas.microsoft.com/office/drawing/2014/main" id="{2108ED0C-DFDE-693C-E048-840ACF119C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4456" y="3463088"/>
            <a:ext cx="643691" cy="964531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6F8560D2-6DF1-5D43-B11C-94D88BC6B5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5561" y="3292641"/>
            <a:ext cx="643691" cy="1104899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545B9CC5-65D8-4186-C778-FFF2F0A3A6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7772" y="2731168"/>
            <a:ext cx="643691" cy="1696451"/>
          </a:xfrm>
          <a:prstGeom prst="rect">
            <a:avLst/>
          </a:prstGeom>
        </p:spPr>
      </p:pic>
      <p:pic>
        <p:nvPicPr>
          <p:cNvPr id="60" name="Graphic 59" descr="Woman with solid fill">
            <a:extLst>
              <a:ext uri="{FF2B5EF4-FFF2-40B4-BE49-F238E27FC236}">
                <a16:creationId xmlns:a16="http://schemas.microsoft.com/office/drawing/2014/main" id="{E6F790E6-3D5C-D7CB-EE4E-EA4AEA5865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6745" y="3147257"/>
            <a:ext cx="623639" cy="1265322"/>
          </a:xfrm>
          <a:prstGeom prst="rect">
            <a:avLst/>
          </a:prstGeom>
        </p:spPr>
      </p:pic>
      <p:pic>
        <p:nvPicPr>
          <p:cNvPr id="61" name="Graphic 60" descr="Woman with solid fill">
            <a:extLst>
              <a:ext uri="{FF2B5EF4-FFF2-40B4-BE49-F238E27FC236}">
                <a16:creationId xmlns:a16="http://schemas.microsoft.com/office/drawing/2014/main" id="{16B12AAA-895D-C727-F6F9-6631477B4E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2773" y="3588414"/>
            <a:ext cx="623639" cy="824165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4A37C75F-5883-23D7-6BA1-5EEC35406D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3615" y="3593429"/>
            <a:ext cx="623639" cy="814137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556B4F2-C19C-D896-26FD-592107ECC035}"/>
              </a:ext>
            </a:extLst>
          </p:cNvPr>
          <p:cNvCxnSpPr/>
          <p:nvPr/>
        </p:nvCxnSpPr>
        <p:spPr>
          <a:xfrm>
            <a:off x="6827921" y="3408947"/>
            <a:ext cx="2877551" cy="0"/>
          </a:xfrm>
          <a:prstGeom prst="straightConnector1">
            <a:avLst/>
          </a:prstGeom>
          <a:ln>
            <a:solidFill>
              <a:srgbClr val="942B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734A53E-267B-1ED4-0307-0C37600BBE50}"/>
              </a:ext>
            </a:extLst>
          </p:cNvPr>
          <p:cNvSpPr txBox="1"/>
          <p:nvPr/>
        </p:nvSpPr>
        <p:spPr>
          <a:xfrm>
            <a:off x="1303422" y="3619498"/>
            <a:ext cx="4010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21822-F824-D4A6-799F-016EDFFA3225}"/>
              </a:ext>
            </a:extLst>
          </p:cNvPr>
          <p:cNvSpPr txBox="1"/>
          <p:nvPr/>
        </p:nvSpPr>
        <p:spPr>
          <a:xfrm>
            <a:off x="1674394" y="3408946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65BF74-A263-EC48-ADEF-6E377F25032C}"/>
              </a:ext>
            </a:extLst>
          </p:cNvPr>
          <p:cNvSpPr txBox="1"/>
          <p:nvPr/>
        </p:nvSpPr>
        <p:spPr>
          <a:xfrm>
            <a:off x="1995235" y="3388894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F8E28E-E095-64EC-04E4-53001564B571}"/>
              </a:ext>
            </a:extLst>
          </p:cNvPr>
          <p:cNvSpPr txBox="1"/>
          <p:nvPr/>
        </p:nvSpPr>
        <p:spPr>
          <a:xfrm>
            <a:off x="2285999" y="3288630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31819B-7597-A5EB-D2C8-530FADE98812}"/>
              </a:ext>
            </a:extLst>
          </p:cNvPr>
          <p:cNvSpPr txBox="1"/>
          <p:nvPr/>
        </p:nvSpPr>
        <p:spPr>
          <a:xfrm>
            <a:off x="2677026" y="3128210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130FA0-F6D0-4947-E998-B33F2CA6C359}"/>
              </a:ext>
            </a:extLst>
          </p:cNvPr>
          <p:cNvSpPr txBox="1"/>
          <p:nvPr/>
        </p:nvSpPr>
        <p:spPr>
          <a:xfrm>
            <a:off x="3148262" y="3037973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10B33C-6EE6-17FF-2DCC-7ACE79DA645A}"/>
              </a:ext>
            </a:extLst>
          </p:cNvPr>
          <p:cNvSpPr txBox="1"/>
          <p:nvPr/>
        </p:nvSpPr>
        <p:spPr>
          <a:xfrm>
            <a:off x="3579394" y="2586789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F1EA44-8004-3CAC-78CE-30FA80CCFD01}"/>
              </a:ext>
            </a:extLst>
          </p:cNvPr>
          <p:cNvSpPr txBox="1"/>
          <p:nvPr/>
        </p:nvSpPr>
        <p:spPr>
          <a:xfrm>
            <a:off x="7018422" y="3609472"/>
            <a:ext cx="4010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4341FA-5AD4-01BF-B7C1-925B96C293E8}"/>
              </a:ext>
            </a:extLst>
          </p:cNvPr>
          <p:cNvSpPr txBox="1"/>
          <p:nvPr/>
        </p:nvSpPr>
        <p:spPr>
          <a:xfrm>
            <a:off x="7349289" y="3388893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3C5690-2832-2140-E21A-1C60A83AA5DC}"/>
              </a:ext>
            </a:extLst>
          </p:cNvPr>
          <p:cNvSpPr txBox="1"/>
          <p:nvPr/>
        </p:nvSpPr>
        <p:spPr>
          <a:xfrm>
            <a:off x="7710235" y="3328736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8988E5-4689-BFFE-D27C-F790E8F04111}"/>
              </a:ext>
            </a:extLst>
          </p:cNvPr>
          <p:cNvSpPr txBox="1"/>
          <p:nvPr/>
        </p:nvSpPr>
        <p:spPr>
          <a:xfrm>
            <a:off x="8000999" y="3228472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8871D5-D8EA-BA84-7D93-C937374663D3}"/>
              </a:ext>
            </a:extLst>
          </p:cNvPr>
          <p:cNvSpPr txBox="1"/>
          <p:nvPr/>
        </p:nvSpPr>
        <p:spPr>
          <a:xfrm>
            <a:off x="8392026" y="3108157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179CFE-7249-7802-8364-DF81CA5A06EC}"/>
              </a:ext>
            </a:extLst>
          </p:cNvPr>
          <p:cNvSpPr txBox="1"/>
          <p:nvPr/>
        </p:nvSpPr>
        <p:spPr>
          <a:xfrm>
            <a:off x="8863262" y="2977815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FEAE2E-2312-E208-9DBC-C051325823F8}"/>
              </a:ext>
            </a:extLst>
          </p:cNvPr>
          <p:cNvSpPr txBox="1"/>
          <p:nvPr/>
        </p:nvSpPr>
        <p:spPr>
          <a:xfrm>
            <a:off x="9294394" y="2526631"/>
            <a:ext cx="1503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ea typeface="Inter"/>
              </a:rPr>
              <a:t>7</a:t>
            </a:r>
          </a:p>
        </p:txBody>
      </p:sp>
      <p:pic>
        <p:nvPicPr>
          <p:cNvPr id="40" name="Picture 39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59DD90A8-8C8D-6423-619B-3D168C16D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236" y="4479508"/>
            <a:ext cx="1234240" cy="72640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3200675-5070-9EDE-3824-68A14F7536A1}"/>
              </a:ext>
            </a:extLst>
          </p:cNvPr>
          <p:cNvSpPr txBox="1"/>
          <p:nvPr/>
        </p:nvSpPr>
        <p:spPr>
          <a:xfrm>
            <a:off x="11079077" y="5745078"/>
            <a:ext cx="51134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ea typeface="Inter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83657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3EE2-BD65-3168-91B5-F84AC55E3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109B-54DC-38C4-2D5F-1EA6C4B1B9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err="1"/>
              <a:t>Näiteid</a:t>
            </a:r>
            <a:r>
              <a:rPr lang="en-US" sz="2400"/>
              <a:t> </a:t>
            </a:r>
            <a:r>
              <a:rPr lang="en-US" sz="2400" err="1"/>
              <a:t>tunnuse</a:t>
            </a:r>
            <a:r>
              <a:rPr lang="en-US" sz="2400"/>
              <a:t> </a:t>
            </a:r>
            <a:r>
              <a:rPr lang="en-US" sz="2400" err="1"/>
              <a:t>jaotustest</a:t>
            </a:r>
            <a:r>
              <a:rPr lang="en-US" sz="2400"/>
              <a:t> ja </a:t>
            </a:r>
            <a:r>
              <a:rPr lang="en-US" sz="2400" err="1"/>
              <a:t>võimalikest</a:t>
            </a:r>
            <a:r>
              <a:rPr lang="en-US" sz="2400"/>
              <a:t> </a:t>
            </a:r>
            <a:r>
              <a:rPr lang="en-US" sz="2400" err="1"/>
              <a:t>põhjustest</a:t>
            </a:r>
            <a:endParaRPr lang="en-US" sz="240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733C60E-40D1-ECAF-49CA-5FECAEFCE08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404954" y="3570141"/>
            <a:ext cx="3015503" cy="230449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98E24C-EA75-84E2-B29E-D0D9C16C9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533" y="904142"/>
            <a:ext cx="3017472" cy="231433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172A97-22FA-2EC3-F380-D2B0BD501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953" y="823790"/>
            <a:ext cx="3224091" cy="237734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3EA9B6-629E-B59D-AF4F-42112E4A6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13" y="3573463"/>
            <a:ext cx="3017960" cy="2221768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843BD1-671F-3ED6-EA2D-A38F2E687B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50" y="901456"/>
            <a:ext cx="3027486" cy="230016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655207A-699A-AECC-1431-80637A35F3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5711" y="3570410"/>
            <a:ext cx="3224579" cy="229625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8117B3-2379-816C-155A-BA530E25E48B}"/>
              </a:ext>
            </a:extLst>
          </p:cNvPr>
          <p:cNvSpPr txBox="1"/>
          <p:nvPr/>
        </p:nvSpPr>
        <p:spPr>
          <a:xfrm>
            <a:off x="622454" y="6156115"/>
            <a:ext cx="970823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Inter"/>
              </a:rPr>
              <a:t>Allikas: </a:t>
            </a:r>
            <a:r>
              <a:rPr lang="en-US" sz="1200">
                <a:ea typeface="+mn-lt"/>
                <a:cs typeface="+mn-lt"/>
              </a:rPr>
              <a:t>Williams, M., A. &amp; Tibbets, P. (2006). Six Sigma Pocket Guide. Rath &amp; Strong, a Division of Aon Consulting. 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0798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181E-4E07-42A9-500D-36F1778E2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Normaaljaotus</a:t>
            </a:r>
          </a:p>
        </p:txBody>
      </p:sp>
      <p:pic>
        <p:nvPicPr>
          <p:cNvPr id="7" name="Content Placeholder 6" descr="Normaaljaotus | Informaatika ...">
            <a:extLst>
              <a:ext uri="{FF2B5EF4-FFF2-40B4-BE49-F238E27FC236}">
                <a16:creationId xmlns:a16="http://schemas.microsoft.com/office/drawing/2014/main" id="{BEAE685B-A957-47B6-099E-F3AC51C71F8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-1887" t="153" r="2642" b="12101"/>
          <a:stretch>
            <a:fillRect/>
          </a:stretch>
        </p:blipFill>
        <p:spPr>
          <a:xfrm>
            <a:off x="3715928" y="1447791"/>
            <a:ext cx="4325013" cy="33151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9E9FAB-F86E-CA6C-ED3A-F8D89D885F3C}"/>
              </a:ext>
            </a:extLst>
          </p:cNvPr>
          <p:cNvSpPr txBox="1"/>
          <p:nvPr/>
        </p:nvSpPr>
        <p:spPr>
          <a:xfrm>
            <a:off x="695681" y="5067034"/>
            <a:ext cx="9644831" cy="12902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ea typeface="Inter"/>
              </a:rPr>
              <a:t>Keskmine</a:t>
            </a:r>
            <a:r>
              <a:rPr lang="en-US">
                <a:ea typeface="Inter"/>
              </a:rPr>
              <a:t> = </a:t>
            </a:r>
            <a:r>
              <a:rPr lang="en-US" err="1">
                <a:ea typeface="Inter"/>
              </a:rPr>
              <a:t>mediaan</a:t>
            </a:r>
            <a:r>
              <a:rPr lang="en-US">
                <a:ea typeface="Inter"/>
              </a:rPr>
              <a:t> = mood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ea typeface="Inter"/>
              </a:rPr>
              <a:t>u 95% </a:t>
            </a:r>
            <a:r>
              <a:rPr lang="en-US" err="1">
                <a:ea typeface="Inter"/>
              </a:rPr>
              <a:t>valimist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jääb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umbes</a:t>
            </a:r>
            <a:r>
              <a:rPr lang="en-US">
                <a:ea typeface="Inter"/>
              </a:rPr>
              <a:t> 2 </a:t>
            </a:r>
            <a:r>
              <a:rPr lang="en-US" err="1">
                <a:ea typeface="Inter"/>
              </a:rPr>
              <a:t>standardhälbe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kaugusele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keskmisest</a:t>
            </a:r>
            <a:endParaRPr lang="en-US">
              <a:ea typeface="Inter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ea typeface="Inter"/>
              </a:rPr>
              <a:t>Sage </a:t>
            </a:r>
            <a:r>
              <a:rPr lang="en-US" err="1">
                <a:ea typeface="Inter"/>
              </a:rPr>
              <a:t>eeldus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statistilistele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testidele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24DFA-72B9-B8DC-75D1-31C2B250EE18}"/>
              </a:ext>
            </a:extLst>
          </p:cNvPr>
          <p:cNvSpPr txBox="1"/>
          <p:nvPr/>
        </p:nvSpPr>
        <p:spPr>
          <a:xfrm rot="16200000">
            <a:off x="2402692" y="2817915"/>
            <a:ext cx="227222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Inter"/>
              </a:rPr>
              <a:t>Mõõtmiste</a:t>
            </a:r>
            <a:r>
              <a:rPr lang="en-US" sz="1400">
                <a:ea typeface="Inter"/>
              </a:rPr>
              <a:t> hulk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58A6C5-1558-AE4D-8CAA-09AE1668FE9E}"/>
              </a:ext>
            </a:extLst>
          </p:cNvPr>
          <p:cNvSpPr txBox="1"/>
          <p:nvPr/>
        </p:nvSpPr>
        <p:spPr>
          <a:xfrm>
            <a:off x="3719038" y="4768419"/>
            <a:ext cx="479257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err="1">
                <a:ea typeface="Inter"/>
              </a:rPr>
              <a:t>Mõõtmise</a:t>
            </a:r>
            <a:r>
              <a:rPr lang="en-US" sz="1400">
                <a:ea typeface="Inter"/>
              </a:rPr>
              <a:t> </a:t>
            </a:r>
            <a:r>
              <a:rPr lang="en-US" sz="1400" err="1">
                <a:ea typeface="Inter"/>
              </a:rPr>
              <a:t>väärtus</a:t>
            </a:r>
            <a:endParaRPr lang="en-US" sz="140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78551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CDBC-3B62-6DCF-8FDA-8CCEBD1B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D73BF-3521-7DD5-6ED7-661584C557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2749D2-78E6-7AA0-4D72-C47FF8A24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350649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72720-92FB-1441-4D62-9576FD6F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8CFAF-79A2-5887-537C-A9F710291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>
                <a:ea typeface="+mj-lt"/>
                <a:cs typeface="+mj-lt"/>
              </a:rPr>
              <a:t>Excel </a:t>
            </a:r>
            <a:r>
              <a:rPr lang="en-US" sz="3600" b="1" err="1">
                <a:ea typeface="+mj-lt"/>
                <a:cs typeface="+mj-lt"/>
              </a:rPr>
              <a:t>statistiliseks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analüüsiks</a:t>
            </a:r>
            <a:endParaRPr lang="en-US" err="1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5F0DC5-0E6C-C34C-53FA-663F4426D707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623888" y="1268413"/>
          <a:ext cx="10941050" cy="60589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/>
                        <a:buChar char="•"/>
                      </a:pP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Eraldi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analüütika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pakett</a:t>
                      </a:r>
                    </a:p>
                    <a:p>
                      <a:pPr marL="800100" lvl="1" indent="-342900" algn="l">
                        <a:lnSpc>
                          <a:spcPts val="3150"/>
                        </a:lnSpc>
                        <a:buFont typeface="Courier New"/>
                        <a:buChar char="o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File --&gt; Options --&gt; Add-ins --&gt; Analysis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ToolPak</a:t>
                      </a:r>
                    </a:p>
                    <a:p>
                      <a:pPr marL="800100" lvl="1" indent="-342900" algn="l">
                        <a:lnSpc>
                          <a:spcPts val="3150"/>
                        </a:lnSpc>
                        <a:buFont typeface="Courier New"/>
                        <a:buChar char="o"/>
                      </a:pP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Ilmub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uus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"Data Analysis"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valik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Data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valiku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alla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: </a:t>
                      </a:r>
                    </a:p>
                    <a:p>
                      <a:pPr marL="800100" lvl="1" indent="-342900" algn="l">
                        <a:lnSpc>
                          <a:spcPts val="3150"/>
                        </a:lnSpc>
                        <a:buFont typeface="Courier New"/>
                        <a:buChar char="o"/>
                      </a:pPr>
                      <a:endParaRPr lang="en-US" sz="2400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  <a:p>
                      <a:pPr marL="342900" lvl="0" indent="-342900" algn="l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2400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None/>
                      </a:pPr>
                      <a:endParaRPr lang="en-US" sz="2400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2400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2400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2400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None/>
                      </a:pPr>
                      <a:endParaRPr lang="en-US" sz="2400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2400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150"/>
                        </a:lnSpc>
                        <a:buNone/>
                      </a:pPr>
                      <a:endParaRPr lang="en-US" sz="2400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29" marB="49529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599523"/>
                  </a:ext>
                </a:extLst>
              </a:tr>
            </a:tbl>
          </a:graphicData>
        </a:graphic>
      </p:graphicFrame>
      <p:pic>
        <p:nvPicPr>
          <p:cNvPr id="3" name="Picture 2" descr="A screenshot of a screen&#10;&#10;AI-generated content may be incorrect.">
            <a:extLst>
              <a:ext uri="{FF2B5EF4-FFF2-40B4-BE49-F238E27FC236}">
                <a16:creationId xmlns:a16="http://schemas.microsoft.com/office/drawing/2014/main" id="{071D145E-0144-998C-AE34-DACF73F3E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1" y="3016288"/>
            <a:ext cx="11693770" cy="82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00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1B9AC-FB48-FA52-DD10-EE5A17F0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4C86-06D3-5B58-6491-8EF09457B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Kirjeldav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analüüs</a:t>
            </a:r>
            <a:endParaRPr lang="en-US" err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8D9F6-3B69-D500-134F-75E93D4C5D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Github</a:t>
            </a:r>
            <a:r>
              <a:rPr lang="en-US" sz="2000" dirty="0">
                <a:ea typeface="Inter"/>
              </a:rPr>
              <a:t>: Day13 --&gt; Reklaam_andmestik.xlsx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Põhilised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tunnuse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näitajad</a:t>
            </a:r>
            <a:r>
              <a:rPr lang="en-US" sz="2000" dirty="0">
                <a:ea typeface="Inter"/>
              </a:rPr>
              <a:t>: 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Inter"/>
              </a:rPr>
              <a:t>Data --&gt; Data Analysis --&gt; Descriptive Statistics</a:t>
            </a:r>
            <a:endParaRPr lang="en-US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</a:rPr>
              <a:t>Jaotus</a:t>
            </a:r>
            <a:r>
              <a:rPr lang="en-US" sz="2000" dirty="0">
                <a:ea typeface="Inter"/>
              </a:rPr>
              <a:t>: 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Inter"/>
              </a:rPr>
              <a:t>Data --&gt; Data Analysis --&gt; Histogram</a:t>
            </a:r>
            <a:endParaRPr lang="en-US" sz="2000" dirty="0"/>
          </a:p>
          <a:p>
            <a:pPr lvl="1">
              <a:buFont typeface="Courier New" panose="020B05020300000000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76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6F058-61F4-ED1C-960E-C4792B8CD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F22C-6122-14CC-C595-ECC3194B5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Korrelatsioon</a:t>
            </a:r>
            <a:r>
              <a:rPr lang="en-US" sz="3600" b="1">
                <a:ea typeface="+mj-lt"/>
                <a:cs typeface="+mj-lt"/>
              </a:rPr>
              <a:t> – </a:t>
            </a:r>
            <a:r>
              <a:rPr lang="en-US" sz="3600" b="1" err="1">
                <a:ea typeface="+mj-lt"/>
                <a:cs typeface="+mj-lt"/>
              </a:rPr>
              <a:t>seos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kahe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muutuja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vahel</a:t>
            </a:r>
            <a:endParaRPr lang="en-US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71083-564B-5FB3-5AF4-E365113EAB3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</a:pPr>
            <a:r>
              <a:rPr lang="en-US" sz="1800" err="1">
                <a:ea typeface="+mn-lt"/>
                <a:cs typeface="+mn-lt"/>
              </a:rPr>
              <a:t>Regressioonijoon</a:t>
            </a:r>
            <a:r>
              <a:rPr lang="en-US" sz="1800">
                <a:ea typeface="+mn-lt"/>
                <a:cs typeface="+mn-lt"/>
              </a:rPr>
              <a:t> – </a:t>
            </a:r>
            <a:r>
              <a:rPr lang="en-US" sz="1800" err="1">
                <a:ea typeface="+mn-lt"/>
                <a:cs typeface="+mn-lt"/>
              </a:rPr>
              <a:t>joon</a:t>
            </a:r>
            <a:r>
              <a:rPr lang="en-US" sz="1800">
                <a:ea typeface="+mn-lt"/>
                <a:cs typeface="+mn-lt"/>
              </a:rPr>
              <a:t>, mis on </a:t>
            </a:r>
            <a:r>
              <a:rPr lang="en-US" sz="1800" err="1">
                <a:ea typeface="+mn-lt"/>
                <a:cs typeface="+mn-lt"/>
              </a:rPr>
              <a:t>kõigile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punktidele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võimalikult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lähedal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samaaegselt</a:t>
            </a:r>
            <a:endParaRPr lang="en-US" sz="180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1800" err="1">
                <a:ea typeface="+mn-lt"/>
                <a:cs typeface="+mn-lt"/>
              </a:rPr>
              <a:t>Korrelatsioonikordaja</a:t>
            </a:r>
            <a:r>
              <a:rPr lang="en-US" sz="1800">
                <a:ea typeface="+mn-lt"/>
                <a:cs typeface="+mn-lt"/>
              </a:rPr>
              <a:t> – </a:t>
            </a:r>
            <a:r>
              <a:rPr lang="en-US" sz="1800" err="1">
                <a:ea typeface="+mn-lt"/>
                <a:cs typeface="+mn-lt"/>
              </a:rPr>
              <a:t>seose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suund</a:t>
            </a:r>
            <a:r>
              <a:rPr lang="en-US" sz="1800">
                <a:ea typeface="+mn-lt"/>
                <a:cs typeface="+mn-lt"/>
              </a:rPr>
              <a:t> ja </a:t>
            </a:r>
            <a:r>
              <a:rPr lang="en-US" sz="1800" err="1">
                <a:ea typeface="+mn-lt"/>
                <a:cs typeface="+mn-lt"/>
              </a:rPr>
              <a:t>tugevus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väärtus</a:t>
            </a:r>
            <a:r>
              <a:rPr lang="en-US" sz="1800">
                <a:ea typeface="+mn-lt"/>
                <a:cs typeface="+mn-lt"/>
              </a:rPr>
              <a:t> -1 </a:t>
            </a:r>
            <a:r>
              <a:rPr lang="en-US" sz="1800" err="1">
                <a:ea typeface="+mn-lt"/>
                <a:cs typeface="+mn-lt"/>
              </a:rPr>
              <a:t>kuni</a:t>
            </a:r>
            <a:r>
              <a:rPr lang="en-US" sz="1800">
                <a:ea typeface="+mn-lt"/>
                <a:cs typeface="+mn-lt"/>
              </a:rPr>
              <a:t> 1 </a:t>
            </a:r>
            <a:r>
              <a:rPr lang="en-US" sz="1800" err="1">
                <a:ea typeface="+mn-lt"/>
                <a:cs typeface="+mn-lt"/>
              </a:rPr>
              <a:t>vahel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kus</a:t>
            </a:r>
            <a:r>
              <a:rPr lang="en-US" sz="1800">
                <a:ea typeface="+mn-lt"/>
                <a:cs typeface="+mn-lt"/>
              </a:rPr>
              <a:t> 0 on </a:t>
            </a:r>
            <a:r>
              <a:rPr lang="en-US" sz="1800" err="1">
                <a:ea typeface="+mn-lt"/>
                <a:cs typeface="+mn-lt"/>
              </a:rPr>
              <a:t>seose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puudumine</a:t>
            </a:r>
            <a:endParaRPr lang="en-US" sz="180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1800">
                <a:ea typeface="+mn-lt"/>
                <a:cs typeface="+mn-lt"/>
              </a:rPr>
              <a:t>NB! Ei </a:t>
            </a:r>
            <a:r>
              <a:rPr lang="en-US" sz="1800" err="1">
                <a:ea typeface="+mn-lt"/>
                <a:cs typeface="+mn-lt"/>
              </a:rPr>
              <a:t>saa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vaadata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ainult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regressioonijoont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või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korrelatsioonikordajat</a:t>
            </a:r>
            <a:r>
              <a:rPr lang="en-US" sz="1800">
                <a:ea typeface="+mn-lt"/>
                <a:cs typeface="+mn-lt"/>
              </a:rPr>
              <a:t> – </a:t>
            </a:r>
            <a:r>
              <a:rPr lang="en-US" sz="1800" err="1">
                <a:ea typeface="+mn-lt"/>
                <a:cs typeface="+mn-lt"/>
              </a:rPr>
              <a:t>näiteks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sama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korrelatsioonikordaja</a:t>
            </a:r>
            <a:r>
              <a:rPr lang="en-US" sz="1800">
                <a:ea typeface="+mn-lt"/>
                <a:cs typeface="+mn-lt"/>
              </a:rPr>
              <a:t> ja </a:t>
            </a:r>
            <a:r>
              <a:rPr lang="en-US" sz="1800" err="1">
                <a:ea typeface="+mn-lt"/>
                <a:cs typeface="+mn-lt"/>
              </a:rPr>
              <a:t>regressioonijoonega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väärtused</a:t>
            </a:r>
            <a:r>
              <a:rPr lang="en-US" sz="1800">
                <a:ea typeface="+mn-lt"/>
                <a:cs typeface="+mn-lt"/>
              </a:rPr>
              <a:t>: </a:t>
            </a:r>
          </a:p>
          <a:p>
            <a:pPr marL="342900" indent="-342900">
              <a:lnSpc>
                <a:spcPct val="150000"/>
              </a:lnSpc>
            </a:pPr>
            <a:endParaRPr lang="en-US" sz="1800"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buClr>
                <a:srgbClr val="121212"/>
              </a:buClr>
              <a:buNone/>
            </a:pPr>
            <a:endParaRPr lang="en-US" sz="2000"/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>
              <a:buClr>
                <a:srgbClr val="121212"/>
              </a:buClr>
            </a:pPr>
            <a:endParaRPr lang="en-US" sz="2400"/>
          </a:p>
        </p:txBody>
      </p:sp>
      <p:pic>
        <p:nvPicPr>
          <p:cNvPr id="8" name="Picture 7" descr="undefined">
            <a:extLst>
              <a:ext uri="{FF2B5EF4-FFF2-40B4-BE49-F238E27FC236}">
                <a16:creationId xmlns:a16="http://schemas.microsoft.com/office/drawing/2014/main" id="{D986D3C9-71B0-79AA-AFA0-1829F3C73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478" y="3429000"/>
            <a:ext cx="3543384" cy="25366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613641-5B6E-6969-8B25-878B3F0A2496}"/>
              </a:ext>
            </a:extLst>
          </p:cNvPr>
          <p:cNvSpPr txBox="1"/>
          <p:nvPr/>
        </p:nvSpPr>
        <p:spPr>
          <a:xfrm>
            <a:off x="3840079" y="6045868"/>
            <a:ext cx="544428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Inter"/>
              </a:rPr>
              <a:t>Joonise</a:t>
            </a:r>
            <a:r>
              <a:rPr lang="en-US" sz="1400">
                <a:ea typeface="Inter"/>
              </a:rPr>
              <a:t> </a:t>
            </a:r>
            <a:r>
              <a:rPr lang="en-US" sz="1400" err="1">
                <a:ea typeface="Inter"/>
              </a:rPr>
              <a:t>allikas</a:t>
            </a:r>
            <a:r>
              <a:rPr lang="en-US" sz="1400">
                <a:ea typeface="Inter"/>
              </a:rPr>
              <a:t>: </a:t>
            </a:r>
            <a:r>
              <a:rPr lang="en-US" sz="1400">
                <a:ea typeface="Inter"/>
                <a:hlinkClick r:id="rId3"/>
              </a:rPr>
              <a:t>Wikipedia: </a:t>
            </a:r>
            <a:r>
              <a:rPr lang="en-US" sz="1400">
                <a:solidFill>
                  <a:srgbClr val="121212"/>
                </a:solidFill>
                <a:ea typeface="+mn-lt"/>
                <a:cs typeface="+mn-lt"/>
                <a:hlinkClick r:id="rId3"/>
              </a:rPr>
              <a:t>Anscombe's quartet</a:t>
            </a:r>
            <a:endParaRPr lang="en-US" sz="1400">
              <a:solidFill>
                <a:srgbClr val="1212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250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9E71E-5ABF-87DA-2A21-0D8337D2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38CC-A8E5-BCBF-4CBD-CAA613A728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Reklaamikulutuste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seos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müügiga</a:t>
            </a:r>
            <a:endParaRPr lang="en-US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EB98A-5D7B-E99A-B293-B8C1E7ABD5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>
                <a:ea typeface="Inter"/>
              </a:rPr>
              <a:t>Kui </a:t>
            </a:r>
            <a:r>
              <a:rPr lang="en-US" sz="2000" err="1">
                <a:ea typeface="Inter"/>
              </a:rPr>
              <a:t>palju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mõjutavad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reklaamikulutused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müüki</a:t>
            </a:r>
            <a:r>
              <a:rPr lang="en-US" sz="2000">
                <a:ea typeface="Inter"/>
              </a:rPr>
              <a:t>?</a:t>
            </a:r>
            <a:endParaRPr lang="en-US" sz="2000"/>
          </a:p>
          <a:p>
            <a:pPr>
              <a:lnSpc>
                <a:spcPct val="150000"/>
              </a:lnSpc>
            </a:pPr>
            <a:r>
              <a:rPr lang="en-US" sz="2000" err="1">
                <a:ea typeface="Inter"/>
              </a:rPr>
              <a:t>Lisame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hajuvusdiagrammi</a:t>
            </a:r>
            <a:r>
              <a:rPr lang="en-US" sz="2000">
                <a:ea typeface="Inter"/>
              </a:rPr>
              <a:t> (Scatter Plot)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Lisame</a:t>
            </a:r>
            <a:r>
              <a:rPr lang="en-US" sz="2000">
                <a:ea typeface="Inter"/>
              </a:rPr>
              <a:t> Trendline ja </a:t>
            </a:r>
            <a:r>
              <a:rPr lang="en-US" sz="2000" err="1">
                <a:ea typeface="Inter"/>
              </a:rPr>
              <a:t>regressioonivõrrandi</a:t>
            </a:r>
            <a:endParaRPr lang="en-US" sz="2000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>
                <a:ea typeface="Inter"/>
              </a:rPr>
              <a:t>+ --&gt; Trendline --&gt; More options</a:t>
            </a:r>
          </a:p>
          <a:p>
            <a:pPr lvl="3">
              <a:lnSpc>
                <a:spcPct val="150000"/>
              </a:lnSpc>
              <a:buFont typeface="Inter" panose="020B0502030000000004" pitchFamily="34" charset="0"/>
              <a:buChar char="‣"/>
            </a:pPr>
            <a:r>
              <a:rPr lang="en-US" sz="2000" err="1">
                <a:ea typeface="Inter"/>
              </a:rPr>
              <a:t>Valime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sobiva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trendijoone</a:t>
            </a:r>
            <a:r>
              <a:rPr lang="en-US" sz="2000">
                <a:ea typeface="Inter"/>
              </a:rPr>
              <a:t>, Display Equation, Display R-squared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Mida </a:t>
            </a:r>
            <a:r>
              <a:rPr lang="en-US" sz="2000" err="1">
                <a:ea typeface="Inter"/>
              </a:rPr>
              <a:t>jooniselt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näeme</a:t>
            </a:r>
            <a:r>
              <a:rPr lang="en-US" sz="2000">
                <a:ea typeface="Inter"/>
              </a:rPr>
              <a:t>?</a:t>
            </a:r>
            <a:endParaRPr lang="en-US" sz="200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ea typeface="Inter"/>
              </a:rPr>
              <a:t>Regressioonianalüüsi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detailideks</a:t>
            </a:r>
            <a:r>
              <a:rPr lang="en-US" sz="2000">
                <a:ea typeface="Inter"/>
              </a:rPr>
              <a:t> ja </a:t>
            </a:r>
            <a:r>
              <a:rPr lang="en-US" sz="2000" err="1">
                <a:ea typeface="Inter"/>
              </a:rPr>
              <a:t>eelduste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kontrolliks</a:t>
            </a:r>
            <a:r>
              <a:rPr lang="en-US" sz="2000">
                <a:ea typeface="Inter"/>
              </a:rPr>
              <a:t>: </a:t>
            </a:r>
            <a:endParaRPr lang="en-US" sz="200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Data --&gt; Data Analysis --&gt; Regression</a:t>
            </a:r>
            <a:endParaRPr lang="en-US" sz="200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</a:rPr>
              <a:t>Loe </a:t>
            </a:r>
            <a:r>
              <a:rPr lang="en-US" sz="2000" err="1">
                <a:ea typeface="Inter"/>
              </a:rPr>
              <a:t>rohkem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regressioonanalüüsist</a:t>
            </a:r>
            <a:r>
              <a:rPr lang="en-US" sz="2000">
                <a:ea typeface="Inter"/>
              </a:rPr>
              <a:t>: </a:t>
            </a:r>
            <a:r>
              <a:rPr lang="en-US" sz="2000">
                <a:ea typeface="+mn-lt"/>
                <a:cs typeface="+mn-lt"/>
                <a:hlinkClick r:id="rId2"/>
              </a:rPr>
              <a:t>https://samm.ut.ee/regressioonanalyys/</a:t>
            </a:r>
            <a:r>
              <a:rPr lang="en-US" sz="2000">
                <a:ea typeface="+mn-lt"/>
                <a:cs typeface="+mn-lt"/>
              </a:rPr>
              <a:t> </a:t>
            </a:r>
          </a:p>
          <a:p>
            <a:pPr>
              <a:buClr>
                <a:srgbClr val="121212"/>
              </a:buClr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1481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DE330-931D-5873-F9CE-EC4613A4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DAEE-B89A-9621-3E9A-6C5E17B077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Seose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tõlgendamine</a:t>
            </a:r>
            <a:endParaRPr lang="en-US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D79D2-37A9-C93C-6734-4896846048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</a:pPr>
            <a:r>
              <a:rPr lang="en-US" sz="1800" err="1">
                <a:ea typeface="+mn-lt"/>
                <a:cs typeface="+mn-lt"/>
              </a:rPr>
              <a:t>Tugev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seos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võib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tähendada</a:t>
            </a:r>
            <a:r>
              <a:rPr lang="en-US" sz="1800">
                <a:ea typeface="+mn-lt"/>
                <a:cs typeface="+mn-lt"/>
              </a:rPr>
              <a:t>: </a:t>
            </a:r>
          </a:p>
          <a:p>
            <a:pPr marL="857250"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A </a:t>
            </a:r>
            <a:r>
              <a:rPr lang="en-US" sz="1800" err="1">
                <a:ea typeface="+mn-lt"/>
                <a:cs typeface="+mn-lt"/>
              </a:rPr>
              <a:t>põhjustab</a:t>
            </a:r>
            <a:r>
              <a:rPr lang="en-US" sz="1800">
                <a:ea typeface="+mn-lt"/>
                <a:cs typeface="+mn-lt"/>
              </a:rPr>
              <a:t> B</a:t>
            </a:r>
          </a:p>
          <a:p>
            <a:pPr marL="125730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1800" err="1">
                <a:ea typeface="+mn-lt"/>
                <a:cs typeface="+mn-lt"/>
              </a:rPr>
              <a:t>Nt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kõrgem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reklaamikulu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põhjustab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kõrgemat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müügitulu</a:t>
            </a:r>
            <a:endParaRPr lang="en-US" sz="1800">
              <a:ea typeface="+mn-lt"/>
              <a:cs typeface="+mn-lt"/>
            </a:endParaRPr>
          </a:p>
          <a:p>
            <a:pPr marL="857250"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A ja B </a:t>
            </a:r>
            <a:r>
              <a:rPr lang="en-US" sz="1800" err="1">
                <a:ea typeface="+mn-lt"/>
                <a:cs typeface="+mn-lt"/>
              </a:rPr>
              <a:t>vaheline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seos</a:t>
            </a:r>
            <a:r>
              <a:rPr lang="en-US" sz="1800">
                <a:ea typeface="+mn-lt"/>
                <a:cs typeface="+mn-lt"/>
              </a:rPr>
              <a:t> on </a:t>
            </a:r>
            <a:r>
              <a:rPr lang="en-US" sz="1800" err="1">
                <a:ea typeface="+mn-lt"/>
                <a:cs typeface="+mn-lt"/>
              </a:rPr>
              <a:t>muutuja</a:t>
            </a:r>
            <a:r>
              <a:rPr lang="en-US" sz="1800">
                <a:ea typeface="+mn-lt"/>
                <a:cs typeface="+mn-lt"/>
              </a:rPr>
              <a:t> C </a:t>
            </a:r>
            <a:r>
              <a:rPr lang="en-US" sz="1800" err="1">
                <a:ea typeface="+mn-lt"/>
                <a:cs typeface="+mn-lt"/>
              </a:rPr>
              <a:t>kaudu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seletatav</a:t>
            </a:r>
          </a:p>
          <a:p>
            <a:pPr marL="125730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1800" err="1">
                <a:ea typeface="Inter"/>
              </a:rPr>
              <a:t>Nt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reklaamikulu</a:t>
            </a:r>
            <a:r>
              <a:rPr lang="en-US" sz="1800">
                <a:ea typeface="Inter"/>
              </a:rPr>
              <a:t> ja </a:t>
            </a:r>
            <a:r>
              <a:rPr lang="en-US" sz="1800" err="1">
                <a:ea typeface="Inter"/>
              </a:rPr>
              <a:t>müügitulu</a:t>
            </a:r>
            <a:r>
              <a:rPr lang="en-US" sz="1800">
                <a:ea typeface="Inter"/>
              </a:rPr>
              <a:t> on </a:t>
            </a:r>
            <a:r>
              <a:rPr lang="en-US" sz="1800" err="1">
                <a:ea typeface="Inter"/>
              </a:rPr>
              <a:t>mõlemad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ajas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kasvanud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majanduskasvuga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koos</a:t>
            </a:r>
            <a:endParaRPr lang="en-US" sz="1800">
              <a:ea typeface="Inter"/>
            </a:endParaRPr>
          </a:p>
          <a:p>
            <a:pPr marL="857250"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1800">
                <a:ea typeface="Inter"/>
              </a:rPr>
              <a:t>A ja B </a:t>
            </a:r>
            <a:r>
              <a:rPr lang="en-US" sz="1800" err="1">
                <a:ea typeface="Inter"/>
              </a:rPr>
              <a:t>vaheline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seos</a:t>
            </a:r>
            <a:r>
              <a:rPr lang="en-US" sz="1800">
                <a:ea typeface="Inter"/>
              </a:rPr>
              <a:t> on </a:t>
            </a:r>
            <a:r>
              <a:rPr lang="en-US" sz="1800" err="1">
                <a:ea typeface="Inter"/>
              </a:rPr>
              <a:t>juhuslik</a:t>
            </a:r>
            <a:endParaRPr lang="en-US" sz="1800"/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1800" err="1">
                <a:ea typeface="Inter"/>
              </a:rPr>
              <a:t>Tõlgendamisel</a:t>
            </a:r>
            <a:r>
              <a:rPr lang="en-US" sz="1800">
                <a:ea typeface="Inter"/>
              </a:rPr>
              <a:t> peaks </a:t>
            </a:r>
            <a:r>
              <a:rPr lang="en-US" sz="1800" err="1">
                <a:ea typeface="Inter"/>
              </a:rPr>
              <a:t>läbi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mõtlema</a:t>
            </a:r>
            <a:r>
              <a:rPr lang="en-US" sz="1800">
                <a:ea typeface="Inter"/>
              </a:rPr>
              <a:t>, kas on </a:t>
            </a:r>
            <a:r>
              <a:rPr lang="en-US" sz="1800" err="1">
                <a:ea typeface="Inter"/>
              </a:rPr>
              <a:t>teisi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tunnuseid</a:t>
            </a:r>
            <a:r>
              <a:rPr lang="en-US" sz="1800">
                <a:ea typeface="Inter"/>
              </a:rPr>
              <a:t>, mis </a:t>
            </a:r>
            <a:r>
              <a:rPr lang="en-US" sz="1800" err="1">
                <a:ea typeface="Inter"/>
              </a:rPr>
              <a:t>võivad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seost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põhjustada</a:t>
            </a:r>
            <a:r>
              <a:rPr lang="en-US" sz="1800">
                <a:ea typeface="Inter"/>
              </a:rPr>
              <a:t>, </a:t>
            </a:r>
            <a:r>
              <a:rPr lang="en-US" sz="1800" err="1">
                <a:ea typeface="Inter"/>
              </a:rPr>
              <a:t>ning</a:t>
            </a:r>
            <a:r>
              <a:rPr lang="en-US" sz="1800">
                <a:ea typeface="Inter"/>
              </a:rPr>
              <a:t> kas </a:t>
            </a:r>
            <a:r>
              <a:rPr lang="en-US" sz="1800" err="1">
                <a:ea typeface="Inter"/>
              </a:rPr>
              <a:t>seos</a:t>
            </a:r>
            <a:r>
              <a:rPr lang="en-US" sz="1800">
                <a:ea typeface="Inter"/>
              </a:rPr>
              <a:t> on </a:t>
            </a:r>
            <a:r>
              <a:rPr lang="en-US" sz="1800" err="1">
                <a:ea typeface="Inter"/>
              </a:rPr>
              <a:t>loogiliselt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seletatav</a:t>
            </a:r>
            <a:r>
              <a:rPr lang="en-US" sz="1800">
                <a:ea typeface="Inter"/>
              </a:rPr>
              <a:t>. </a:t>
            </a:r>
            <a:r>
              <a:rPr lang="en-US" sz="1800" err="1">
                <a:ea typeface="Inter"/>
              </a:rPr>
              <a:t>Samuti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aitab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sügavamale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andmetesse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liikumine</a:t>
            </a:r>
            <a:r>
              <a:rPr lang="en-US" sz="1800">
                <a:ea typeface="Inter"/>
              </a:rPr>
              <a:t>.</a:t>
            </a:r>
            <a:endParaRPr lang="en-US" sz="1800"/>
          </a:p>
          <a:p>
            <a:pPr marL="857250"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1800" err="1">
                <a:ea typeface="Inter"/>
              </a:rPr>
              <a:t>Nt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reklaamikulu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mõju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hindamisel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saab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vaadata</a:t>
            </a:r>
            <a:r>
              <a:rPr lang="en-US" sz="1800">
                <a:ea typeface="Inter"/>
              </a:rPr>
              <a:t>, </a:t>
            </a:r>
            <a:r>
              <a:rPr lang="en-US" sz="1800" err="1">
                <a:ea typeface="Inter"/>
              </a:rPr>
              <a:t>kui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palju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kodulehe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külastajatest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tulid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sinna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sotsiaalmeedia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reklaami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lehelt</a:t>
            </a:r>
            <a:r>
              <a:rPr lang="en-US" sz="1800">
                <a:ea typeface="Inter"/>
              </a:rPr>
              <a:t>. </a:t>
            </a:r>
            <a:r>
              <a:rPr lang="en-US" sz="1800" err="1">
                <a:ea typeface="Inter"/>
              </a:rPr>
              <a:t>Või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ostu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sooritajatelt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uurida</a:t>
            </a:r>
            <a:r>
              <a:rPr lang="en-US" sz="1800">
                <a:ea typeface="Inter"/>
              </a:rPr>
              <a:t>, kas </a:t>
            </a:r>
            <a:r>
              <a:rPr lang="en-US" sz="1800" err="1">
                <a:ea typeface="Inter"/>
              </a:rPr>
              <a:t>nad</a:t>
            </a:r>
            <a:r>
              <a:rPr lang="en-US" sz="1800">
                <a:ea typeface="Inter"/>
              </a:rPr>
              <a:t> on </a:t>
            </a:r>
            <a:r>
              <a:rPr lang="en-US" sz="1800" err="1">
                <a:ea typeface="Inter"/>
              </a:rPr>
              <a:t>reklaami</a:t>
            </a:r>
            <a:r>
              <a:rPr lang="en-US" sz="1800">
                <a:ea typeface="Inter"/>
              </a:rPr>
              <a:t> </a:t>
            </a:r>
            <a:r>
              <a:rPr lang="en-US" sz="1800" err="1">
                <a:ea typeface="Inter"/>
              </a:rPr>
              <a:t>näinud</a:t>
            </a:r>
            <a:r>
              <a:rPr lang="en-US" sz="1800">
                <a:ea typeface="Inter"/>
              </a:rPr>
              <a:t>.</a:t>
            </a:r>
            <a:endParaRPr lang="en-US" sz="1800"/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endParaRPr lang="en-US" sz="1800"/>
          </a:p>
          <a:p>
            <a:pPr marL="0" indent="0">
              <a:lnSpc>
                <a:spcPct val="150000"/>
              </a:lnSpc>
              <a:buClr>
                <a:srgbClr val="121212"/>
              </a:buClr>
              <a:buNone/>
            </a:pPr>
            <a:endParaRPr lang="en-US" sz="2000"/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n-US" sz="2000"/>
          </a:p>
          <a:p>
            <a:pPr>
              <a:buClr>
                <a:srgbClr val="121212"/>
              </a:buClr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2624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3F415-63C4-28DF-9D89-8D57A27F5D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P-</a:t>
            </a:r>
            <a:r>
              <a:rPr lang="en-US" err="1"/>
              <a:t>väärtuse</a:t>
            </a:r>
            <a:r>
              <a:rPr lang="en-US"/>
              <a:t> </a:t>
            </a:r>
            <a:r>
              <a:rPr lang="en-US" err="1"/>
              <a:t>tõlgendamine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9C43C3-A3FB-2BD3-E6A5-FC7C8F3ADFD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598053" y="1337936"/>
            <a:ext cx="8759637" cy="421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40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1A57-DE24-1F90-F403-68740D2B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86BCF-3FC1-D829-1EF6-0525CAF46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>
            <a:normAutofit/>
          </a:bodyPr>
          <a:lstStyle/>
          <a:p>
            <a:r>
              <a:rPr lang="en-US" sz="2500" b="1" err="1"/>
              <a:t>Võrdlev</a:t>
            </a:r>
            <a:r>
              <a:rPr lang="en-US" sz="2500" b="1"/>
              <a:t> </a:t>
            </a:r>
            <a:r>
              <a:rPr lang="en-US" sz="2500" b="1" err="1"/>
              <a:t>analüüs</a:t>
            </a:r>
            <a:r>
              <a:rPr lang="en-US" sz="2500" b="1"/>
              <a:t> - </a:t>
            </a:r>
            <a:r>
              <a:rPr lang="en-US" sz="2500" b="1" err="1"/>
              <a:t>keskmiste</a:t>
            </a:r>
            <a:r>
              <a:rPr lang="en-US" sz="2500" b="1"/>
              <a:t> </a:t>
            </a:r>
            <a:r>
              <a:rPr lang="en-US" sz="2500" b="1" err="1"/>
              <a:t>erinevus</a:t>
            </a:r>
            <a:r>
              <a:rPr lang="en-US" sz="2500" b="1"/>
              <a:t> – T-test</a:t>
            </a:r>
            <a:endParaRPr lang="en-US" sz="2500" err="1"/>
          </a:p>
        </p:txBody>
      </p:sp>
      <p:pic>
        <p:nvPicPr>
          <p:cNvPr id="3" name="Picture 2" descr="A group of people with arrows pointing to each other&#10;&#10;AI-generated content may be incorrect.">
            <a:extLst>
              <a:ext uri="{FF2B5EF4-FFF2-40B4-BE49-F238E27FC236}">
                <a16:creationId xmlns:a16="http://schemas.microsoft.com/office/drawing/2014/main" id="{19408CCB-5668-0788-05B5-538A04289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1299602"/>
            <a:ext cx="5364162" cy="440325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829D4-954E-1B62-636A-C36FECCA8B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buClr>
                <a:srgbClr val="121212"/>
              </a:buClr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57851-3572-63E1-4224-5795D05E8A4C}"/>
              </a:ext>
            </a:extLst>
          </p:cNvPr>
          <p:cNvSpPr txBox="1"/>
          <p:nvPr/>
        </p:nvSpPr>
        <p:spPr>
          <a:xfrm>
            <a:off x="5985710" y="2777289"/>
            <a:ext cx="60659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Kas </a:t>
            </a:r>
            <a:r>
              <a:rPr lang="en-US" err="1">
                <a:ea typeface="Inter"/>
              </a:rPr>
              <a:t>kahe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grupi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keskmiste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vahel</a:t>
            </a:r>
            <a:r>
              <a:rPr lang="en-US">
                <a:ea typeface="Inter"/>
              </a:rPr>
              <a:t> on </a:t>
            </a:r>
            <a:r>
              <a:rPr lang="en-US" err="1">
                <a:ea typeface="Inter"/>
              </a:rPr>
              <a:t>oluline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erinevus</a:t>
            </a:r>
            <a:r>
              <a:rPr lang="en-US">
                <a:ea typeface="Inter"/>
              </a:rPr>
              <a:t>?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A37B7-956F-0C66-3E4E-3BEE2864C075}"/>
              </a:ext>
            </a:extLst>
          </p:cNvPr>
          <p:cNvSpPr txBox="1"/>
          <p:nvPr/>
        </p:nvSpPr>
        <p:spPr>
          <a:xfrm>
            <a:off x="775529" y="5967348"/>
            <a:ext cx="26168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Inter"/>
              </a:rPr>
              <a:t>Joonise</a:t>
            </a:r>
            <a:r>
              <a:rPr lang="en-US" sz="1400">
                <a:ea typeface="Inter"/>
              </a:rPr>
              <a:t> </a:t>
            </a:r>
            <a:r>
              <a:rPr lang="en-US" sz="1400" err="1">
                <a:ea typeface="Inter"/>
              </a:rPr>
              <a:t>allikas</a:t>
            </a:r>
            <a:r>
              <a:rPr lang="en-US" sz="1400">
                <a:ea typeface="Inter"/>
              </a:rPr>
              <a:t>: </a:t>
            </a:r>
            <a:r>
              <a:rPr lang="en-US" sz="1400">
                <a:ea typeface="Inter"/>
                <a:hlinkClick r:id="rId3"/>
              </a:rPr>
              <a:t>Datatab</a:t>
            </a:r>
            <a:endParaRPr lang="en-US" sz="1400"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15945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D4CB-039F-EE65-CB19-2698B4416C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T-</a:t>
            </a:r>
            <a:r>
              <a:rPr lang="en-US" err="1"/>
              <a:t>testi</a:t>
            </a:r>
            <a:r>
              <a:rPr lang="en-US"/>
              <a:t> </a:t>
            </a:r>
            <a:r>
              <a:rPr lang="en-US" err="1"/>
              <a:t>tüübid</a:t>
            </a:r>
          </a:p>
        </p:txBody>
      </p:sp>
      <p:pic>
        <p:nvPicPr>
          <p:cNvPr id="7" name="Content Placeholder 6" descr="A group of people with a globe and a number&#10;&#10;AI-generated content may be incorrect.">
            <a:extLst>
              <a:ext uri="{FF2B5EF4-FFF2-40B4-BE49-F238E27FC236}">
                <a16:creationId xmlns:a16="http://schemas.microsoft.com/office/drawing/2014/main" id="{7D41CEA8-8971-F7E1-3E34-852C24259BC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621799" y="1939883"/>
            <a:ext cx="2162175" cy="249103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 descr="A group of people with numbers&#10;&#10;AI-generated content may be incorrect.">
            <a:extLst>
              <a:ext uri="{FF2B5EF4-FFF2-40B4-BE49-F238E27FC236}">
                <a16:creationId xmlns:a16="http://schemas.microsoft.com/office/drawing/2014/main" id="{A4A524F3-2235-5F39-CCDD-CB10F12F0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251" y="1939340"/>
            <a:ext cx="2345156" cy="255821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 descr="A group of people with a clock and a circle&#10;&#10;AI-generated content may be incorrect.">
            <a:extLst>
              <a:ext uri="{FF2B5EF4-FFF2-40B4-BE49-F238E27FC236}">
                <a16:creationId xmlns:a16="http://schemas.microsoft.com/office/drawing/2014/main" id="{7C9CD30A-6222-7C31-C498-B9F91C5BF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88" y="1940343"/>
            <a:ext cx="2212807" cy="257626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D89858-90B9-36C7-A373-CB1FE8F9816A}"/>
              </a:ext>
            </a:extLst>
          </p:cNvPr>
          <p:cNvSpPr txBox="1"/>
          <p:nvPr/>
        </p:nvSpPr>
        <p:spPr>
          <a:xfrm>
            <a:off x="651710" y="4622131"/>
            <a:ext cx="2275973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Valim vs </a:t>
            </a:r>
            <a:r>
              <a:rPr lang="en-US" err="1">
                <a:ea typeface="Inter"/>
              </a:rPr>
              <a:t>populatsioon</a:t>
            </a:r>
            <a:br>
              <a:rPr lang="en-US">
                <a:ea typeface="Inter"/>
              </a:rPr>
            </a:br>
            <a:r>
              <a:rPr lang="en-US" sz="1600">
                <a:ea typeface="Inter"/>
              </a:rPr>
              <a:t>(One-sample T-test) </a:t>
            </a:r>
            <a:endParaRPr lang="en-US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AE941-A4E7-7684-117E-2B0C4B49C3F2}"/>
              </a:ext>
            </a:extLst>
          </p:cNvPr>
          <p:cNvSpPr txBox="1"/>
          <p:nvPr/>
        </p:nvSpPr>
        <p:spPr>
          <a:xfrm>
            <a:off x="4481762" y="4692315"/>
            <a:ext cx="2275973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Kaks </a:t>
            </a:r>
            <a:r>
              <a:rPr lang="en-US" err="1">
                <a:ea typeface="Inter"/>
              </a:rPr>
              <a:t>sõltumatut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valimit</a:t>
            </a:r>
            <a:br>
              <a:rPr lang="en-US">
                <a:ea typeface="Inter"/>
              </a:rPr>
            </a:br>
            <a:r>
              <a:rPr lang="en-US" sz="1600">
                <a:ea typeface="Inter"/>
              </a:rPr>
              <a:t>(Independent samples t-test)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321B7-9FDE-5AB0-361C-493E5BC29FBB}"/>
              </a:ext>
            </a:extLst>
          </p:cNvPr>
          <p:cNvSpPr txBox="1"/>
          <p:nvPr/>
        </p:nvSpPr>
        <p:spPr>
          <a:xfrm>
            <a:off x="8452183" y="4692314"/>
            <a:ext cx="2275973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Kaks </a:t>
            </a:r>
            <a:r>
              <a:rPr lang="en-US" err="1">
                <a:ea typeface="Inter"/>
              </a:rPr>
              <a:t>sõltuvat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valimit</a:t>
            </a:r>
            <a:br>
              <a:rPr lang="en-US">
                <a:ea typeface="Inter"/>
              </a:rPr>
            </a:br>
            <a:r>
              <a:rPr lang="en-US" sz="1600">
                <a:ea typeface="Inter"/>
              </a:rPr>
              <a:t>(Paired-sample t-test)</a:t>
            </a:r>
            <a:endParaRPr lang="en-US" sz="160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B9F59-F2D9-1C7A-B416-31568534D7E2}"/>
              </a:ext>
            </a:extLst>
          </p:cNvPr>
          <p:cNvSpPr txBox="1"/>
          <p:nvPr/>
        </p:nvSpPr>
        <p:spPr>
          <a:xfrm>
            <a:off x="4334871" y="6037532"/>
            <a:ext cx="26168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Inter"/>
              </a:rPr>
              <a:t>Jooniste</a:t>
            </a:r>
            <a:r>
              <a:rPr lang="en-US" sz="1400">
                <a:ea typeface="Inter"/>
              </a:rPr>
              <a:t> </a:t>
            </a:r>
            <a:r>
              <a:rPr lang="en-US" sz="1400" err="1">
                <a:ea typeface="Inter"/>
              </a:rPr>
              <a:t>allikas</a:t>
            </a:r>
            <a:r>
              <a:rPr lang="en-US" sz="1400">
                <a:ea typeface="Inter"/>
              </a:rPr>
              <a:t>: </a:t>
            </a:r>
            <a:r>
              <a:rPr lang="en-US" sz="1400">
                <a:ea typeface="Inter"/>
                <a:hlinkClick r:id="rId6"/>
              </a:rPr>
              <a:t>Datatab</a:t>
            </a:r>
            <a:endParaRPr lang="en-US" sz="1400"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2228930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EA7C6-0BA0-B5F1-5588-A5154B16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5D56-4AAB-15A1-6C0E-90CA6D0ADA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>
                <a:ea typeface="+mj-lt"/>
                <a:cs typeface="+mj-lt"/>
              </a:rPr>
              <a:t>Kahe </a:t>
            </a:r>
            <a:r>
              <a:rPr lang="en-US" sz="3600" b="1" err="1">
                <a:ea typeface="+mj-lt"/>
                <a:cs typeface="+mj-lt"/>
              </a:rPr>
              <a:t>pakiroboti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tarkvara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võrdlus</a:t>
            </a:r>
            <a:endParaRPr lang="en-US" sz="3600" b="1" err="1">
              <a:ea typeface="Inter 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D0B26-D03D-2FA5-F688-57B6876653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Meil on </a:t>
            </a:r>
            <a:r>
              <a:rPr lang="en-US" sz="2000" dirty="0" err="1">
                <a:ea typeface="Inter"/>
              </a:rPr>
              <a:t>laos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kaks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pakirobotit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millel</a:t>
            </a:r>
            <a:r>
              <a:rPr lang="en-US" sz="2000" dirty="0">
                <a:ea typeface="Inter"/>
              </a:rPr>
              <a:t> on </a:t>
            </a:r>
            <a:r>
              <a:rPr lang="en-US" sz="2000" dirty="0" err="1">
                <a:ea typeface="Inter"/>
              </a:rPr>
              <a:t>erinevad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tarkvara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versioonid</a:t>
            </a:r>
            <a:r>
              <a:rPr lang="en-US" sz="2000" dirty="0">
                <a:ea typeface="Inter"/>
              </a:rPr>
              <a:t>. Kas </a:t>
            </a:r>
            <a:r>
              <a:rPr lang="en-US" sz="2000" dirty="0" err="1">
                <a:ea typeface="Inter"/>
              </a:rPr>
              <a:t>uue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tarkvaraga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pakirobot</a:t>
            </a:r>
            <a:r>
              <a:rPr lang="en-US" sz="2000" dirty="0">
                <a:ea typeface="Inter"/>
              </a:rPr>
              <a:t> on </a:t>
            </a:r>
            <a:r>
              <a:rPr lang="en-US" sz="2000" dirty="0" err="1">
                <a:ea typeface="Inter"/>
              </a:rPr>
              <a:t>keskmiselt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kiirem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kui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vana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tarkvaraga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pakirobot</a:t>
            </a:r>
            <a:r>
              <a:rPr lang="en-US" sz="2000" dirty="0">
                <a:ea typeface="Inter"/>
              </a:rPr>
              <a:t>?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Andmed</a:t>
            </a:r>
            <a:r>
              <a:rPr lang="en-US" sz="2000" dirty="0">
                <a:ea typeface="Inter"/>
              </a:rPr>
              <a:t>: Day13 --&gt; pakirobotid_andmestik.csv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Viime </a:t>
            </a:r>
            <a:r>
              <a:rPr lang="en-US" sz="2000" dirty="0" err="1">
                <a:ea typeface="Inter"/>
              </a:rPr>
              <a:t>andmed</a:t>
            </a:r>
            <a:r>
              <a:rPr lang="en-US" sz="2000" dirty="0">
                <a:ea typeface="Inter"/>
              </a:rPr>
              <a:t> t-</a:t>
            </a:r>
            <a:r>
              <a:rPr lang="en-US" sz="2000" dirty="0" err="1">
                <a:ea typeface="Inter"/>
              </a:rPr>
              <a:t>testiks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sobivale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kujule</a:t>
            </a:r>
            <a:r>
              <a:rPr lang="en-US" sz="2000" dirty="0">
                <a:ea typeface="Inter"/>
              </a:rPr>
              <a:t>: </a:t>
            </a:r>
            <a:endParaRPr lang="en-US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Delivery_time_in_sec</a:t>
            </a:r>
            <a:r>
              <a:rPr lang="en-US" sz="2000" dirty="0">
                <a:ea typeface="Inter"/>
              </a:rPr>
              <a:t> --&gt; </a:t>
            </a:r>
            <a:r>
              <a:rPr lang="en-US" sz="2000" dirty="0" err="1">
                <a:ea typeface="Inter"/>
              </a:rPr>
              <a:t>numbriliseks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Uus</a:t>
            </a:r>
            <a:r>
              <a:rPr lang="en-US" sz="2000" dirty="0">
                <a:ea typeface="Inter"/>
              </a:rPr>
              <a:t> ja </a:t>
            </a:r>
            <a:r>
              <a:rPr lang="en-US" sz="2000" dirty="0" err="1">
                <a:ea typeface="Inter"/>
              </a:rPr>
              <a:t>vana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kõrvuti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tulpadesse</a:t>
            </a:r>
            <a:r>
              <a:rPr lang="en-US" sz="2000" dirty="0">
                <a:ea typeface="Inter"/>
              </a:rPr>
              <a:t>: </a:t>
            </a:r>
            <a:r>
              <a:rPr lang="en-US" sz="2000" dirty="0">
                <a:ea typeface="+mn-lt"/>
                <a:cs typeface="+mn-lt"/>
              </a:rPr>
              <a:t>=FILTER(C:C;B:B="</a:t>
            </a:r>
            <a:r>
              <a:rPr lang="en-US" sz="2000" dirty="0" err="1">
                <a:ea typeface="+mn-lt"/>
                <a:cs typeface="+mn-lt"/>
              </a:rPr>
              <a:t>vana</a:t>
            </a:r>
            <a:r>
              <a:rPr lang="en-US" sz="2000" dirty="0">
                <a:ea typeface="+mn-lt"/>
                <a:cs typeface="+mn-lt"/>
              </a:rPr>
              <a:t>")</a:t>
            </a: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Kirjeldav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statistika</a:t>
            </a:r>
            <a:r>
              <a:rPr lang="en-US" sz="2000" dirty="0">
                <a:ea typeface="Inter"/>
              </a:rPr>
              <a:t>: Data --&gt; Data Analysis --&gt; Descriptive Statistics</a:t>
            </a:r>
            <a:endParaRPr lang="en-US" sz="20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</a:rPr>
              <a:t>Joonis </a:t>
            </a:r>
            <a:r>
              <a:rPr lang="en-US" sz="2000" dirty="0" err="1">
                <a:ea typeface="Inter"/>
              </a:rPr>
              <a:t>võrdluseks</a:t>
            </a:r>
            <a:r>
              <a:rPr lang="en-US" sz="2000" dirty="0">
                <a:ea typeface="Inter"/>
              </a:rPr>
              <a:t>: Insert --&gt; All Charts --&gt; Box &amp; Whisker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</a:rPr>
              <a:t>T-test: Data --&gt; Data Analysis --&gt; </a:t>
            </a:r>
            <a:r>
              <a:rPr lang="en-US" sz="2000" dirty="0">
                <a:ea typeface="+mn-lt"/>
                <a:cs typeface="+mn-lt"/>
              </a:rPr>
              <a:t>t-Test: Two-Sample Assuming Equal Variances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</a:rPr>
              <a:t>Loe </a:t>
            </a:r>
            <a:r>
              <a:rPr lang="en-US" sz="2000" dirty="0" err="1">
                <a:ea typeface="Inter"/>
              </a:rPr>
              <a:t>rohkem</a:t>
            </a:r>
            <a:r>
              <a:rPr lang="en-US" sz="2000" dirty="0">
                <a:ea typeface="Inter"/>
              </a:rPr>
              <a:t> t-</a:t>
            </a:r>
            <a:r>
              <a:rPr lang="en-US" sz="2000" dirty="0" err="1">
                <a:ea typeface="Inter"/>
              </a:rPr>
              <a:t>testist</a:t>
            </a:r>
            <a:r>
              <a:rPr lang="en-US" sz="2000" dirty="0">
                <a:ea typeface="Inter"/>
              </a:rPr>
              <a:t>: </a:t>
            </a:r>
            <a:r>
              <a:rPr lang="en-US" sz="2000" dirty="0">
                <a:ea typeface="+mn-lt"/>
                <a:cs typeface="+mn-lt"/>
                <a:hlinkClick r:id="rId2"/>
              </a:rPr>
              <a:t>https://samm.ut.ee/t-test/</a:t>
            </a:r>
            <a:r>
              <a:rPr lang="en-US" sz="2000" dirty="0">
                <a:ea typeface="+mn-lt"/>
                <a:cs typeface="+mn-lt"/>
              </a:rPr>
              <a:t>  </a:t>
            </a:r>
          </a:p>
          <a:p>
            <a:pPr>
              <a:buClr>
                <a:srgbClr val="121212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316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D483-D58B-7389-DBD3-DE812A5A4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err="1"/>
              <a:t>Kategoriaalsete</a:t>
            </a:r>
            <a:r>
              <a:rPr lang="en-US" sz="2400"/>
              <a:t> </a:t>
            </a:r>
            <a:r>
              <a:rPr lang="en-US" sz="2400" err="1"/>
              <a:t>tunnuste</a:t>
            </a:r>
            <a:r>
              <a:rPr lang="en-US" sz="2400"/>
              <a:t> </a:t>
            </a:r>
            <a:r>
              <a:rPr lang="en-US" sz="2400" err="1"/>
              <a:t>seose</a:t>
            </a:r>
            <a:r>
              <a:rPr lang="en-US" sz="2400"/>
              <a:t> </a:t>
            </a:r>
            <a:r>
              <a:rPr lang="en-US" sz="2400" err="1"/>
              <a:t>analüüs</a:t>
            </a:r>
            <a:r>
              <a:rPr lang="en-US" sz="2400"/>
              <a:t> - </a:t>
            </a:r>
            <a:r>
              <a:rPr lang="en-US" sz="2400" err="1"/>
              <a:t>hii-ruut-statistik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36111-5372-C073-4B39-B025152D92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Hii-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ruut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-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statistiku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puhul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vaadatakse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kahe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tunnuse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tegelikku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ühist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jaotust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(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nt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vastajate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arve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risttabelis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)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ning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võrreldakse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seda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jaotusega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(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nt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risttabeliga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)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sellises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olukorras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kus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kahe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tunnuse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vahel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seost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poleks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Leidmaks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jaotust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,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kus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seost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pole,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saab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teha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järgmise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arvutuse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: </a:t>
            </a:r>
            <a:endParaRPr lang="en-US" sz="2000" dirty="0">
              <a:solidFill>
                <a:srgbClr val="121212"/>
              </a:solidFill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Ridade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summa *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Tulpade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summa /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Vastajate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arv</a:t>
            </a:r>
            <a:endParaRPr lang="en-US" sz="2000" dirty="0">
              <a:solidFill>
                <a:srgbClr val="121212"/>
              </a:solidFill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Näiteks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: </a:t>
            </a:r>
          </a:p>
          <a:p>
            <a:pPr lvl="1">
              <a:buFont typeface="Courier New" panose="020B0502030000000004" pitchFamily="34" charset="0"/>
              <a:buChar char="o"/>
            </a:pPr>
            <a:endParaRPr lang="en-US" sz="2000" dirty="0">
              <a:solidFill>
                <a:srgbClr val="121212"/>
              </a:solidFill>
              <a:ea typeface="Inter"/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121212"/>
              </a:solidFill>
            </a:endParaRPr>
          </a:p>
          <a:p>
            <a:endParaRPr lang="en-US" sz="2000" dirty="0">
              <a:solidFill>
                <a:srgbClr val="121212"/>
              </a:solidFill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24CA209-14E0-BA6E-6008-1D27D3F62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913" y="4643997"/>
            <a:ext cx="7400925" cy="1209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610DC-27E4-F355-93BE-E98A5F71F727}"/>
              </a:ext>
            </a:extLst>
          </p:cNvPr>
          <p:cNvSpPr txBox="1"/>
          <p:nvPr/>
        </p:nvSpPr>
        <p:spPr>
          <a:xfrm>
            <a:off x="1860841" y="4304790"/>
            <a:ext cx="23745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ea typeface="Inter"/>
              </a:rPr>
              <a:t>Tegelikud</a:t>
            </a:r>
            <a:r>
              <a:rPr lang="en-US" sz="1600">
                <a:ea typeface="Inter"/>
              </a:rPr>
              <a:t> </a:t>
            </a:r>
            <a:r>
              <a:rPr lang="en-US" sz="1600" err="1">
                <a:ea typeface="Inter"/>
              </a:rPr>
              <a:t>tulemused</a:t>
            </a:r>
            <a:r>
              <a:rPr lang="en-US" sz="1600">
                <a:ea typeface="Inter"/>
              </a:rPr>
              <a:t>:</a:t>
            </a:r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9B8F0-C92E-F10B-11D5-453ABA00CEC6}"/>
              </a:ext>
            </a:extLst>
          </p:cNvPr>
          <p:cNvSpPr txBox="1"/>
          <p:nvPr/>
        </p:nvSpPr>
        <p:spPr>
          <a:xfrm>
            <a:off x="5258464" y="4304790"/>
            <a:ext cx="42033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ea typeface="Inter"/>
              </a:rPr>
              <a:t>Oodatud</a:t>
            </a:r>
            <a:r>
              <a:rPr lang="en-US" sz="1600">
                <a:ea typeface="Inter"/>
              </a:rPr>
              <a:t> </a:t>
            </a:r>
            <a:r>
              <a:rPr lang="en-US" sz="1600" err="1">
                <a:ea typeface="Inter"/>
              </a:rPr>
              <a:t>tulemused</a:t>
            </a:r>
            <a:r>
              <a:rPr lang="en-US" sz="1600">
                <a:ea typeface="Inter"/>
              </a:rPr>
              <a:t>, </a:t>
            </a:r>
            <a:r>
              <a:rPr lang="en-US" sz="1600" err="1">
                <a:ea typeface="Inter"/>
              </a:rPr>
              <a:t>kui</a:t>
            </a:r>
            <a:r>
              <a:rPr lang="en-US" sz="1600">
                <a:ea typeface="Inter"/>
              </a:rPr>
              <a:t> </a:t>
            </a:r>
            <a:r>
              <a:rPr lang="en-US" sz="1600" err="1">
                <a:ea typeface="Inter"/>
              </a:rPr>
              <a:t>seost</a:t>
            </a:r>
            <a:r>
              <a:rPr lang="en-US" sz="1600">
                <a:ea typeface="Inter"/>
              </a:rPr>
              <a:t> pole: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5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47E3-D51C-A85C-62DB-C7D72FC9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2DE0-1686-293D-AFE8-90E217D0A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err="1"/>
              <a:t>Reklaamikanalite</a:t>
            </a:r>
            <a:r>
              <a:rPr lang="en-US" sz="2400"/>
              <a:t> </a:t>
            </a:r>
            <a:r>
              <a:rPr lang="en-US" sz="2400" err="1"/>
              <a:t>võrdlus</a:t>
            </a:r>
            <a:r>
              <a:rPr lang="en-US" sz="2400"/>
              <a:t> </a:t>
            </a:r>
            <a:r>
              <a:rPr lang="en-US" sz="2400" err="1"/>
              <a:t>Exceliga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A2AA6-94D4-25A3-65F6-84FAD81171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21212"/>
                </a:solidFill>
                <a:ea typeface="Inter"/>
              </a:rPr>
              <a:t>Kas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ühest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reklaamikanalist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tuleb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rohkem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liitumisi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?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Andmestik</a:t>
            </a:r>
            <a:r>
              <a:rPr lang="en-US" sz="2000">
                <a:solidFill>
                  <a:srgbClr val="121212"/>
                </a:solidFill>
                <a:ea typeface="Inter"/>
              </a:rPr>
              <a:t>: Day13 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--&gt; Turundus_andmestik.xlsx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Esmane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võrdlus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-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risttabel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endParaRPr lang="en-US" sz="2000" dirty="0">
              <a:solidFill>
                <a:srgbClr val="121212"/>
              </a:solidFill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Kuidas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erinevus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tundub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?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Kuidas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võrrelda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?</a:t>
            </a:r>
            <a:endParaRPr lang="en-US" sz="2000" dirty="0">
              <a:solidFill>
                <a:srgbClr val="121212"/>
              </a:solidFill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solidFill>
                  <a:srgbClr val="121212"/>
                </a:solidFill>
                <a:ea typeface="Inter"/>
              </a:rPr>
              <a:t>%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jaotus</a:t>
            </a:r>
            <a:endParaRPr lang="en-US" sz="2000" dirty="0">
              <a:solidFill>
                <a:srgbClr val="121212"/>
              </a:solidFill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Statistiline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võrdlus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-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hii-ruut-statistik</a:t>
            </a:r>
            <a:endParaRPr lang="en-US" sz="2000" dirty="0">
              <a:solidFill>
                <a:srgbClr val="121212"/>
              </a:solidFill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solidFill>
                  <a:srgbClr val="121212"/>
                </a:solidFill>
                <a:ea typeface="Inter"/>
              </a:rPr>
              <a:t>Loo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oodatava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tulemuse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table (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Ridade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summa *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Tulpade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summa /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Vastajate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arv</a:t>
            </a:r>
            <a:r>
              <a:rPr lang="en-US" sz="2000" dirty="0">
                <a:solidFill>
                  <a:srgbClr val="121212"/>
                </a:solidFill>
              </a:rPr>
              <a:t>)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Arvuta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hii-ruut-statistiku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p-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väärtus</a:t>
            </a:r>
            <a:endParaRPr lang="en-US" sz="2000" dirty="0">
              <a:solidFill>
                <a:srgbClr val="121212"/>
              </a:solidFill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Segoe UI"/>
              </a:rPr>
              <a:t>CHISQ.TEST(</a:t>
            </a:r>
            <a:r>
              <a:rPr lang="en-US" sz="2000" dirty="0" err="1">
                <a:solidFill>
                  <a:srgbClr val="121212"/>
                </a:solidFill>
                <a:latin typeface="Inter"/>
                <a:ea typeface="Inter"/>
                <a:cs typeface="Segoe UI"/>
              </a:rPr>
              <a:t>actual_range,expected_range</a:t>
            </a:r>
            <a:r>
              <a:rPr lang="en-US" sz="2000" dirty="0">
                <a:solidFill>
                  <a:srgbClr val="121212"/>
                </a:solidFill>
                <a:latin typeface="Inter"/>
                <a:ea typeface="Inter"/>
                <a:cs typeface="Segoe UI"/>
              </a:rPr>
              <a:t>)</a:t>
            </a:r>
            <a:endParaRPr lang="en-US" sz="2000" dirty="0">
              <a:solidFill>
                <a:srgbClr val="121212"/>
              </a:solidFill>
              <a:latin typeface="Inter" panose="02000503000000020004" pitchFamily="2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121212"/>
              </a:solidFill>
            </a:endParaRPr>
          </a:p>
          <a:p>
            <a:pPr>
              <a:buClr>
                <a:srgbClr val="121212"/>
              </a:buClr>
            </a:pPr>
            <a:endParaRPr lang="en-US" sz="2000" dirty="0">
              <a:solidFill>
                <a:srgbClr val="1212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04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3EBE-0501-FCFE-A09B-416DF0B3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751D-1D2E-C076-FFCC-E4F952D93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Statistika</a:t>
            </a:r>
            <a:r>
              <a:rPr lang="en-US" sz="3600" b="1">
                <a:ea typeface="+mj-lt"/>
                <a:cs typeface="+mj-lt"/>
              </a:rPr>
              <a:t> </a:t>
            </a:r>
            <a:r>
              <a:rPr lang="en-US" sz="3600" b="1" err="1">
                <a:ea typeface="+mj-lt"/>
                <a:cs typeface="+mj-lt"/>
              </a:rPr>
              <a:t>lisamaterjalid</a:t>
            </a:r>
            <a:endParaRPr lang="en-US" sz="3600" b="1" err="1">
              <a:ea typeface="Inter 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FDBA4-7412-1371-939D-A737717DC1B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Vaatamiseks</a:t>
            </a:r>
            <a:r>
              <a:rPr lang="en-US" sz="2000" dirty="0">
                <a:ea typeface="Inter"/>
              </a:rPr>
              <a:t>: </a:t>
            </a:r>
            <a:r>
              <a:rPr lang="en-US" sz="2000" dirty="0" err="1">
                <a:ea typeface="Inter"/>
                <a:hlinkClick r:id="rId2"/>
              </a:rPr>
              <a:t>CrashCourse</a:t>
            </a:r>
            <a:r>
              <a:rPr lang="en-US" sz="2000" dirty="0">
                <a:ea typeface="Inter"/>
                <a:hlinkClick r:id="rId2"/>
              </a:rPr>
              <a:t> Statistics</a:t>
            </a:r>
            <a:endParaRPr lang="en-US" sz="2000" dirty="0">
              <a:cs typeface="+mn-lt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</a:rPr>
              <a:t>Lugemiseks</a:t>
            </a:r>
            <a:r>
              <a:rPr lang="en-US" sz="2000" dirty="0">
                <a:ea typeface="Inter"/>
              </a:rPr>
              <a:t>: </a:t>
            </a:r>
            <a:r>
              <a:rPr lang="en-US" sz="2000" dirty="0" err="1">
                <a:ea typeface="+mn-lt"/>
                <a:cs typeface="+mn-lt"/>
                <a:hlinkClick r:id="rId3"/>
              </a:rPr>
              <a:t>Datatab</a:t>
            </a:r>
            <a:endParaRPr lang="en-US" sz="20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</a:rPr>
              <a:t>Eesti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keeles</a:t>
            </a:r>
            <a:r>
              <a:rPr lang="en-US" sz="2000" dirty="0">
                <a:ea typeface="Inter"/>
              </a:rPr>
              <a:t>: </a:t>
            </a:r>
            <a:r>
              <a:rPr lang="en-US" sz="2000" dirty="0" err="1">
                <a:solidFill>
                  <a:srgbClr val="121212"/>
                </a:solidFill>
                <a:ea typeface="Inter"/>
                <a:hlinkClick r:id="rId4"/>
              </a:rPr>
              <a:t>Sotsiaalse</a:t>
            </a:r>
            <a:r>
              <a:rPr lang="en-US" sz="2000" dirty="0">
                <a:solidFill>
                  <a:srgbClr val="121212"/>
                </a:solidFill>
                <a:ea typeface="Inter"/>
                <a:hlinkClick r:id="rId4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  <a:hlinkClick r:id="rId4"/>
              </a:rPr>
              <a:t>Analüüsi</a:t>
            </a:r>
            <a:r>
              <a:rPr lang="en-US" sz="2000" dirty="0">
                <a:solidFill>
                  <a:srgbClr val="121212"/>
                </a:solidFill>
                <a:ea typeface="Inter"/>
                <a:hlinkClick r:id="rId4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  <a:hlinkClick r:id="rId4"/>
              </a:rPr>
              <a:t>Meetodite</a:t>
            </a:r>
            <a:r>
              <a:rPr lang="en-US" sz="2000" dirty="0">
                <a:solidFill>
                  <a:srgbClr val="121212"/>
                </a:solidFill>
                <a:ea typeface="Inter"/>
                <a:hlinkClick r:id="rId4"/>
              </a:rPr>
              <a:t> ja </a:t>
            </a:r>
            <a:r>
              <a:rPr lang="en-US" sz="2000" dirty="0" err="1">
                <a:solidFill>
                  <a:srgbClr val="121212"/>
                </a:solidFill>
                <a:ea typeface="Inter"/>
                <a:hlinkClick r:id="rId4"/>
              </a:rPr>
              <a:t>Metodoloogia</a:t>
            </a:r>
            <a:r>
              <a:rPr lang="en-US" sz="2000" dirty="0">
                <a:solidFill>
                  <a:srgbClr val="121212"/>
                </a:solidFill>
                <a:ea typeface="Inter"/>
                <a:hlinkClick r:id="rId4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  <a:hlinkClick r:id="rId4"/>
              </a:rPr>
              <a:t>õpibaas</a:t>
            </a:r>
            <a:endParaRPr lang="en-US" sz="2000" dirty="0">
              <a:solidFill>
                <a:srgbClr val="121212"/>
              </a:solidFill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</a:rPr>
              <a:t>Statistilise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testi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valimine</a:t>
            </a:r>
            <a:r>
              <a:rPr lang="en-US" sz="2000" dirty="0">
                <a:ea typeface="Inter"/>
              </a:rPr>
              <a:t>: </a:t>
            </a:r>
            <a:r>
              <a:rPr lang="en-US" sz="2000" dirty="0">
                <a:ea typeface="+mn-lt"/>
                <a:cs typeface="+mn-lt"/>
                <a:hlinkClick r:id="rId5"/>
              </a:rPr>
              <a:t>Statistical Tests</a:t>
            </a: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n-US" sz="2000" dirty="0"/>
          </a:p>
          <a:p>
            <a:pPr>
              <a:buClr>
                <a:srgbClr val="121212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2865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9FCD-1FAC-9C66-3245-6CC75BBF0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3D522-8B6B-AC13-AE89-589D6137986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003D5-4AA3-8A46-050E-409C5B8B1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668381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ED116-581A-DB15-C7E7-142C87EDE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2C9B-F057-34C3-19E3-EB4FFD51C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dirty="0" err="1"/>
              <a:t>Kinnisvarahindade</a:t>
            </a:r>
            <a:r>
              <a:rPr lang="en-US" sz="2400" dirty="0"/>
              <a:t> </a:t>
            </a:r>
            <a:r>
              <a:rPr lang="en-US" sz="2400" dirty="0" err="1"/>
              <a:t>seos</a:t>
            </a:r>
            <a:r>
              <a:rPr lang="en-US" sz="2400" dirty="0"/>
              <a:t> </a:t>
            </a:r>
            <a:r>
              <a:rPr lang="en-US" sz="2400" dirty="0" err="1"/>
              <a:t>kinnisvara</a:t>
            </a:r>
            <a:r>
              <a:rPr lang="en-US" sz="2400" dirty="0"/>
              <a:t> </a:t>
            </a:r>
            <a:r>
              <a:rPr lang="en-US" sz="2400" dirty="0" err="1"/>
              <a:t>suurusega</a:t>
            </a:r>
            <a:r>
              <a:rPr lang="en-US" sz="2400" dirty="0"/>
              <a:t> </a:t>
            </a:r>
            <a:r>
              <a:rPr lang="en-US" sz="2400" dirty="0" err="1"/>
              <a:t>analüüs</a:t>
            </a:r>
            <a:r>
              <a:rPr lang="en-US" sz="2400" dirty="0"/>
              <a:t> </a:t>
            </a:r>
            <a:r>
              <a:rPr lang="en-US" sz="2400" dirty="0" err="1"/>
              <a:t>Exceliga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82DD-11F7-C6CC-5DC6-0C64192648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Kuidas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on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seotud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kinnisvara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suurus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ja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kinnisvara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hind?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</a:rPr>
              <a:t>Day13 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 kinnisvara_andmestik.xlsx</a:t>
            </a:r>
            <a:endParaRPr lang="en-US" sz="2000" dirty="0">
              <a:solidFill>
                <a:srgbClr val="121212"/>
              </a:solidFill>
              <a:latin typeface="Inter" panose="02000503000000020004" pitchFamily="2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sym typeface="Wingdings" panose="05000000000000000000" pitchFamily="2" charset="2"/>
              </a:rPr>
              <a:t>Mis </a:t>
            </a:r>
            <a:r>
              <a:rPr lang="en-US" sz="2000" dirty="0" err="1">
                <a:solidFill>
                  <a:srgbClr val="121212"/>
                </a:solidFill>
                <a:latin typeface="Inter" panose="02000503000000020004" pitchFamily="2" charset="0"/>
                <a:sym typeface="Wingdings" panose="05000000000000000000" pitchFamily="2" charset="2"/>
              </a:rPr>
              <a:t>analüüsi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 panose="02000503000000020004" pitchFamily="2" charset="0"/>
                <a:sym typeface="Wingdings" panose="05000000000000000000" pitchFamily="2" charset="2"/>
              </a:rPr>
              <a:t>jooksutame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sym typeface="Wingdings" panose="05000000000000000000" pitchFamily="2" charset="2"/>
              </a:rPr>
              <a:t>?</a:t>
            </a:r>
            <a:endParaRPr lang="en-US" sz="2000" dirty="0">
              <a:solidFill>
                <a:srgbClr val="121212"/>
              </a:solidFill>
            </a:endParaRPr>
          </a:p>
          <a:p>
            <a:pPr>
              <a:buClr>
                <a:srgbClr val="121212"/>
              </a:buClr>
            </a:pPr>
            <a:endParaRPr lang="en-US" sz="2000" dirty="0">
              <a:solidFill>
                <a:srgbClr val="1212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8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6B242-52B6-2BDE-7907-A884D36C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1FAF-6D1B-B9D9-9733-02DE9E2DE4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dirty="0" err="1"/>
              <a:t>Kodulehe</a:t>
            </a:r>
            <a:r>
              <a:rPr lang="en-US" sz="2400" dirty="0"/>
              <a:t> </a:t>
            </a:r>
            <a:r>
              <a:rPr lang="en-US" sz="2400" dirty="0" err="1"/>
              <a:t>muutuse</a:t>
            </a:r>
            <a:r>
              <a:rPr lang="en-US" sz="2400" dirty="0"/>
              <a:t> </a:t>
            </a:r>
            <a:r>
              <a:rPr lang="en-US" sz="2400" dirty="0" err="1"/>
              <a:t>mõju</a:t>
            </a:r>
            <a:r>
              <a:rPr lang="en-US" sz="2400" dirty="0"/>
              <a:t> </a:t>
            </a:r>
            <a:r>
              <a:rPr lang="en-US" sz="2400" dirty="0" err="1"/>
              <a:t>ostukorvi</a:t>
            </a:r>
            <a:r>
              <a:rPr lang="en-US" sz="2400" dirty="0"/>
              <a:t> </a:t>
            </a:r>
            <a:r>
              <a:rPr lang="en-US" sz="2400" dirty="0" err="1"/>
              <a:t>suurusele</a:t>
            </a:r>
            <a:r>
              <a:rPr lang="en-US" sz="2400" dirty="0"/>
              <a:t> </a:t>
            </a:r>
            <a:r>
              <a:rPr lang="en-US" sz="2400" dirty="0" err="1"/>
              <a:t>Exceliga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1D5DF-1C14-941A-5FB0-C078DD6CF9E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21212"/>
                </a:solidFill>
                <a:ea typeface="Inter"/>
              </a:rPr>
              <a:t>E-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pood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seadis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üles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kaks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versiooni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– test-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grupile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näidati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bännerit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“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Üle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50-eurose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ostu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korral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tasuta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kohalevedu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”,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kontrollgrupile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ei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näidatud</a:t>
            </a:r>
            <a:endParaRPr lang="en-US" sz="2000" dirty="0">
              <a:solidFill>
                <a:srgbClr val="121212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</a:rPr>
              <a:t>Day13 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 homepage_sales_abtesting.txt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Mis </a:t>
            </a:r>
            <a:r>
              <a:rPr lang="en-US" sz="2000" dirty="0" err="1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analüüsi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jooksutame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?</a:t>
            </a:r>
            <a:endParaRPr lang="en-US" sz="2000" dirty="0">
              <a:solidFill>
                <a:srgbClr val="121212"/>
              </a:solidFill>
              <a:latin typeface="Inter" panose="02000503000000020004" pitchFamily="2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121212"/>
              </a:solidFill>
            </a:endParaRPr>
          </a:p>
          <a:p>
            <a:pPr>
              <a:buClr>
                <a:srgbClr val="121212"/>
              </a:buClr>
            </a:pPr>
            <a:endParaRPr lang="en-US" sz="2000" dirty="0">
              <a:solidFill>
                <a:srgbClr val="1212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01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E8E8-2C53-7FDC-CEB6-EBE536FE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F269-15FF-C3E0-1481-FB0F5729B7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5D5AC7-09A2-F513-5A98-E20E11B45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2758348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64537-F077-584A-B123-218969C59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6F116-1C27-DE9A-1E6D-38ED407B76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800" dirty="0" err="1"/>
              <a:t>Funktsionaalsuse</a:t>
            </a:r>
            <a:r>
              <a:rPr lang="en-US" sz="1800" dirty="0"/>
              <a:t> </a:t>
            </a:r>
            <a:r>
              <a:rPr lang="en-US" sz="1800" dirty="0" err="1"/>
              <a:t>kasutamise</a:t>
            </a:r>
            <a:r>
              <a:rPr lang="en-US" sz="1800" dirty="0"/>
              <a:t> </a:t>
            </a:r>
            <a:r>
              <a:rPr lang="en-US" sz="1800" dirty="0" err="1"/>
              <a:t>mõju</a:t>
            </a:r>
            <a:r>
              <a:rPr lang="en-US" sz="1800" dirty="0"/>
              <a:t> </a:t>
            </a:r>
            <a:r>
              <a:rPr lang="en-US" sz="1800" dirty="0" err="1"/>
              <a:t>maksvaks</a:t>
            </a:r>
            <a:r>
              <a:rPr lang="en-US" sz="1800" dirty="0"/>
              <a:t> </a:t>
            </a:r>
            <a:r>
              <a:rPr lang="en-US" sz="1800" dirty="0" err="1"/>
              <a:t>kliendiks</a:t>
            </a:r>
            <a:r>
              <a:rPr lang="en-US" sz="1800" dirty="0"/>
              <a:t> </a:t>
            </a:r>
            <a:r>
              <a:rPr lang="en-US" sz="1800" dirty="0" err="1"/>
              <a:t>muutumisele</a:t>
            </a:r>
            <a:r>
              <a:rPr lang="en-US" sz="1800" dirty="0"/>
              <a:t> </a:t>
            </a:r>
            <a:r>
              <a:rPr lang="en-US" sz="1800" dirty="0" err="1"/>
              <a:t>Exceliga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86AF7-AFA7-8551-547F-6EBEC97066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121212"/>
                </a:solidFill>
                <a:ea typeface="Inter"/>
              </a:rPr>
              <a:t>Veebipõhisel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tööriistal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oli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funktsioon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“workflow automation” – kas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selle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funktsiooni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kasutamine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mõjutab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kliendi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maksvaks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kliendiks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Inter"/>
              </a:rPr>
              <a:t>muutumist</a:t>
            </a:r>
            <a:r>
              <a:rPr lang="en-US" sz="2000" dirty="0">
                <a:solidFill>
                  <a:srgbClr val="121212"/>
                </a:solidFill>
                <a:ea typeface="Inter"/>
              </a:rPr>
              <a:t>?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</a:rPr>
              <a:t>Day13 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 workflow_automations_customers_data.xlsx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Millist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analüüsi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jooksutame</a:t>
            </a:r>
            <a:r>
              <a:rPr lang="en-US" sz="2000" dirty="0">
                <a:solidFill>
                  <a:srgbClr val="121212"/>
                </a:solidFill>
                <a:latin typeface="Inter" panose="02000503000000020004" pitchFamily="2" charset="0"/>
                <a:ea typeface="Inter"/>
                <a:sym typeface="Wingdings" panose="05000000000000000000" pitchFamily="2" charset="2"/>
              </a:rPr>
              <a:t>?</a:t>
            </a:r>
            <a:endParaRPr lang="en-US" sz="2000" dirty="0">
              <a:solidFill>
                <a:srgbClr val="121212"/>
              </a:solidFill>
              <a:latin typeface="Inter" panose="02000503000000020004" pitchFamily="2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121212"/>
              </a:solidFill>
            </a:endParaRPr>
          </a:p>
          <a:p>
            <a:pPr>
              <a:buClr>
                <a:srgbClr val="121212"/>
              </a:buClr>
            </a:pPr>
            <a:endParaRPr lang="en-US" sz="2000" dirty="0">
              <a:solidFill>
                <a:srgbClr val="1212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21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1696-2244-B3F8-4463-FFEBC8A12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Andmepõhine</a:t>
            </a:r>
            <a:r>
              <a:rPr lang="en-US"/>
              <a:t> </a:t>
            </a:r>
            <a:r>
              <a:rPr lang="en-US" err="1"/>
              <a:t>otsustamine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1CD06-75DE-9839-290E-35640025A4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7670214" cy="44656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>
                <a:ea typeface="Inter"/>
              </a:rPr>
              <a:t>Mis </a:t>
            </a:r>
            <a:r>
              <a:rPr lang="en-US" sz="2000" err="1">
                <a:ea typeface="Inter"/>
              </a:rPr>
              <a:t>aja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kohta</a:t>
            </a:r>
            <a:r>
              <a:rPr lang="en-US" sz="2000">
                <a:ea typeface="Inter"/>
              </a:rPr>
              <a:t> on </a:t>
            </a:r>
            <a:r>
              <a:rPr lang="en-US" sz="2000" err="1">
                <a:ea typeface="Inter"/>
              </a:rPr>
              <a:t>olemasolevad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andmed</a:t>
            </a:r>
            <a:r>
              <a:rPr lang="en-US" sz="2000">
                <a:ea typeface="Inter"/>
              </a:rPr>
              <a:t>?</a:t>
            </a:r>
            <a:endParaRPr lang="en-US" sz="200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Kas </a:t>
            </a:r>
            <a:r>
              <a:rPr lang="en-US" sz="2000" err="1">
                <a:ea typeface="Inter"/>
              </a:rPr>
              <a:t>aeg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piisavalt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pikk</a:t>
            </a:r>
            <a:r>
              <a:rPr lang="en-US" sz="2000">
                <a:ea typeface="Inter"/>
              </a:rPr>
              <a:t>, et </a:t>
            </a:r>
            <a:r>
              <a:rPr lang="en-US" sz="2000" err="1">
                <a:ea typeface="Inter"/>
              </a:rPr>
              <a:t>teha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järeldusi</a:t>
            </a:r>
            <a:r>
              <a:rPr lang="en-US" sz="2000">
                <a:ea typeface="Inter"/>
              </a:rPr>
              <a:t>?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ea typeface="Inter"/>
              </a:rPr>
              <a:t>Kuidas</a:t>
            </a:r>
            <a:r>
              <a:rPr lang="en-US" sz="2000">
                <a:ea typeface="Inter"/>
              </a:rPr>
              <a:t> on </a:t>
            </a:r>
            <a:r>
              <a:rPr lang="en-US" sz="2000" err="1">
                <a:ea typeface="Inter"/>
              </a:rPr>
              <a:t>kogutud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olemasolevad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andmed</a:t>
            </a:r>
            <a:r>
              <a:rPr lang="en-US" sz="2000">
                <a:ea typeface="Inter"/>
              </a:rPr>
              <a:t>?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Kes </a:t>
            </a:r>
            <a:r>
              <a:rPr lang="en-US" sz="2000" err="1">
                <a:ea typeface="Inter"/>
              </a:rPr>
              <a:t>kogus</a:t>
            </a:r>
            <a:r>
              <a:rPr lang="en-US" sz="2000">
                <a:ea typeface="Inter"/>
              </a:rPr>
              <a:t>, </a:t>
            </a:r>
            <a:r>
              <a:rPr lang="en-US" sz="2000" err="1">
                <a:ea typeface="Inter"/>
              </a:rPr>
              <a:t>kes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rahastas</a:t>
            </a:r>
            <a:r>
              <a:rPr lang="en-US" sz="2000">
                <a:ea typeface="Inter"/>
              </a:rPr>
              <a:t>, </a:t>
            </a:r>
            <a:r>
              <a:rPr lang="en-US" sz="2000" err="1">
                <a:ea typeface="Inter"/>
              </a:rPr>
              <a:t>kuidas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koguti</a:t>
            </a:r>
            <a:r>
              <a:rPr lang="en-US" sz="2000">
                <a:ea typeface="Inter"/>
              </a:rPr>
              <a:t>?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Kas </a:t>
            </a:r>
            <a:r>
              <a:rPr lang="en-US" sz="2000" err="1">
                <a:ea typeface="Inter"/>
              </a:rPr>
              <a:t>andmete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esitamisel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võib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tekkida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vigu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kogemata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või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tahtlikult</a:t>
            </a:r>
            <a:r>
              <a:rPr lang="en-US" sz="2000">
                <a:ea typeface="Inter"/>
              </a:rPr>
              <a:t>?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</a:rPr>
              <a:t>Milline on </a:t>
            </a:r>
            <a:r>
              <a:rPr lang="en-US" sz="2000" err="1">
                <a:ea typeface="Inter"/>
              </a:rPr>
              <a:t>andmekvaliteet</a:t>
            </a:r>
            <a:r>
              <a:rPr lang="en-US" sz="2000">
                <a:ea typeface="Inter"/>
              </a:rPr>
              <a:t>?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</a:rPr>
              <a:t>Mida </a:t>
            </a:r>
            <a:r>
              <a:rPr lang="en-US" sz="2000" err="1">
                <a:ea typeface="Inter"/>
              </a:rPr>
              <a:t>kogutud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andmed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näitavad</a:t>
            </a:r>
            <a:r>
              <a:rPr lang="en-US" sz="2000">
                <a:ea typeface="Inter"/>
              </a:rPr>
              <a:t>?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Nt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lennukite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turvalisuse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tõstmine</a:t>
            </a:r>
            <a:r>
              <a:rPr lang="en-US" sz="2000">
                <a:ea typeface="Inter"/>
              </a:rPr>
              <a:t> - </a:t>
            </a:r>
            <a:r>
              <a:rPr lang="en-US" sz="2000" err="1">
                <a:ea typeface="Inter"/>
              </a:rPr>
              <a:t>sõjast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naasnud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lennukite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kuuliaukude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analüüs</a:t>
            </a:r>
            <a:r>
              <a:rPr lang="en-US" sz="2000">
                <a:ea typeface="Inter"/>
              </a:rPr>
              <a:t> - </a:t>
            </a:r>
            <a:r>
              <a:rPr lang="en-US" sz="2000" err="1">
                <a:ea typeface="Inter"/>
              </a:rPr>
              <a:t>kuhu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lisada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kaitset</a:t>
            </a:r>
            <a:r>
              <a:rPr lang="en-US" sz="2000">
                <a:ea typeface="Inter"/>
              </a:rPr>
              <a:t>?</a:t>
            </a:r>
          </a:p>
        </p:txBody>
      </p:sp>
      <p:pic>
        <p:nvPicPr>
          <p:cNvPr id="5" name="Content Placeholder 4" descr="undefined">
            <a:extLst>
              <a:ext uri="{FF2B5EF4-FFF2-40B4-BE49-F238E27FC236}">
                <a16:creationId xmlns:a16="http://schemas.microsoft.com/office/drawing/2014/main" id="{88D9DBC3-F81B-F4BD-FDBC-5516A801FDB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8419765" y="1502242"/>
            <a:ext cx="3148347" cy="2343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979292-3023-2406-1314-61CFF1EE20E4}"/>
              </a:ext>
            </a:extLst>
          </p:cNvPr>
          <p:cNvSpPr txBox="1"/>
          <p:nvPr/>
        </p:nvSpPr>
        <p:spPr>
          <a:xfrm>
            <a:off x="7990973" y="4160921"/>
            <a:ext cx="40004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ea typeface="Inter"/>
              </a:rPr>
              <a:t>Joonise</a:t>
            </a:r>
            <a:r>
              <a:rPr lang="en-US" sz="1400">
                <a:ea typeface="Inter"/>
              </a:rPr>
              <a:t> </a:t>
            </a:r>
            <a:r>
              <a:rPr lang="en-US" sz="1400" err="1">
                <a:ea typeface="Inter"/>
              </a:rPr>
              <a:t>allikas</a:t>
            </a:r>
            <a:r>
              <a:rPr lang="en-US" sz="1400">
                <a:ea typeface="Inter"/>
              </a:rPr>
              <a:t>: </a:t>
            </a:r>
            <a:r>
              <a:rPr lang="en-US" sz="1400">
                <a:ea typeface="Inter"/>
                <a:hlinkClick r:id="rId3"/>
              </a:rPr>
              <a:t>Wikipedia – </a:t>
            </a:r>
            <a:r>
              <a:rPr lang="en-US" sz="1400">
                <a:ea typeface="+mn-lt"/>
                <a:cs typeface="+mn-lt"/>
                <a:hlinkClick r:id="rId3"/>
              </a:rPr>
              <a:t>Survivorship bias</a:t>
            </a:r>
            <a:endParaRPr lang="en-US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9794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A774-AA87-A51C-4B4E-368644DF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051E2-1981-EB29-86CB-C7FA6D0B54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Andmepõhine</a:t>
            </a:r>
            <a:r>
              <a:rPr lang="en-US"/>
              <a:t> </a:t>
            </a:r>
            <a:r>
              <a:rPr lang="en-US" err="1"/>
              <a:t>otsustamine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A1C03-557B-6A48-F61C-36C2692CD6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507662" cy="4465637"/>
          </a:xfrm>
        </p:spPr>
        <p:txBody>
          <a:bodyPr/>
          <a:lstStyle/>
          <a:p>
            <a:r>
              <a:rPr lang="en-US" sz="2000">
                <a:ea typeface="Inter"/>
              </a:rPr>
              <a:t>Lisaks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andmetele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alati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domeeniteadmine</a:t>
            </a:r>
            <a:endParaRPr lang="en-US" sz="2000" b="1" err="1">
              <a:solidFill>
                <a:srgbClr val="003865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86510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7F74-3ADC-4F01-EEE4-424291A6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3900-C146-77E0-22DF-4A4C64647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Lisamaterjale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C1BD2BE-701E-16D5-50C2-18AC0F819B1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507662" cy="4465637"/>
          </a:xfrm>
        </p:spPr>
        <p:txBody>
          <a:bodyPr/>
          <a:lstStyle/>
          <a:p>
            <a:r>
              <a:rPr lang="en-US" sz="2000" dirty="0" err="1">
                <a:ea typeface="Inter"/>
              </a:rPr>
              <a:t>Digiriigiakadeemia</a:t>
            </a:r>
            <a:r>
              <a:rPr lang="en-US" sz="2000" dirty="0">
                <a:ea typeface="Inter"/>
              </a:rPr>
              <a:t> </a:t>
            </a:r>
            <a:r>
              <a:rPr lang="en-US" sz="2000" dirty="0" err="1">
                <a:ea typeface="Inter"/>
              </a:rPr>
              <a:t>kursus</a:t>
            </a:r>
            <a:r>
              <a:rPr lang="en-US" sz="2000" dirty="0">
                <a:ea typeface="Inter"/>
              </a:rPr>
              <a:t>: </a:t>
            </a:r>
            <a:r>
              <a:rPr lang="en-US" sz="2000" b="1" dirty="0" err="1">
                <a:solidFill>
                  <a:srgbClr val="003865"/>
                </a:solidFill>
                <a:latin typeface="Roboto"/>
                <a:ea typeface="Roboto"/>
                <a:cs typeface="Roboto"/>
                <a:hlinkClick r:id="rId2"/>
              </a:rPr>
              <a:t>Andmepõhine</a:t>
            </a:r>
            <a:r>
              <a:rPr lang="en-US" sz="2000" b="1" dirty="0">
                <a:solidFill>
                  <a:srgbClr val="003865"/>
                </a:solidFill>
                <a:latin typeface="Roboto"/>
                <a:ea typeface="Roboto"/>
                <a:cs typeface="Roboto"/>
                <a:hlinkClick r:id="rId2"/>
              </a:rPr>
              <a:t> </a:t>
            </a:r>
            <a:r>
              <a:rPr lang="en-US" sz="2000" b="1" dirty="0" err="1">
                <a:solidFill>
                  <a:srgbClr val="003865"/>
                </a:solidFill>
                <a:latin typeface="Roboto"/>
                <a:ea typeface="Roboto"/>
                <a:cs typeface="Roboto"/>
                <a:hlinkClick r:id="rId2"/>
              </a:rPr>
              <a:t>otsustamine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0578393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1221</Words>
  <Application>Microsoft Office PowerPoint</Application>
  <PresentationFormat>Widescreen</PresentationFormat>
  <Paragraphs>221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Inter</vt:lpstr>
      <vt:lpstr>Wingdings</vt:lpstr>
      <vt:lpstr>Roboto</vt:lpstr>
      <vt:lpstr>Calibri</vt:lpstr>
      <vt:lpstr>Arial</vt:lpstr>
      <vt:lpstr>Poppins SemiBold</vt:lpstr>
      <vt:lpstr>Inter Bold</vt:lpstr>
      <vt:lpstr>Courier New</vt:lpstr>
      <vt:lpstr>BCS</vt:lpstr>
      <vt:lpstr>Vali Andmetarkus!</vt:lpstr>
      <vt:lpstr>Päevakava - XIII päev</vt:lpstr>
      <vt:lpstr>Andmetüübid</vt:lpstr>
      <vt:lpstr>Andmetüübid</vt:lpstr>
      <vt:lpstr>Kirjeldav statistika – keskmise näitajad</vt:lpstr>
      <vt:lpstr>Kirjeldav statistika – keskmise näitajad näide</vt:lpstr>
      <vt:lpstr>Kirjeldav statistika – hajuvuse näitajad</vt:lpstr>
      <vt:lpstr>Kirjeldav statistika – hajuvuse näitajad näide</vt:lpstr>
      <vt:lpstr>Näiteid tunnuse jaotustest ja võimalikest põhjustest</vt:lpstr>
      <vt:lpstr>Normaaljaotus</vt:lpstr>
      <vt:lpstr>Paus 10:30-10:45</vt:lpstr>
      <vt:lpstr>Excel statistiliseks analüüsiks</vt:lpstr>
      <vt:lpstr>Kirjeldav analüüs</vt:lpstr>
      <vt:lpstr>Korrelatsioon – seos kahe muutuja vahel</vt:lpstr>
      <vt:lpstr>Reklaamikulutuste seos müügiga</vt:lpstr>
      <vt:lpstr>Seose tõlgendamine</vt:lpstr>
      <vt:lpstr>P-väärtuse tõlgendamine</vt:lpstr>
      <vt:lpstr>Võrdlev analüüs - keskmiste erinevus – T-test</vt:lpstr>
      <vt:lpstr>T-testi tüübid</vt:lpstr>
      <vt:lpstr>Kahe pakiroboti tarkvara võrdlus</vt:lpstr>
      <vt:lpstr>Kategoriaalsete tunnuste seose analüüs - hii-ruut-statistik</vt:lpstr>
      <vt:lpstr>Reklaamikanalite võrdlus Exceliga</vt:lpstr>
      <vt:lpstr>Statistika lisamaterjalid</vt:lpstr>
      <vt:lpstr>Lõunapaus 12:15-13:15</vt:lpstr>
      <vt:lpstr>Kinnisvarahindade seos kinnisvara suurusega analüüs Exceliga</vt:lpstr>
      <vt:lpstr>Kodulehe muutuse mõju ostukorvi suurusele Exceliga</vt:lpstr>
      <vt:lpstr>Paus 14:45-15:00</vt:lpstr>
      <vt:lpstr>Funktsionaalsuse kasutamise mõju maksvaks kliendiks muutumisele Exceliga</vt:lpstr>
      <vt:lpstr>Andmepõhine otsustamine</vt:lpstr>
      <vt:lpstr>Andmepõhine otsustamine</vt:lpstr>
      <vt:lpstr>Lisamaterjale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2</cp:revision>
  <dcterms:created xsi:type="dcterms:W3CDTF">2021-08-27T11:35:28Z</dcterms:created>
  <dcterms:modified xsi:type="dcterms:W3CDTF">2026-04-16T08:36:48Z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