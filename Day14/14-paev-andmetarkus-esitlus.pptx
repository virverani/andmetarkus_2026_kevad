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417" r:id="rId5"/>
    <p:sldId id="493" r:id="rId6"/>
    <p:sldId id="439" r:id="rId7"/>
    <p:sldId id="642" r:id="rId8"/>
    <p:sldId id="646" r:id="rId9"/>
    <p:sldId id="440" r:id="rId10"/>
    <p:sldId id="501" r:id="rId11"/>
    <p:sldId id="575" r:id="rId12"/>
    <p:sldId id="504" r:id="rId13"/>
    <p:sldId id="576" r:id="rId14"/>
    <p:sldId id="441" r:id="rId15"/>
    <p:sldId id="566" r:id="rId16"/>
    <p:sldId id="614" r:id="rId17"/>
    <p:sldId id="615" r:id="rId18"/>
    <p:sldId id="616" r:id="rId19"/>
    <p:sldId id="617" r:id="rId20"/>
    <p:sldId id="618" r:id="rId21"/>
    <p:sldId id="569" r:id="rId22"/>
    <p:sldId id="577" r:id="rId23"/>
    <p:sldId id="568" r:id="rId24"/>
    <p:sldId id="647" r:id="rId25"/>
    <p:sldId id="649" r:id="rId26"/>
    <p:sldId id="574" r:id="rId27"/>
    <p:sldId id="645" r:id="rId28"/>
    <p:sldId id="538" r:id="rId29"/>
    <p:sldId id="650" r:id="rId30"/>
  </p:sldIdLst>
  <p:sldSz cx="12192000" cy="6858000"/>
  <p:notesSz cx="6858000" cy="9144000"/>
  <p:embeddedFontLst>
    <p:embeddedFont>
      <p:font typeface="Inter" panose="020B0604020202020204" charset="0"/>
      <p:regular r:id="rId33"/>
      <p:bold r:id="rId34"/>
    </p:embeddedFont>
    <p:embeddedFont>
      <p:font typeface="Inter Bold" panose="020B0604020202020204" charset="0"/>
      <p:bold r:id="rId35"/>
    </p:embeddedFont>
    <p:embeddedFont>
      <p:font typeface="Noto Serif" panose="02020600060500020200" pitchFamily="18" charset="0"/>
      <p:regular r:id="rId36"/>
      <p:bold r:id="rId37"/>
      <p:italic r:id="rId38"/>
      <p:boldItalic r:id="rId39"/>
    </p:embeddedFont>
    <p:embeddedFont>
      <p:font typeface="Poppins SemiBold" panose="00000700000000000000" pitchFamily="2" charset="0"/>
      <p:bold r:id="rId40"/>
      <p:boldItalic r:id="rId41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C6D2C-2DE5-4622-B5C9-CE21C0F1885C}" v="4" dt="2026-04-14T08:00:40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addSld delSld modSld sldOrd">
      <pc:chgData name="Virve Räni" userId="161a7437-7ef4-49ec-91bf-54882f313dfe" providerId="ADAL" clId="{6D754EED-65AA-4A21-B175-6769012CF487}" dt="2026-04-14T08:00:46.453" v="353" actId="255"/>
      <pc:docMkLst>
        <pc:docMk/>
      </pc:docMkLst>
      <pc:sldChg chg="modSp mod">
        <pc:chgData name="Virve Räni" userId="161a7437-7ef4-49ec-91bf-54882f313dfe" providerId="ADAL" clId="{6D754EED-65AA-4A21-B175-6769012CF487}" dt="2026-04-14T07:54:41.652" v="271"/>
        <pc:sldMkLst>
          <pc:docMk/>
          <pc:sldMk cId="1135419376" sldId="493"/>
        </pc:sldMkLst>
        <pc:spChg chg="mod">
          <ac:chgData name="Virve Räni" userId="161a7437-7ef4-49ec-91bf-54882f313dfe" providerId="ADAL" clId="{6D754EED-65AA-4A21-B175-6769012CF487}" dt="2026-03-18T07:09:06.027" v="150" actId="20577"/>
          <ac:spMkLst>
            <pc:docMk/>
            <pc:sldMk cId="1135419376" sldId="493"/>
            <ac:spMk id="2" creationId="{11F10058-A289-F9F8-2CC8-43BAABEC6F7E}"/>
          </ac:spMkLst>
        </pc:spChg>
        <pc:graphicFrameChg chg="mod modGraphic">
          <ac:chgData name="Virve Räni" userId="161a7437-7ef4-49ec-91bf-54882f313dfe" providerId="ADAL" clId="{6D754EED-65AA-4A21-B175-6769012CF487}" dt="2026-04-14T07:54:41.652" v="271"/>
          <ac:graphicFrameMkLst>
            <pc:docMk/>
            <pc:sldMk cId="1135419376" sldId="493"/>
            <ac:graphicFrameMk id="5" creationId="{CBF1AB3B-1697-834A-B482-18B1385C686D}"/>
          </ac:graphicFrameMkLst>
        </pc:graphicFrameChg>
      </pc:sldChg>
      <pc:sldChg chg="add">
        <pc:chgData name="Virve Räni" userId="161a7437-7ef4-49ec-91bf-54882f313dfe" providerId="ADAL" clId="{6D754EED-65AA-4A21-B175-6769012CF487}" dt="2026-04-14T07:59:42.079" v="308"/>
        <pc:sldMkLst>
          <pc:docMk/>
          <pc:sldMk cId="1694942831" sldId="538"/>
        </pc:sldMkLst>
      </pc:sldChg>
      <pc:sldChg chg="add">
        <pc:chgData name="Virve Räni" userId="161a7437-7ef4-49ec-91bf-54882f313dfe" providerId="ADAL" clId="{6D754EED-65AA-4A21-B175-6769012CF487}" dt="2026-04-14T07:59:42.079" v="308"/>
        <pc:sldMkLst>
          <pc:docMk/>
          <pc:sldMk cId="645017635" sldId="574"/>
        </pc:sldMkLst>
      </pc:sldChg>
      <pc:sldChg chg="modSp mod">
        <pc:chgData name="Virve Räni" userId="161a7437-7ef4-49ec-91bf-54882f313dfe" providerId="ADAL" clId="{6D754EED-65AA-4A21-B175-6769012CF487}" dt="2026-03-18T07:09:43.035" v="153" actId="20577"/>
        <pc:sldMkLst>
          <pc:docMk/>
          <pc:sldMk cId="3594503753" sldId="642"/>
        </pc:sldMkLst>
        <pc:spChg chg="mod">
          <ac:chgData name="Virve Räni" userId="161a7437-7ef4-49ec-91bf-54882f313dfe" providerId="ADAL" clId="{6D754EED-65AA-4A21-B175-6769012CF487}" dt="2026-03-18T07:09:43.035" v="153" actId="20577"/>
          <ac:spMkLst>
            <pc:docMk/>
            <pc:sldMk cId="3594503753" sldId="642"/>
            <ac:spMk id="3" creationId="{3C81D5B4-C589-0639-1E36-78C95C29E601}"/>
          </ac:spMkLst>
        </pc:spChg>
      </pc:sldChg>
      <pc:sldChg chg="add">
        <pc:chgData name="Virve Räni" userId="161a7437-7ef4-49ec-91bf-54882f313dfe" providerId="ADAL" clId="{6D754EED-65AA-4A21-B175-6769012CF487}" dt="2026-04-14T07:59:42.079" v="308"/>
        <pc:sldMkLst>
          <pc:docMk/>
          <pc:sldMk cId="1674079011" sldId="645"/>
        </pc:sldMkLst>
      </pc:sldChg>
      <pc:sldChg chg="modSp mod">
        <pc:chgData name="Virve Räni" userId="161a7437-7ef4-49ec-91bf-54882f313dfe" providerId="ADAL" clId="{6D754EED-65AA-4A21-B175-6769012CF487}" dt="2026-03-18T07:14:04.301" v="168" actId="20577"/>
        <pc:sldMkLst>
          <pc:docMk/>
          <pc:sldMk cId="1871966603" sldId="647"/>
        </pc:sldMkLst>
        <pc:spChg chg="mod">
          <ac:chgData name="Virve Räni" userId="161a7437-7ef4-49ec-91bf-54882f313dfe" providerId="ADAL" clId="{6D754EED-65AA-4A21-B175-6769012CF487}" dt="2026-03-18T07:14:04.301" v="168" actId="20577"/>
          <ac:spMkLst>
            <pc:docMk/>
            <pc:sldMk cId="1871966603" sldId="647"/>
            <ac:spMk id="3" creationId="{0F58F04F-79CF-D596-2442-C7AA52CDBB45}"/>
          </ac:spMkLst>
        </pc:spChg>
      </pc:sldChg>
      <pc:sldChg chg="modSp new del mod">
        <pc:chgData name="Virve Räni" userId="161a7437-7ef4-49ec-91bf-54882f313dfe" providerId="ADAL" clId="{6D754EED-65AA-4A21-B175-6769012CF487}" dt="2026-04-14T07:59:46.607" v="309" actId="47"/>
        <pc:sldMkLst>
          <pc:docMk/>
          <pc:sldMk cId="3046746180" sldId="648"/>
        </pc:sldMkLst>
        <pc:spChg chg="mod">
          <ac:chgData name="Virve Räni" userId="161a7437-7ef4-49ec-91bf-54882f313dfe" providerId="ADAL" clId="{6D754EED-65AA-4A21-B175-6769012CF487}" dt="2026-04-14T07:55:26.861" v="307" actId="20577"/>
          <ac:spMkLst>
            <pc:docMk/>
            <pc:sldMk cId="3046746180" sldId="648"/>
            <ac:spMk id="2" creationId="{6A72FBA8-9375-0A43-3A3A-3ADB365D7C58}"/>
          </ac:spMkLst>
        </pc:spChg>
      </pc:sldChg>
      <pc:sldChg chg="modSp add mod">
        <pc:chgData name="Virve Räni" userId="161a7437-7ef4-49ec-91bf-54882f313dfe" providerId="ADAL" clId="{6D754EED-65AA-4A21-B175-6769012CF487}" dt="2026-04-14T07:55:19.380" v="284" actId="20577"/>
        <pc:sldMkLst>
          <pc:docMk/>
          <pc:sldMk cId="3267241536" sldId="649"/>
        </pc:sldMkLst>
        <pc:spChg chg="mod">
          <ac:chgData name="Virve Räni" userId="161a7437-7ef4-49ec-91bf-54882f313dfe" providerId="ADAL" clId="{6D754EED-65AA-4A21-B175-6769012CF487}" dt="2026-04-14T07:55:19.380" v="284" actId="20577"/>
          <ac:spMkLst>
            <pc:docMk/>
            <pc:sldMk cId="3267241536" sldId="649"/>
            <ac:spMk id="5" creationId="{F302593E-1699-CD76-2AB7-FB29D7F743E7}"/>
          </ac:spMkLst>
        </pc:spChg>
      </pc:sldChg>
      <pc:sldChg chg="modSp new mod">
        <pc:chgData name="Virve Räni" userId="161a7437-7ef4-49ec-91bf-54882f313dfe" providerId="ADAL" clId="{6D754EED-65AA-4A21-B175-6769012CF487}" dt="2026-04-14T08:00:46.453" v="353" actId="255"/>
        <pc:sldMkLst>
          <pc:docMk/>
          <pc:sldMk cId="1519353560" sldId="650"/>
        </pc:sldMkLst>
        <pc:spChg chg="mod">
          <ac:chgData name="Virve Räni" userId="161a7437-7ef4-49ec-91bf-54882f313dfe" providerId="ADAL" clId="{6D754EED-65AA-4A21-B175-6769012CF487}" dt="2026-04-14T08:00:37.653" v="345" actId="20577"/>
          <ac:spMkLst>
            <pc:docMk/>
            <pc:sldMk cId="1519353560" sldId="650"/>
            <ac:spMk id="2" creationId="{A93AD8D0-6DB4-575E-917E-EF1716356808}"/>
          </ac:spMkLst>
        </pc:spChg>
        <pc:spChg chg="mod">
          <ac:chgData name="Virve Räni" userId="161a7437-7ef4-49ec-91bf-54882f313dfe" providerId="ADAL" clId="{6D754EED-65AA-4A21-B175-6769012CF487}" dt="2026-04-14T08:00:46.453" v="353" actId="255"/>
          <ac:spMkLst>
            <pc:docMk/>
            <pc:sldMk cId="1519353560" sldId="650"/>
            <ac:spMk id="3" creationId="{4A604898-1A89-32D0-7964-55457B42E9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14.04.2026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ki.ee/isikuandmed/juhendid/oigustatud-huvi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ki.ee/isikuandmed/andmetootlejale/tootlemise-oiguslikud-alused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T/TXT/HTML/?uri=CELEX:32016R0679#art_9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ki.ee/isikuandmed/andmetootlejale/tootlemise-oiguslikud-alused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Kes on </a:t>
            </a:r>
            <a:r>
              <a:rPr lang="en-US" err="1">
                <a:ea typeface="Calibri"/>
                <a:cs typeface="Calibri"/>
              </a:rPr>
              <a:t>andmesubjekt</a:t>
            </a:r>
            <a:r>
              <a:rPr lang="en-US">
                <a:ea typeface="Calibri"/>
                <a:cs typeface="Calibri"/>
              </a:rPr>
              <a:t>?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Isikuandmete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kaitse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seadus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reguleerib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lisaks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IKÜMile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Viktoriin</a:t>
            </a:r>
            <a:r>
              <a:rPr lang="en-US">
                <a:ea typeface="Calibri"/>
                <a:cs typeface="Calibri"/>
              </a:rPr>
              <a:t> – kas on </a:t>
            </a:r>
            <a:r>
              <a:rPr lang="en-US" err="1">
                <a:ea typeface="Calibri"/>
                <a:cs typeface="Calibri"/>
              </a:rPr>
              <a:t>isikuandmed</a:t>
            </a:r>
            <a:r>
              <a:rPr lang="en-US">
                <a:ea typeface="Calibri"/>
                <a:cs typeface="Calibri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7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F0E9-07AE-0CD2-A825-3600D7B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5C036-60BB-2163-3CFE-ED5F6A5BE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12E31-CE65-64FA-8E2C-25D81D30B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NÕUSOLEK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Inimene</a:t>
            </a:r>
            <a:r>
              <a:rPr lang="en-US"/>
              <a:t> on </a:t>
            </a:r>
            <a:r>
              <a:rPr lang="en-US" err="1"/>
              <a:t>andnud</a:t>
            </a:r>
            <a:r>
              <a:rPr lang="en-US"/>
              <a:t> </a:t>
            </a:r>
            <a:r>
              <a:rPr lang="en-US" err="1"/>
              <a:t>vabatahtliku</a:t>
            </a:r>
            <a:r>
              <a:rPr lang="en-US"/>
              <a:t> </a:t>
            </a:r>
            <a:r>
              <a:rPr lang="en-US" err="1"/>
              <a:t>selgesõnalise</a:t>
            </a:r>
            <a:r>
              <a:rPr lang="en-US"/>
              <a:t> </a:t>
            </a:r>
            <a:r>
              <a:rPr lang="en-US" err="1"/>
              <a:t>nõusoleku</a:t>
            </a:r>
            <a:r>
              <a:rPr lang="en-US"/>
              <a:t> </a:t>
            </a:r>
            <a:r>
              <a:rPr lang="en-US" err="1"/>
              <a:t>toiminguteks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isikuandmetega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LEPINGU TÄITMINE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inimesega</a:t>
            </a:r>
            <a:r>
              <a:rPr lang="en-US"/>
              <a:t> </a:t>
            </a:r>
            <a:r>
              <a:rPr lang="en-US" err="1"/>
              <a:t>sõlmitud</a:t>
            </a:r>
            <a:r>
              <a:rPr lang="en-US"/>
              <a:t> </a:t>
            </a:r>
            <a:r>
              <a:rPr lang="en-US" err="1"/>
              <a:t>lepingu</a:t>
            </a:r>
            <a:r>
              <a:rPr lang="en-US"/>
              <a:t> </a:t>
            </a:r>
            <a:r>
              <a:rPr lang="en-US" err="1"/>
              <a:t>täitmiseks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lepingu</a:t>
            </a:r>
            <a:r>
              <a:rPr lang="en-US"/>
              <a:t> </a:t>
            </a:r>
            <a:r>
              <a:rPr lang="en-US" err="1"/>
              <a:t>sõlmimisele</a:t>
            </a:r>
            <a:r>
              <a:rPr lang="en-US"/>
              <a:t> </a:t>
            </a:r>
            <a:r>
              <a:rPr lang="en-US" err="1"/>
              <a:t>eelnevate</a:t>
            </a:r>
            <a:r>
              <a:rPr lang="en-US"/>
              <a:t> </a:t>
            </a:r>
            <a:r>
              <a:rPr lang="en-US" err="1"/>
              <a:t>meetmete</a:t>
            </a:r>
            <a:r>
              <a:rPr lang="en-US"/>
              <a:t> </a:t>
            </a:r>
            <a:r>
              <a:rPr lang="en-US" err="1"/>
              <a:t>võtmiseks</a:t>
            </a:r>
            <a:r>
              <a:rPr lang="en-US"/>
              <a:t> </a:t>
            </a:r>
            <a:r>
              <a:rPr lang="en-US" err="1"/>
              <a:t>vastavalt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 </a:t>
            </a:r>
            <a:r>
              <a:rPr lang="en-US" err="1"/>
              <a:t>taotlusele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SEADUSEJÄRGSE KOHUSTUSE TÄITMINE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Isikuandmete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töötlemine</a:t>
            </a:r>
            <a:r>
              <a:rPr lang="en-US">
                <a:solidFill>
                  <a:srgbClr val="000000"/>
                </a:solidFill>
              </a:rPr>
              <a:t> on </a:t>
            </a:r>
            <a:r>
              <a:rPr lang="en-US" err="1">
                <a:solidFill>
                  <a:srgbClr val="000000"/>
                </a:solidFill>
              </a:rPr>
              <a:t>vajalik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vastutava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/>
              <a:t>töötleja</a:t>
            </a:r>
            <a:r>
              <a:rPr lang="en-US"/>
              <a:t> </a:t>
            </a:r>
            <a:r>
              <a:rPr lang="en-US" err="1"/>
              <a:t>juriidilise</a:t>
            </a:r>
            <a:r>
              <a:rPr lang="en-US"/>
              <a:t> </a:t>
            </a:r>
            <a:r>
              <a:rPr lang="en-US" err="1"/>
              <a:t>ehk</a:t>
            </a:r>
            <a:r>
              <a:rPr lang="en-US"/>
              <a:t> </a:t>
            </a:r>
            <a:r>
              <a:rPr lang="en-US" err="1"/>
              <a:t>seadusjärgse</a:t>
            </a:r>
            <a:r>
              <a:rPr lang="en-US"/>
              <a:t> </a:t>
            </a:r>
            <a:r>
              <a:rPr lang="en-US" err="1"/>
              <a:t>kohustuse</a:t>
            </a:r>
            <a:r>
              <a:rPr lang="en-US"/>
              <a:t> </a:t>
            </a:r>
            <a:r>
              <a:rPr lang="en-US" err="1"/>
              <a:t>täitmiseks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ELULISTE HUVIDE KAITSMINE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mõne</a:t>
            </a:r>
            <a:r>
              <a:rPr lang="en-US"/>
              <a:t> </a:t>
            </a:r>
            <a:r>
              <a:rPr lang="en-US" err="1"/>
              <a:t>muu</a:t>
            </a:r>
            <a:r>
              <a:rPr lang="en-US"/>
              <a:t> </a:t>
            </a:r>
            <a:r>
              <a:rPr lang="en-US" err="1"/>
              <a:t>füüsilise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eluliste</a:t>
            </a:r>
            <a:r>
              <a:rPr lang="en-US"/>
              <a:t> </a:t>
            </a:r>
            <a:r>
              <a:rPr lang="en-US" err="1"/>
              <a:t>huvide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kaitsmiseks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AVALIKES HUVIDES OLEVA ÜLESANDE TÄITMINE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</a:t>
            </a:r>
            <a:r>
              <a:rPr lang="en-US" err="1"/>
              <a:t>avalikes</a:t>
            </a:r>
            <a:r>
              <a:rPr lang="en-US"/>
              <a:t> </a:t>
            </a:r>
            <a:r>
              <a:rPr lang="en-US" err="1"/>
              <a:t>huvides</a:t>
            </a:r>
            <a:r>
              <a:rPr lang="en-US"/>
              <a:t> </a:t>
            </a:r>
            <a:r>
              <a:rPr lang="en-US" err="1"/>
              <a:t>oleva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ülesande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täitmiseks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vastutava</a:t>
            </a:r>
            <a:r>
              <a:rPr lang="en-US"/>
              <a:t> </a:t>
            </a:r>
            <a:r>
              <a:rPr lang="en-US" err="1"/>
              <a:t>töötleja</a:t>
            </a:r>
            <a:r>
              <a:rPr lang="en-US"/>
              <a:t> </a:t>
            </a:r>
            <a:r>
              <a:rPr lang="en-US" err="1"/>
              <a:t>avaliku</a:t>
            </a:r>
            <a:r>
              <a:rPr lang="en-US"/>
              <a:t> </a:t>
            </a:r>
            <a:r>
              <a:rPr lang="en-US" err="1"/>
              <a:t>võimu</a:t>
            </a:r>
            <a:r>
              <a:rPr lang="en-US"/>
              <a:t> </a:t>
            </a:r>
            <a:r>
              <a:rPr lang="en-US" err="1"/>
              <a:t>teostamiseks</a:t>
            </a:r>
            <a:r>
              <a:rPr lang="en-US"/>
              <a:t> on </a:t>
            </a:r>
            <a:r>
              <a:rPr lang="en-US" err="1"/>
              <a:t>reguleeritud</a:t>
            </a:r>
            <a:r>
              <a:rPr lang="en-US"/>
              <a:t> </a:t>
            </a:r>
            <a:r>
              <a:rPr lang="en-US" err="1"/>
              <a:t>siseriiklikus</a:t>
            </a:r>
            <a:r>
              <a:rPr lang="en-US"/>
              <a:t> </a:t>
            </a:r>
            <a:r>
              <a:rPr lang="en-US" err="1"/>
              <a:t>õiguses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ÕIGUSTATUD HUVI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vastutava</a:t>
            </a:r>
            <a:r>
              <a:rPr lang="en-US"/>
              <a:t> </a:t>
            </a:r>
            <a:r>
              <a:rPr lang="en-US" err="1"/>
              <a:t>töötleja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kolmanda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õigustatud</a:t>
            </a:r>
            <a:r>
              <a:rPr lang="en-US"/>
              <a:t> </a:t>
            </a:r>
            <a:r>
              <a:rPr lang="en-US" err="1"/>
              <a:t>huvi</a:t>
            </a:r>
            <a:r>
              <a:rPr lang="en-US"/>
              <a:t> </a:t>
            </a:r>
            <a:r>
              <a:rPr lang="en-US" err="1"/>
              <a:t>korral</a:t>
            </a:r>
            <a:r>
              <a:rPr lang="en-US"/>
              <a:t> </a:t>
            </a:r>
            <a:r>
              <a:rPr lang="en-US" err="1"/>
              <a:t>ning</a:t>
            </a:r>
            <a:r>
              <a:rPr lang="en-US"/>
              <a:t> </a:t>
            </a:r>
            <a:r>
              <a:rPr lang="en-US" err="1"/>
              <a:t>juhul</a:t>
            </a:r>
            <a:r>
              <a:rPr lang="en-US"/>
              <a:t>, </a:t>
            </a:r>
            <a:r>
              <a:rPr lang="en-US" err="1"/>
              <a:t>kui</a:t>
            </a:r>
            <a:r>
              <a:rPr lang="en-US"/>
              <a:t> see </a:t>
            </a:r>
            <a:r>
              <a:rPr lang="en-US" err="1"/>
              <a:t>kaalub</a:t>
            </a:r>
            <a:r>
              <a:rPr lang="en-US"/>
              <a:t> </a:t>
            </a:r>
            <a:r>
              <a:rPr lang="en-US" err="1"/>
              <a:t>üles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 </a:t>
            </a:r>
            <a:r>
              <a:rPr lang="en-US" err="1"/>
              <a:t>põhiõigused</a:t>
            </a:r>
            <a:r>
              <a:rPr lang="en-US"/>
              <a:t> ja – </a:t>
            </a:r>
            <a:r>
              <a:rPr lang="en-US" err="1"/>
              <a:t>vabadused</a:t>
            </a:r>
            <a:r>
              <a:rPr lang="en-US"/>
              <a:t>. </a:t>
            </a:r>
          </a:p>
          <a:p>
            <a:pPr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Hinnang</a:t>
            </a:r>
            <a:r>
              <a:rPr lang="en-US"/>
              <a:t>, kas </a:t>
            </a:r>
            <a:r>
              <a:rPr lang="en-US" err="1"/>
              <a:t>Teie</a:t>
            </a:r>
            <a:r>
              <a:rPr lang="en-US"/>
              <a:t> </a:t>
            </a:r>
            <a:r>
              <a:rPr lang="en-US" err="1"/>
              <a:t>õigustatud</a:t>
            </a:r>
            <a:r>
              <a:rPr lang="en-US"/>
              <a:t> </a:t>
            </a:r>
            <a:r>
              <a:rPr lang="en-US" err="1"/>
              <a:t>huvi</a:t>
            </a:r>
            <a:r>
              <a:rPr lang="en-US"/>
              <a:t> </a:t>
            </a:r>
            <a:r>
              <a:rPr lang="en-US" err="1"/>
              <a:t>töödelda</a:t>
            </a:r>
            <a:r>
              <a:rPr lang="en-US"/>
              <a:t> </a:t>
            </a:r>
            <a:r>
              <a:rPr lang="en-US" err="1"/>
              <a:t>kaalub</a:t>
            </a:r>
            <a:r>
              <a:rPr lang="en-US"/>
              <a:t> </a:t>
            </a:r>
            <a:r>
              <a:rPr lang="en-US" err="1"/>
              <a:t>üles</a:t>
            </a:r>
            <a:r>
              <a:rPr lang="en-US"/>
              <a:t> </a:t>
            </a:r>
            <a:r>
              <a:rPr lang="en-US" err="1"/>
              <a:t>teiste</a:t>
            </a:r>
            <a:r>
              <a:rPr lang="en-US"/>
              <a:t> </a:t>
            </a:r>
            <a:r>
              <a:rPr lang="en-US" err="1"/>
              <a:t>inimeste</a:t>
            </a:r>
            <a:r>
              <a:rPr lang="en-US"/>
              <a:t> </a:t>
            </a:r>
            <a:r>
              <a:rPr lang="en-US" err="1"/>
              <a:t>huvid</a:t>
            </a:r>
            <a:r>
              <a:rPr lang="en-US"/>
              <a:t>, </a:t>
            </a:r>
            <a:r>
              <a:rPr lang="en-US" err="1"/>
              <a:t>tuleb</a:t>
            </a:r>
            <a:r>
              <a:rPr lang="en-US"/>
              <a:t> </a:t>
            </a:r>
            <a:r>
              <a:rPr lang="en-US" err="1"/>
              <a:t>anda</a:t>
            </a:r>
            <a:r>
              <a:rPr lang="en-US"/>
              <a:t> </a:t>
            </a:r>
            <a:r>
              <a:rPr lang="en-US" err="1"/>
              <a:t>konkreetse</a:t>
            </a:r>
            <a:r>
              <a:rPr lang="en-US"/>
              <a:t> </a:t>
            </a:r>
            <a:r>
              <a:rPr lang="en-US" err="1"/>
              <a:t>juhtumi</a:t>
            </a:r>
            <a:r>
              <a:rPr lang="en-US"/>
              <a:t> </a:t>
            </a:r>
            <a:r>
              <a:rPr lang="en-US" err="1"/>
              <a:t>asjaolude</a:t>
            </a:r>
            <a:r>
              <a:rPr lang="en-US"/>
              <a:t> </a:t>
            </a:r>
            <a:r>
              <a:rPr lang="en-US" err="1"/>
              <a:t>põhjal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/>
              <a:t>Loe </a:t>
            </a:r>
            <a:r>
              <a:rPr lang="en-US" err="1"/>
              <a:t>täpsemalt</a:t>
            </a:r>
            <a:r>
              <a:rPr lang="en-US"/>
              <a:t> </a:t>
            </a:r>
            <a:r>
              <a:rPr lang="en-US">
                <a:solidFill>
                  <a:srgbClr val="003087"/>
                </a:solidFill>
                <a:hlinkClick r:id="rId3"/>
              </a:rPr>
              <a:t>õigustatud huvist</a:t>
            </a:r>
            <a:r>
              <a:rPr lang="en-US">
                <a:solidFill>
                  <a:srgbClr val="00308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Avaliku</a:t>
            </a:r>
            <a:r>
              <a:rPr lang="en-US"/>
              <a:t> </a:t>
            </a:r>
            <a:r>
              <a:rPr lang="en-US" err="1"/>
              <a:t>sektori</a:t>
            </a:r>
            <a:r>
              <a:rPr lang="en-US"/>
              <a:t> </a:t>
            </a:r>
            <a:r>
              <a:rPr lang="en-US" err="1"/>
              <a:t>asutus</a:t>
            </a:r>
            <a:r>
              <a:rPr lang="en-US"/>
              <a:t> </a:t>
            </a:r>
            <a:r>
              <a:rPr lang="en-US" err="1"/>
              <a:t>ei</a:t>
            </a:r>
            <a:r>
              <a:rPr lang="en-US"/>
              <a:t> </a:t>
            </a:r>
            <a:r>
              <a:rPr lang="en-US" err="1"/>
              <a:t>saa</a:t>
            </a:r>
            <a:r>
              <a:rPr lang="en-US"/>
              <a:t> </a:t>
            </a:r>
            <a:r>
              <a:rPr lang="en-US" err="1"/>
              <a:t>kohaldada</a:t>
            </a:r>
            <a:r>
              <a:rPr lang="en-US"/>
              <a:t> </a:t>
            </a:r>
            <a:r>
              <a:rPr lang="en-US" err="1"/>
              <a:t>õigustatud</a:t>
            </a:r>
            <a:r>
              <a:rPr lang="en-US"/>
              <a:t> </a:t>
            </a:r>
            <a:r>
              <a:rPr lang="en-US" err="1"/>
              <a:t>huvi</a:t>
            </a:r>
            <a:r>
              <a:rPr lang="en-US"/>
              <a:t> </a:t>
            </a:r>
            <a:r>
              <a:rPr lang="en-US" err="1"/>
              <a:t>oma</a:t>
            </a:r>
            <a:r>
              <a:rPr lang="en-US"/>
              <a:t> </a:t>
            </a:r>
            <a:r>
              <a:rPr lang="en-US" err="1"/>
              <a:t>ülesannete</a:t>
            </a:r>
            <a:r>
              <a:rPr lang="en-US"/>
              <a:t> </a:t>
            </a:r>
            <a:r>
              <a:rPr lang="en-US" err="1"/>
              <a:t>täitmisel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Allikas: </a:t>
            </a:r>
            <a:r>
              <a:rPr lang="en-US">
                <a:solidFill>
                  <a:srgbClr val="000000"/>
                </a:solidFill>
                <a:ea typeface="Calibri"/>
                <a:cs typeface="Calibri"/>
                <a:hlinkClick r:id="rId4"/>
              </a:rPr>
              <a:t>https://www.aki.ee/isikuandmed/andmetootlejale/tootlemise-oiguslikud-alused</a:t>
            </a: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F2EAB-5BCF-0D8F-0B27-38749D980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4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4FFB-A163-D850-127E-1FB19E27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D666A-7D37-B389-7EC2-0440E9309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CE3DB-E144-59DC-1809-36B9F1D4B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Isikuandmete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töötlemise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juures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toodud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välja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keeld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töödelda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eriliigilisi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isikuandmeid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välja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arvatud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juhtudel</a:t>
            </a:r>
            <a:r>
              <a:rPr lang="en-US">
                <a:ea typeface="Calibri"/>
                <a:cs typeface="Calibri"/>
              </a:rPr>
              <a:t>, mis on </a:t>
            </a:r>
            <a:r>
              <a:rPr lang="en-US" err="1">
                <a:ea typeface="Calibri"/>
                <a:cs typeface="Calibri"/>
              </a:rPr>
              <a:t>toodud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artikli</a:t>
            </a:r>
            <a:r>
              <a:rPr lang="en-US">
                <a:ea typeface="Calibri"/>
                <a:cs typeface="Calibri"/>
              </a:rPr>
              <a:t> 9 </a:t>
            </a:r>
            <a:r>
              <a:rPr lang="en-US" err="1">
                <a:ea typeface="Calibri"/>
                <a:cs typeface="Calibri"/>
              </a:rPr>
              <a:t>lõikes</a:t>
            </a:r>
            <a:r>
              <a:rPr lang="en-US">
                <a:ea typeface="Calibri"/>
                <a:cs typeface="Calibri"/>
              </a:rPr>
              <a:t>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132DF-C727-DFCC-8444-43B4524F6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00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575B-0F7E-9547-26BC-5BE121F5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CE877-3A54-10B0-1B14-D2B9750FB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CC4FC-F266-A1B6-11EF-FB57578C9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  <a:hlinkClick r:id="rId3"/>
              </a:rPr>
              <a:t>Isikuandmete kaitse üldmääruse artikkel 9 lõige 2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err="1">
                <a:solidFill>
                  <a:srgbClr val="000000"/>
                </a:solidFill>
              </a:rPr>
              <a:t>näeb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eriliigiliste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isikuandmete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töötlemise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alustena</a:t>
            </a:r>
            <a:r>
              <a:rPr lang="en-US">
                <a:solidFill>
                  <a:srgbClr val="000000"/>
                </a:solidFill>
              </a:rPr>
              <a:t>: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NÕUSOLEK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Inimene</a:t>
            </a:r>
            <a:r>
              <a:rPr lang="en-US"/>
              <a:t> on </a:t>
            </a:r>
            <a:r>
              <a:rPr lang="en-US" err="1"/>
              <a:t>andnud</a:t>
            </a:r>
            <a:r>
              <a:rPr lang="en-US"/>
              <a:t> </a:t>
            </a:r>
            <a:r>
              <a:rPr lang="en-US" err="1"/>
              <a:t>vabatahtliku</a:t>
            </a:r>
            <a:r>
              <a:rPr lang="en-US"/>
              <a:t> </a:t>
            </a:r>
            <a:r>
              <a:rPr lang="en-US" err="1"/>
              <a:t>selgesõnalise</a:t>
            </a:r>
            <a:r>
              <a:rPr lang="en-US"/>
              <a:t> </a:t>
            </a:r>
            <a:r>
              <a:rPr lang="en-US" err="1"/>
              <a:t>nõusoleku</a:t>
            </a:r>
            <a:r>
              <a:rPr lang="en-US"/>
              <a:t> </a:t>
            </a:r>
            <a:r>
              <a:rPr lang="en-US" err="1"/>
              <a:t>toiminguteks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isikuandmetega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SEADUS VÕI MUU SISERIIKLIK ÕIGUSAKT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Isikuandmeid</a:t>
            </a:r>
            <a:r>
              <a:rPr lang="en-US"/>
              <a:t> </a:t>
            </a: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seaduse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mõne</a:t>
            </a:r>
            <a:r>
              <a:rPr lang="en-US"/>
              <a:t> </a:t>
            </a:r>
            <a:r>
              <a:rPr lang="en-US" err="1"/>
              <a:t>muu</a:t>
            </a:r>
            <a:r>
              <a:rPr lang="en-US"/>
              <a:t> </a:t>
            </a:r>
            <a:r>
              <a:rPr lang="en-US" err="1"/>
              <a:t>siseriikliku</a:t>
            </a:r>
            <a:r>
              <a:rPr lang="en-US"/>
              <a:t> </a:t>
            </a:r>
            <a:r>
              <a:rPr lang="en-US" err="1"/>
              <a:t>õigusakti</a:t>
            </a:r>
            <a:r>
              <a:rPr lang="en-US"/>
              <a:t> </a:t>
            </a:r>
            <a:r>
              <a:rPr lang="en-US" err="1"/>
              <a:t>alusel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ELULISTE HUVIDE KAITSMINE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teise</a:t>
            </a:r>
            <a:r>
              <a:rPr lang="en-US"/>
              <a:t> </a:t>
            </a:r>
            <a:r>
              <a:rPr lang="en-US" err="1"/>
              <a:t>füüsilise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eluliste</a:t>
            </a:r>
            <a:r>
              <a:rPr lang="en-US"/>
              <a:t> </a:t>
            </a:r>
            <a:r>
              <a:rPr lang="en-US" err="1"/>
              <a:t>huvide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kaitseks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kui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inimene</a:t>
            </a:r>
            <a:r>
              <a:rPr lang="en-US">
                <a:solidFill>
                  <a:srgbClr val="000000"/>
                </a:solidFill>
              </a:rPr>
              <a:t> on </a:t>
            </a:r>
            <a:r>
              <a:rPr lang="en-US" err="1">
                <a:solidFill>
                  <a:srgbClr val="000000"/>
                </a:solidFill>
              </a:rPr>
              <a:t>füüsiliselt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õiguslikult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võimetu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nõusolekut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andma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ÕIGUSNÕUDE KOOSTAMINE, ESITAMINE VÕI KAITSMINE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õigusnõude</a:t>
            </a:r>
            <a:r>
              <a:rPr lang="en-US"/>
              <a:t> </a:t>
            </a:r>
            <a:r>
              <a:rPr lang="en-US" err="1"/>
              <a:t>koostamiseks</a:t>
            </a:r>
            <a:r>
              <a:rPr lang="en-US"/>
              <a:t>, </a:t>
            </a:r>
            <a:r>
              <a:rPr lang="en-US" err="1"/>
              <a:t>esitamiseks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kaitsmiseks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juhul</a:t>
            </a:r>
            <a:r>
              <a:rPr lang="en-US"/>
              <a:t>, </a:t>
            </a:r>
            <a:r>
              <a:rPr lang="en-US" err="1"/>
              <a:t>kui</a:t>
            </a:r>
            <a:r>
              <a:rPr lang="en-US"/>
              <a:t> </a:t>
            </a:r>
            <a:r>
              <a:rPr lang="en-US" err="1"/>
              <a:t>kohtud</a:t>
            </a:r>
            <a:r>
              <a:rPr lang="en-US"/>
              <a:t> </a:t>
            </a:r>
            <a:r>
              <a:rPr lang="en-US" err="1"/>
              <a:t>täidavad</a:t>
            </a:r>
            <a:r>
              <a:rPr lang="en-US"/>
              <a:t> </a:t>
            </a:r>
            <a:r>
              <a:rPr lang="en-US" err="1"/>
              <a:t>oma</a:t>
            </a:r>
            <a:r>
              <a:rPr lang="en-US"/>
              <a:t> </a:t>
            </a:r>
            <a:r>
              <a:rPr lang="en-US" err="1"/>
              <a:t>õigust</a:t>
            </a:r>
            <a:r>
              <a:rPr lang="en-US"/>
              <a:t> </a:t>
            </a:r>
            <a:r>
              <a:rPr lang="en-US" err="1"/>
              <a:t>mõistvat</a:t>
            </a:r>
            <a:r>
              <a:rPr lang="en-US"/>
              <a:t> </a:t>
            </a:r>
            <a:r>
              <a:rPr lang="en-US" err="1"/>
              <a:t>funktsiooni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ANDMESUBJEKT ON ISIKUANDMED ILMSELGELT AVALIKUSTANUD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isikuandmeid</a:t>
            </a:r>
            <a:r>
              <a:rPr lang="en-US"/>
              <a:t>, </a:t>
            </a:r>
            <a:r>
              <a:rPr lang="en-US" err="1"/>
              <a:t>mille</a:t>
            </a:r>
            <a:r>
              <a:rPr lang="en-US"/>
              <a:t> </a:t>
            </a:r>
            <a:r>
              <a:rPr lang="en-US" err="1"/>
              <a:t>andmesubjekt</a:t>
            </a:r>
            <a:r>
              <a:rPr lang="en-US"/>
              <a:t> on </a:t>
            </a:r>
            <a:r>
              <a:rPr lang="en-US" err="1"/>
              <a:t>ilmselgelt</a:t>
            </a:r>
            <a:r>
              <a:rPr lang="en-US"/>
              <a:t> </a:t>
            </a:r>
            <a:r>
              <a:rPr lang="en-US" err="1"/>
              <a:t>avalikustanud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AVALIKES HUVIDES TÖÖTLEMINE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võimalik</a:t>
            </a:r>
            <a:r>
              <a:rPr lang="en-US"/>
              <a:t> </a:t>
            </a:r>
            <a:r>
              <a:rPr lang="en-US" err="1"/>
              <a:t>siseriikliku</a:t>
            </a:r>
            <a:r>
              <a:rPr lang="en-US"/>
              <a:t> </a:t>
            </a:r>
            <a:r>
              <a:rPr lang="en-US" err="1"/>
              <a:t>õiguse</a:t>
            </a:r>
            <a:r>
              <a:rPr lang="en-US"/>
              <a:t> </a:t>
            </a:r>
            <a:r>
              <a:rPr lang="en-US" err="1"/>
              <a:t>alusel</a:t>
            </a:r>
            <a:r>
              <a:rPr lang="en-US"/>
              <a:t> ja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avalikes</a:t>
            </a:r>
            <a:r>
              <a:rPr lang="en-US"/>
              <a:t> </a:t>
            </a:r>
            <a:r>
              <a:rPr lang="en-US" err="1"/>
              <a:t>huvides</a:t>
            </a:r>
            <a:r>
              <a:rPr lang="en-US"/>
              <a:t> </a:t>
            </a:r>
            <a:r>
              <a:rPr lang="en-US" err="1"/>
              <a:t>ning</a:t>
            </a:r>
            <a:r>
              <a:rPr lang="en-US"/>
              <a:t> see </a:t>
            </a:r>
            <a:r>
              <a:rPr lang="en-US" err="1"/>
              <a:t>ei</a:t>
            </a:r>
            <a:r>
              <a:rPr lang="en-US"/>
              <a:t> </a:t>
            </a:r>
            <a:r>
              <a:rPr lang="en-US" err="1"/>
              <a:t>kahjusta</a:t>
            </a:r>
            <a:r>
              <a:rPr lang="en-US"/>
              <a:t> </a:t>
            </a:r>
            <a:r>
              <a:rPr lang="en-US" err="1"/>
              <a:t>ülemäära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 </a:t>
            </a:r>
            <a:r>
              <a:rPr lang="en-US" err="1"/>
              <a:t>õigusi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ÕIGUSPÄRASE TEGEVUSE RAAMES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Teatud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isikuandmeid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milleks</a:t>
            </a:r>
            <a:r>
              <a:rPr lang="en-US">
                <a:solidFill>
                  <a:srgbClr val="000000"/>
                </a:solidFill>
              </a:rPr>
              <a:t> on </a:t>
            </a:r>
            <a:r>
              <a:rPr lang="en-US" err="1">
                <a:solidFill>
                  <a:srgbClr val="000000"/>
                </a:solidFill>
              </a:rPr>
              <a:t>filosoofiliste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religioossete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ametiühinguliste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sihtasutuste</a:t>
            </a:r>
            <a:r>
              <a:rPr lang="en-US"/>
              <a:t>, </a:t>
            </a:r>
            <a:r>
              <a:rPr lang="en-US" err="1"/>
              <a:t>ühenduste</a:t>
            </a:r>
            <a:r>
              <a:rPr lang="en-US"/>
              <a:t> ja MTÜ-de </a:t>
            </a:r>
            <a:r>
              <a:rPr lang="en-US" err="1"/>
              <a:t>liikmelisusega</a:t>
            </a:r>
            <a:r>
              <a:rPr lang="en-US"/>
              <a:t> </a:t>
            </a:r>
            <a:r>
              <a:rPr lang="en-US" err="1"/>
              <a:t>soetud</a:t>
            </a:r>
            <a:r>
              <a:rPr lang="en-US"/>
              <a:t> </a:t>
            </a:r>
            <a:r>
              <a:rPr lang="en-US" err="1"/>
              <a:t>andmed</a:t>
            </a:r>
            <a:r>
              <a:rPr lang="en-US"/>
              <a:t>, </a:t>
            </a: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õiguspärase</a:t>
            </a:r>
            <a:r>
              <a:rPr lang="en-US"/>
              <a:t> </a:t>
            </a:r>
            <a:r>
              <a:rPr lang="en-US" err="1"/>
              <a:t>tegevuse</a:t>
            </a:r>
            <a:r>
              <a:rPr lang="en-US"/>
              <a:t> </a:t>
            </a:r>
            <a:r>
              <a:rPr lang="en-US" err="1"/>
              <a:t>raames</a:t>
            </a:r>
            <a:r>
              <a:rPr lang="en-US"/>
              <a:t> ja </a:t>
            </a:r>
            <a:r>
              <a:rPr lang="en-US" err="1"/>
              <a:t>vajalikke</a:t>
            </a:r>
            <a:r>
              <a:rPr lang="en-US"/>
              <a:t> </a:t>
            </a:r>
            <a:r>
              <a:rPr lang="en-US" err="1"/>
              <a:t>kaitsemeetmeid</a:t>
            </a:r>
            <a:r>
              <a:rPr lang="en-US"/>
              <a:t> </a:t>
            </a:r>
            <a:r>
              <a:rPr lang="en-US" err="1"/>
              <a:t>rakendades</a:t>
            </a:r>
            <a:r>
              <a:rPr lang="en-US"/>
              <a:t>. </a:t>
            </a:r>
            <a:r>
              <a:rPr lang="en-US" err="1">
                <a:solidFill>
                  <a:srgbClr val="000000"/>
                </a:solidFill>
              </a:rPr>
              <a:t>Töötlemine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laiene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/>
              <a:t>avalikustamisele</a:t>
            </a:r>
            <a:r>
              <a:rPr lang="en-US"/>
              <a:t> </a:t>
            </a:r>
            <a:r>
              <a:rPr lang="en-US" err="1"/>
              <a:t>ilma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nõusolekuta</a:t>
            </a:r>
            <a:r>
              <a:rPr lang="en-US">
                <a:solidFill>
                  <a:srgbClr val="000000"/>
                </a:solidFill>
              </a:rPr>
              <a:t>.</a:t>
            </a:r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Reeglina</a:t>
            </a:r>
            <a:r>
              <a:rPr lang="en-US"/>
              <a:t> on </a:t>
            </a:r>
            <a:r>
              <a:rPr lang="en-US" err="1"/>
              <a:t>eriliigiliste</a:t>
            </a:r>
            <a:r>
              <a:rPr lang="en-US"/>
              <a:t> </a:t>
            </a: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töötlemine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keelatud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välja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arvatud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juhul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kui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esineb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mõni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ülaltoodud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õiguslikest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alustest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Allikas: </a:t>
            </a:r>
            <a:r>
              <a:rPr lang="en-US">
                <a:hlinkClick r:id="rId4"/>
              </a:rPr>
              <a:t>https://www.aki.ee/isikuandmed/andmetootlejale/tootlemise-oiguslikud-alused</a:t>
            </a:r>
            <a:r>
              <a:rPr lang="en-US">
                <a:solidFill>
                  <a:srgbClr val="000000"/>
                </a:solidFill>
              </a:rPr>
              <a:t> 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3087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7F59C-9202-A949-3CB9-5E272F48B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0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A34C-149A-57A8-DCCE-482263E2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C817-AC27-CA90-93C2-204C3230E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1774-130A-2B62-BCFA-16A9E5D06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Milleks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? - Nii </a:t>
            </a:r>
            <a:r>
              <a:rPr lang="en-US" err="1">
                <a:ea typeface="Calibri"/>
                <a:cs typeface="Calibri"/>
              </a:rPr>
              <a:t>enda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kui</a:t>
            </a:r>
            <a:r>
              <a:rPr lang="en-US">
                <a:ea typeface="Calibri"/>
                <a:cs typeface="Calibri"/>
              </a:rPr>
              <a:t> ka </a:t>
            </a:r>
            <a:r>
              <a:rPr lang="en-US" err="1">
                <a:ea typeface="Calibri"/>
                <a:cs typeface="Calibri"/>
              </a:rPr>
              <a:t>kolleegide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jaoks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kirjeldamine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teada</a:t>
            </a:r>
            <a:r>
              <a:rPr lang="en-US">
                <a:ea typeface="Calibri"/>
                <a:cs typeface="Calibri"/>
              </a:rPr>
              <a:t>, et </a:t>
            </a:r>
            <a:r>
              <a:rPr lang="en-US" err="1">
                <a:ea typeface="Calibri"/>
                <a:cs typeface="Calibri"/>
              </a:rPr>
              <a:t>miks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kuidas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mingeid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otsuseid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muutusi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tehtud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428F6-B692-59EB-721A-51F223C67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14.04.2026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dprinfo.eu/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riigiteataja.ee/akt/104012019011?leiaKehtiv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T/TXT/HTML/?uri=CELEX:32016R0679#art_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T/TXT/HTML/?uri=CELEX:32016R0679#art_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T/TXT/HTML/?uri=CELEX:32016R0679#art_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ki.ee/sites/default/files/dokumendid/isikuandmete_tootleja_uldjuhend.pdf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ki.ee/sites/default/files/dokumendid/isikuandmete_tootleja_uldjuhend.pdf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ki.ee/sites/default/files/dokumendid/isikuandmete_tootleja_uldjuhend.pdf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ki.ee/sites/default/files/dokumendid/isikuandmete_tootleja_uldjuhend.pdf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ki.ee/sites/default/files/dokumendid/isikuandmete_tootleja_uldjuhend.pdf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ki.ee/sites/default/files/dokumendid/isikuandmete_tootleja_uldjuhend.pdf" TargetMode="External"/><Relationship Id="rId2" Type="http://schemas.openxmlformats.org/officeDocument/2006/relationships/hyperlink" Target="https://www.aki.ee/kiirelt-katte/andmekaitse-abc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4EF6-AAC1-0083-5987-8FA2D7C8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0058-A289-F9F8-2CC8-43BAABEC6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XIV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F1AB3B-1697-834A-B482-18B1385C686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78815032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Andmekaitse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põhimõtted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Andmekaitse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organisatsioonikultuurina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15:15 – Koolitus – Kristina </a:t>
                      </a:r>
                      <a:r>
                        <a:rPr lang="et-EE" sz="2400" dirty="0"/>
                        <a:t>Korobova 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(Bolt)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15:15 – 15:30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15:30 – 16:30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projektidega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alustamine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41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28FF-8F2E-5210-1E51-C5B71DFE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2EE0-DAF0-D014-1B9C-E5A2B2D517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Andmekaitse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90F2F-9A95-2356-2F41-6D1F85E5FA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err="1">
                <a:ea typeface="Inter"/>
                <a:cs typeface="Arial"/>
              </a:rPr>
              <a:t>Andmesubjekt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peab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teadma</a:t>
            </a:r>
            <a:r>
              <a:rPr lang="en-US" sz="2000">
                <a:ea typeface="Inter"/>
                <a:cs typeface="Arial"/>
              </a:rPr>
              <a:t>, mis </a:t>
            </a:r>
            <a:r>
              <a:rPr lang="en-US" sz="2000" err="1">
                <a:ea typeface="Inter"/>
                <a:cs typeface="Arial"/>
              </a:rPr>
              <a:t>andmeid</a:t>
            </a:r>
            <a:r>
              <a:rPr lang="en-US" sz="2000">
                <a:ea typeface="Inter"/>
                <a:cs typeface="Arial"/>
              </a:rPr>
              <a:t>, mis </a:t>
            </a:r>
            <a:r>
              <a:rPr lang="en-US" sz="2000" err="1">
                <a:ea typeface="Inter"/>
                <a:cs typeface="Arial"/>
              </a:rPr>
              <a:t>eesmärgiga</a:t>
            </a:r>
            <a:r>
              <a:rPr lang="en-US" sz="2000">
                <a:ea typeface="Inter"/>
                <a:cs typeface="Arial"/>
              </a:rPr>
              <a:t> ja </a:t>
            </a:r>
            <a:r>
              <a:rPr lang="en-US" sz="2000" err="1">
                <a:ea typeface="Inter"/>
                <a:cs typeface="Arial"/>
              </a:rPr>
              <a:t>kui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kaua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kogutakse</a:t>
            </a:r>
            <a:r>
              <a:rPr lang="en-US" sz="2000">
                <a:ea typeface="Inter"/>
                <a:cs typeface="Arial"/>
              </a:rPr>
              <a:t>, </a:t>
            </a:r>
            <a:r>
              <a:rPr lang="en-US" sz="2000" err="1">
                <a:ea typeface="Inter"/>
                <a:cs typeface="Arial"/>
              </a:rPr>
              <a:t>töödeldakse</a:t>
            </a:r>
            <a:r>
              <a:rPr lang="en-US" sz="2000">
                <a:ea typeface="Inter"/>
                <a:cs typeface="Arial"/>
              </a:rPr>
              <a:t> (</a:t>
            </a:r>
            <a:r>
              <a:rPr lang="en-US" sz="2000" err="1">
                <a:ea typeface="Inter"/>
                <a:cs typeface="Arial"/>
              </a:rPr>
              <a:t>sh</a:t>
            </a:r>
            <a:r>
              <a:rPr lang="en-US" sz="2000">
                <a:ea typeface="Inter"/>
                <a:cs typeface="Arial"/>
              </a:rPr>
              <a:t> </a:t>
            </a:r>
            <a:r>
              <a:rPr lang="en-US" sz="2000" err="1">
                <a:ea typeface="Inter"/>
                <a:cs typeface="Arial"/>
              </a:rPr>
              <a:t>vaadatakse</a:t>
            </a:r>
            <a:r>
              <a:rPr lang="en-US" sz="2000">
                <a:ea typeface="Inter"/>
                <a:cs typeface="Arial"/>
              </a:rPr>
              <a:t>) ja </a:t>
            </a:r>
            <a:r>
              <a:rPr lang="en-US" sz="2000" err="1">
                <a:ea typeface="Inter"/>
                <a:cs typeface="Arial"/>
              </a:rPr>
              <a:t>hoiustatakse</a:t>
            </a:r>
            <a:r>
              <a:rPr lang="en-US" sz="2000">
                <a:ea typeface="Inter"/>
                <a:cs typeface="Arial"/>
              </a:rPr>
              <a:t>.</a:t>
            </a:r>
            <a:endParaRPr lang="en-US" sz="200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  <a:cs typeface="Arial"/>
              </a:rPr>
              <a:t>Andmesubjekt</a:t>
            </a:r>
            <a:r>
              <a:rPr lang="en-US" sz="2000">
                <a:ea typeface="Inter"/>
                <a:cs typeface="Arial"/>
              </a:rPr>
              <a:t> - </a:t>
            </a:r>
            <a:r>
              <a:rPr lang="en-US" sz="2000" err="1">
                <a:ea typeface="Inter"/>
                <a:cs typeface="Arial"/>
              </a:rPr>
              <a:t>füüsiline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isik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ehk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inimene</a:t>
            </a:r>
            <a:r>
              <a:rPr lang="en-US" sz="2000">
                <a:ea typeface="Inter"/>
                <a:cs typeface="Arial"/>
              </a:rPr>
              <a:t>, </a:t>
            </a:r>
            <a:r>
              <a:rPr lang="en-US" sz="2000" err="1">
                <a:ea typeface="Inter"/>
                <a:cs typeface="Arial"/>
              </a:rPr>
              <a:t>kelle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andmeid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töödeldakse</a:t>
            </a:r>
            <a:r>
              <a:rPr lang="en-US" sz="2000">
                <a:ea typeface="Inter"/>
                <a:cs typeface="Arial"/>
              </a:rPr>
              <a:t>.</a:t>
            </a:r>
            <a:endParaRPr lang="en-US" sz="2000">
              <a:solidFill>
                <a:srgbClr val="121212"/>
              </a:solidFill>
              <a:latin typeface="Inter"/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>
                <a:ea typeface="Inter"/>
                <a:cs typeface="Arial"/>
                <a:hlinkClick r:id="rId3"/>
              </a:rPr>
              <a:t>Isikuandmete üldkaitse määrus (IKÜM)</a:t>
            </a:r>
            <a:endParaRPr lang="en-US" sz="2000">
              <a:ea typeface="Inter"/>
              <a:cs typeface="Arial"/>
            </a:endParaRPr>
          </a:p>
          <a:p>
            <a:pPr marL="857250" lvl="1" indent="-2286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  <a:cs typeface="Arial"/>
              </a:rPr>
              <a:t>Euroopa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Liidu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määrus</a:t>
            </a:r>
            <a:r>
              <a:rPr lang="en-US" sz="2000">
                <a:ea typeface="Inter"/>
                <a:cs typeface="Arial"/>
              </a:rPr>
              <a:t>, </a:t>
            </a:r>
            <a:r>
              <a:rPr lang="en-US" sz="2000" err="1">
                <a:ea typeface="Inter"/>
                <a:cs typeface="Arial"/>
              </a:rPr>
              <a:t>mida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kohaldatakse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Eestis</a:t>
            </a:r>
            <a:r>
              <a:rPr lang="en-US" sz="2000">
                <a:ea typeface="Inter"/>
                <a:cs typeface="Arial"/>
              </a:rPr>
              <a:t> 2018. </a:t>
            </a:r>
            <a:r>
              <a:rPr lang="en-US" sz="2000" err="1">
                <a:ea typeface="Inter"/>
                <a:cs typeface="Arial"/>
              </a:rPr>
              <a:t>aastast</a:t>
            </a:r>
            <a:endParaRPr lang="en-US" sz="2000">
              <a:cs typeface="Arial"/>
            </a:endParaRPr>
          </a:p>
          <a:p>
            <a:pPr marL="857250" lvl="1" indent="-2286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  <a:cs typeface="Arial"/>
              </a:rPr>
              <a:t>Isikuandmed</a:t>
            </a:r>
            <a:r>
              <a:rPr lang="en-US" sz="2000">
                <a:ea typeface="Inter"/>
                <a:cs typeface="Arial"/>
              </a:rPr>
              <a:t> – </a:t>
            </a:r>
            <a:r>
              <a:rPr lang="en-US" sz="2000" err="1">
                <a:ea typeface="Inter"/>
                <a:cs typeface="Arial"/>
              </a:rPr>
              <a:t>andmed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b="1" err="1">
                <a:ea typeface="Inter"/>
                <a:cs typeface="Arial"/>
              </a:rPr>
              <a:t>füüsilise</a:t>
            </a:r>
            <a:r>
              <a:rPr lang="en-US" sz="2000" b="1">
                <a:ea typeface="Inter"/>
                <a:cs typeface="Arial"/>
              </a:rPr>
              <a:t> </a:t>
            </a:r>
            <a:r>
              <a:rPr lang="en-US" sz="2000" b="1" err="1">
                <a:ea typeface="Inter"/>
                <a:cs typeface="Arial"/>
              </a:rPr>
              <a:t>isiku</a:t>
            </a:r>
            <a:r>
              <a:rPr lang="en-US" sz="2000" b="1">
                <a:ea typeface="Inter"/>
                <a:cs typeface="Arial"/>
              </a:rPr>
              <a:t> </a:t>
            </a:r>
            <a:r>
              <a:rPr lang="en-US" sz="2000" b="1" err="1">
                <a:ea typeface="Inter"/>
                <a:cs typeface="Arial"/>
              </a:rPr>
              <a:t>kohta</a:t>
            </a:r>
            <a:r>
              <a:rPr lang="en-US" sz="2000">
                <a:ea typeface="Inter"/>
                <a:cs typeface="Arial"/>
              </a:rPr>
              <a:t>, </a:t>
            </a:r>
            <a:r>
              <a:rPr lang="en-US" sz="2000" err="1">
                <a:ea typeface="Inter"/>
                <a:cs typeface="Arial"/>
              </a:rPr>
              <a:t>mille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abil</a:t>
            </a:r>
            <a:r>
              <a:rPr lang="en-US" sz="2000">
                <a:ea typeface="Inter"/>
                <a:cs typeface="Arial"/>
              </a:rPr>
              <a:t> on </a:t>
            </a:r>
            <a:r>
              <a:rPr lang="en-US" sz="2000" err="1">
                <a:ea typeface="Inter"/>
                <a:cs typeface="Arial"/>
              </a:rPr>
              <a:t>isikut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otseselt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või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kaudselt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võimalik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tuvastada</a:t>
            </a:r>
            <a:endParaRPr lang="en-US" sz="2000" err="1">
              <a:cs typeface="Arial"/>
            </a:endParaRPr>
          </a:p>
          <a:p>
            <a:pPr>
              <a:lnSpc>
                <a:spcPct val="150000"/>
              </a:lnSpc>
              <a:buClr>
                <a:srgbClr val="121212"/>
              </a:buClr>
              <a:buFont typeface="Arial" panose="020B0502030000000004" pitchFamily="34" charset="0"/>
              <a:buChar char="•"/>
            </a:pPr>
            <a:r>
              <a:rPr lang="en-US" sz="2000">
                <a:ea typeface="Inter"/>
                <a:cs typeface="Arial"/>
                <a:hlinkClick r:id="rId4"/>
              </a:rPr>
              <a:t>Isikuandmete kaitse seadus</a:t>
            </a:r>
            <a:endParaRPr lang="en-US" sz="2000">
              <a:ea typeface="Inter"/>
              <a:cs typeface="Arial"/>
            </a:endParaRPr>
          </a:p>
          <a:p>
            <a:pPr marL="857250" lvl="1" indent="-2286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  <a:cs typeface="Arial"/>
              </a:rPr>
              <a:t>Täpsustab</a:t>
            </a:r>
            <a:r>
              <a:rPr lang="en-US" sz="2000">
                <a:ea typeface="Inter"/>
                <a:cs typeface="Arial"/>
              </a:rPr>
              <a:t> ja </a:t>
            </a:r>
            <a:r>
              <a:rPr lang="en-US" sz="2000" err="1">
                <a:ea typeface="Inter"/>
                <a:cs typeface="Arial"/>
              </a:rPr>
              <a:t>täiendab</a:t>
            </a:r>
            <a:r>
              <a:rPr lang="en-US" sz="2000">
                <a:ea typeface="Inter"/>
                <a:cs typeface="Arial"/>
              </a:rPr>
              <a:t> IKÜM-</a:t>
            </a:r>
            <a:r>
              <a:rPr lang="en-US" sz="2000" err="1">
                <a:ea typeface="Inter"/>
                <a:cs typeface="Arial"/>
              </a:rPr>
              <a:t>i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" panose="020B0502030000000004" pitchFamily="34" charset="0"/>
              <a:buChar char="•"/>
            </a:pPr>
            <a:r>
              <a:rPr lang="en-US" sz="2000" err="1">
                <a:ea typeface="Inter"/>
                <a:cs typeface="Arial"/>
              </a:rPr>
              <a:t>Eestis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teostab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järelvalvet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Andmekaitse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Inspektsioon</a:t>
            </a:r>
            <a:endParaRPr lang="en-US" sz="2000" err="1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  <a:buFont typeface="Arial" panose="020B0502030000000004" pitchFamily="34" charset="0"/>
              <a:buChar char="•"/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304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F3C8-9808-10FB-7E77-00666D6A0C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Harjutus</a:t>
            </a:r>
            <a:r>
              <a:rPr lang="en-US" dirty="0"/>
              <a:t> - </a:t>
            </a:r>
            <a:r>
              <a:rPr lang="en-US" dirty="0" err="1"/>
              <a:t>töötajate</a:t>
            </a:r>
            <a:r>
              <a:rPr lang="en-US" dirty="0"/>
              <a:t> </a:t>
            </a:r>
            <a:r>
              <a:rPr lang="en-US" dirty="0" err="1"/>
              <a:t>andmestik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D5B4-C589-0639-1E36-78C95C29E6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Millised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andmed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isikuandmed</a:t>
            </a:r>
            <a:r>
              <a:rPr lang="en-US" sz="2400" dirty="0">
                <a:ea typeface="Inter"/>
              </a:rPr>
              <a:t>?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Isikuandmed</a:t>
            </a:r>
            <a:r>
              <a:rPr lang="en-US" sz="2400" dirty="0">
                <a:ea typeface="Inter"/>
              </a:rPr>
              <a:t> – </a:t>
            </a:r>
            <a:r>
              <a:rPr lang="en-US" sz="2400" dirty="0" err="1">
                <a:ea typeface="Inter"/>
              </a:rPr>
              <a:t>andmed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füüsilise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isiku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kohta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mille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abil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isikut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otseselt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kaudselt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võimalik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tuvastada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Day4 --&gt; HR_dataset.csv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Millised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tulbad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sisaldavad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isikuandmeid</a:t>
            </a:r>
            <a:r>
              <a:rPr lang="en-US" sz="2400" dirty="0">
                <a:ea typeface="Inter"/>
              </a:rPr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450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CD4B-5EAC-3CF6-4E27-2999E0F3E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 dirty="0" err="1"/>
              <a:t>Isikuandmete</a:t>
            </a:r>
            <a:r>
              <a:rPr lang="en-US" sz="2000" dirty="0"/>
              <a:t> </a:t>
            </a:r>
            <a:r>
              <a:rPr lang="en-US" sz="2000" dirty="0" err="1"/>
              <a:t>peitmine</a:t>
            </a:r>
            <a:r>
              <a:rPr lang="en-US" sz="2000" dirty="0"/>
              <a:t> - </a:t>
            </a:r>
            <a:r>
              <a:rPr lang="en-US" sz="2000" b="1" dirty="0"/>
              <a:t>a</a:t>
            </a:r>
            <a:r>
              <a:rPr lang="et-EE" sz="2000" b="1" dirty="0" err="1"/>
              <a:t>nonümiseerimine</a:t>
            </a:r>
            <a:r>
              <a:rPr lang="et-EE" sz="2000" b="1" dirty="0"/>
              <a:t> vs </a:t>
            </a:r>
            <a:r>
              <a:rPr lang="et-EE" sz="2000" b="1" dirty="0" err="1"/>
              <a:t>pseudonümiseerimine</a:t>
            </a:r>
            <a:br>
              <a:rPr lang="et-EE" b="1" dirty="0"/>
            </a:b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205D-3E9E-F4F8-FD74-89B0632FAA6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sz="1800" b="1" dirty="0" err="1"/>
              <a:t>Anonümiseerimine</a:t>
            </a:r>
            <a:r>
              <a:rPr lang="et-EE" sz="1800" dirty="0"/>
              <a:t> eemaldab kõik seosed, mis võimaldaksid isiku tuvastamist, ja seda ei saa tagasi pöörata. See tähendab, et andmed muudetakse täielikult anonüümseks ja neid ei saa enam seostada konkreetse isikuga. </a:t>
            </a:r>
            <a:endParaRPr lang="en-US" sz="1800" dirty="0"/>
          </a:p>
          <a:p>
            <a:pPr lvl="1"/>
            <a:r>
              <a:rPr lang="et-EE" sz="1800" dirty="0"/>
              <a:t>Näiteks võib see hõlmata isikuandmete asendamist juhuslike koodidega, mille puhul ei säilitata seost originaalandmetega.</a:t>
            </a:r>
            <a:endParaRPr lang="en-US" sz="1800" dirty="0"/>
          </a:p>
          <a:p>
            <a:pPr marL="0" indent="0">
              <a:buNone/>
            </a:pPr>
            <a:endParaRPr lang="et-EE" sz="1800" dirty="0"/>
          </a:p>
          <a:p>
            <a:r>
              <a:rPr lang="et-EE" sz="1800" b="1" dirty="0" err="1"/>
              <a:t>Pseudonümiseerimine</a:t>
            </a:r>
            <a:r>
              <a:rPr lang="et-EE" sz="1800" dirty="0"/>
              <a:t> asendab isikuandmed pseudonüümidega, kuid säilitab võimaluse isiku tuvastamiseks täiendava teabe abil. </a:t>
            </a:r>
            <a:endParaRPr lang="en-US" sz="1800" dirty="0"/>
          </a:p>
          <a:p>
            <a:pPr lvl="1"/>
            <a:r>
              <a:rPr lang="et-EE" sz="1800" dirty="0"/>
              <a:t>Näiteks võib meditsiiniuuringus patsientide nimed asendada koodidega, kuid säilitada eraldi turvalises kohas võtme, mis võimaldab koode nimedega siduda.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15167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3559-513B-5E00-2FEA-31930911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18FF-6B11-091F-7B66-8FD3F07B7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Isikuandmete</a:t>
            </a:r>
            <a:r>
              <a:rPr lang="en-US" sz="3600" b="1"/>
              <a:t> </a:t>
            </a:r>
            <a:r>
              <a:rPr lang="en-US" sz="3600" b="1" err="1"/>
              <a:t>töötlemise</a:t>
            </a:r>
            <a:r>
              <a:rPr lang="en-US" sz="3600" b="1"/>
              <a:t> </a:t>
            </a:r>
            <a:r>
              <a:rPr lang="en-US" sz="3600" b="1" err="1"/>
              <a:t>põhimõtted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0B90-97E7-0D4E-EA85-CAFDF56872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Seaduslik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,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õiglane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ja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läbipaistev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Eesmärgipärane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Minimaalne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–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kogutakse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võimalikult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vähe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andmeid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Õigsus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 lvl="1" indent="-228600">
              <a:lnSpc>
                <a:spcPct val="100000"/>
              </a:lnSpc>
              <a:buFont typeface="Arial,Sans-Serif" panose="020B0502030000000004" pitchFamily="34" charset="0"/>
              <a:buChar char="o"/>
            </a:pP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Isikuandmed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on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õiged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ja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vajaduse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korral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ajakohastatud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ning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et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võetakse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kõik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mõistlikud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meetmed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, et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töötlemise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eesmärgi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seisukohast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ebaõiged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isikuandmed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kustutaks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või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parandataks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viivitamata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.</a:t>
            </a:r>
          </a:p>
          <a:p>
            <a:pPr lvl="1" indent="-228600">
              <a:lnSpc>
                <a:spcPct val="100000"/>
              </a:lnSpc>
              <a:buFont typeface="Arial,Sans-Serif" panose="020B0502030000000004" pitchFamily="34" charset="0"/>
              <a:buChar char="o"/>
            </a:pP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Isikul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on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õigus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tutvuda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oma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andmetega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ja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paluda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nende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parandamist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ning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kustutamist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.</a:t>
            </a:r>
          </a:p>
          <a:p>
            <a:pPr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Säilitamise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piirang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 lvl="1" indent="-228600">
              <a:lnSpc>
                <a:spcPct val="100000"/>
              </a:lnSpc>
              <a:buFont typeface="Arial,Sans-Serif" panose="020B0502030000000004" pitchFamily="34" charset="0"/>
              <a:buChar char="o"/>
            </a:pP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Isikuandmeid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säilitatakse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kujul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, mis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võimaldab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andmesubjekte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tuvastada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ainult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seni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,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kuni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see on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vajalik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selle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eesmärgi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täitmiseks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,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milleks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isikuandmeid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18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töödeldakse</a:t>
            </a:r>
            <a:r>
              <a:rPr lang="en-US" sz="18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.</a:t>
            </a:r>
          </a:p>
          <a:p>
            <a:pPr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Usaldusväärsus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ja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konfidentsiaalsus</a:t>
            </a:r>
            <a:endParaRPr lang="en-US" sz="2000" err="1">
              <a:solidFill>
                <a:srgbClr val="121212"/>
              </a:solidFill>
              <a:latin typeface="Inter" panose="02000503000000020004" pitchFamily="2" charset="0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>
              <a:solidFill>
                <a:srgbClr val="121212"/>
              </a:solidFill>
              <a:latin typeface="Inter"/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9360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6A9C-D90E-64B2-6533-0B27B1FD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A482-1407-2D38-6603-1037FEF8D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Isiku</a:t>
            </a:r>
            <a:r>
              <a:rPr lang="en-US" sz="3600" b="1"/>
              <a:t> </a:t>
            </a:r>
            <a:r>
              <a:rPr lang="en-US" sz="3600" b="1" err="1"/>
              <a:t>õigused</a:t>
            </a:r>
            <a:r>
              <a:rPr lang="en-US" sz="3600" b="1"/>
              <a:t> </a:t>
            </a:r>
            <a:r>
              <a:rPr lang="en-US" sz="3600" b="1" err="1"/>
              <a:t>seoses</a:t>
            </a:r>
            <a:r>
              <a:rPr lang="en-US" sz="3600" b="1"/>
              <a:t> </a:t>
            </a:r>
            <a:r>
              <a:rPr lang="en-US" sz="3600" b="1" err="1"/>
              <a:t>isikuandmetega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BB59-8E20-D1FA-42BC-79130E9DFF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Õigus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olla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unustatud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Õigus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oma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andmeid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pärida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ja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paluda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viia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need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üle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teise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teenuspakkuja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juurde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Õigus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paluda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andmeid</a:t>
            </a:r>
            <a:r>
              <a:rPr lang="en-US" sz="2000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 </a:t>
            </a:r>
            <a:r>
              <a:rPr lang="en-US" sz="2000" err="1">
                <a:solidFill>
                  <a:srgbClr val="202020"/>
                </a:solidFill>
                <a:latin typeface="Inter"/>
                <a:ea typeface="Noto Serif"/>
                <a:cs typeface="Noto Serif"/>
              </a:rPr>
              <a:t>muuta</a:t>
            </a:r>
            <a:endParaRPr lang="en-US" sz="2000">
              <a:solidFill>
                <a:srgbClr val="202020"/>
              </a:solidFill>
              <a:latin typeface="Inter"/>
              <a:ea typeface="Noto Serif"/>
              <a:cs typeface="Noto Serif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000">
              <a:solidFill>
                <a:srgbClr val="202020"/>
              </a:solidFill>
              <a:ea typeface="Noto Serif"/>
              <a:cs typeface="Noto Serif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000">
              <a:solidFill>
                <a:srgbClr val="202020"/>
              </a:solidFill>
              <a:ea typeface="Noto Serif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>
              <a:solidFill>
                <a:srgbClr val="121212"/>
              </a:solidFill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512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328DC-AFAE-684E-49BE-951535E7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575A-160C-1C33-FFED-0BF7A2509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Isikuandmete</a:t>
            </a:r>
            <a:r>
              <a:rPr lang="en-US" sz="3600" b="1"/>
              <a:t> </a:t>
            </a:r>
            <a:r>
              <a:rPr lang="en-US" sz="3600" b="1" err="1"/>
              <a:t>töötlemise</a:t>
            </a:r>
            <a:r>
              <a:rPr lang="en-US" sz="3600" b="1"/>
              <a:t> </a:t>
            </a:r>
            <a:r>
              <a:rPr lang="en-US" sz="3600" b="1" err="1"/>
              <a:t>seaduslik</a:t>
            </a:r>
            <a:r>
              <a:rPr lang="en-US" sz="3600" b="1"/>
              <a:t> alus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AB5AB-AF15-477E-FE41-9721611B4E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1570451" cy="4465637"/>
          </a:xfrm>
        </p:spPr>
        <p:txBody>
          <a:bodyPr/>
          <a:lstStyle/>
          <a:p>
            <a:pPr>
              <a:buFont typeface="Inter"/>
            </a:pPr>
            <a:r>
              <a:rPr lang="en-US" sz="2400">
                <a:ea typeface="+mn-lt"/>
                <a:cs typeface="+mn-lt"/>
                <a:hlinkClick r:id="rId3"/>
              </a:rPr>
              <a:t>Isikuandmete kaitse üldmäärus artikkel 6 lõige 1</a:t>
            </a:r>
            <a:r>
              <a:rPr lang="en-US" sz="2400">
                <a:ea typeface="+mn-lt"/>
                <a:cs typeface="+mn-lt"/>
              </a:rPr>
              <a:t>: </a:t>
            </a:r>
            <a:endParaRPr lang="en-US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Nõusolek</a:t>
            </a:r>
            <a:endParaRPr lang="en-US" sz="2000">
              <a:ea typeface="Inter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Lepingu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täitmine</a:t>
            </a:r>
            <a:endParaRPr lang="en-US" sz="20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Seadusjärgse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kohustuse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täitmine</a:t>
            </a:r>
            <a:endParaRPr lang="en-US" sz="20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Eluliste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huvide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kaitsmine</a:t>
            </a:r>
            <a:endParaRPr lang="en-US" sz="20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Avalikes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huvides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oleva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ülesande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täitmine</a:t>
            </a:r>
            <a:endParaRPr lang="en-US" sz="2000" err="1"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Õigustatud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huvi</a:t>
            </a:r>
            <a:endParaRPr lang="en-US" sz="2000" err="1">
              <a:cs typeface="+mn-lt"/>
            </a:endParaRPr>
          </a:p>
          <a:p>
            <a:pPr lvl="1">
              <a:buFont typeface="Courier New"/>
              <a:buChar char="o"/>
            </a:pPr>
            <a:endParaRPr lang="en-US" sz="2000"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921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EEB9-CD9F-308B-51A4-57F7B3F9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7AD0-F255-B3B4-9613-AF33EBA90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Eriliiki</a:t>
            </a:r>
            <a:r>
              <a:rPr lang="en-US" sz="3600" b="1"/>
              <a:t> </a:t>
            </a:r>
            <a:r>
              <a:rPr lang="en-US" sz="3600" b="1" err="1"/>
              <a:t>isikuandmed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B2844-3EB4-8C98-BAC1-04AB054DC6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1570451" cy="4465637"/>
          </a:xfrm>
        </p:spPr>
        <p:txBody>
          <a:bodyPr/>
          <a:lstStyle/>
          <a:p>
            <a:pPr>
              <a:lnSpc>
                <a:spcPct val="150000"/>
              </a:lnSpc>
              <a:buFont typeface="Inter"/>
            </a:pPr>
            <a:r>
              <a:rPr lang="en-US" sz="2400">
                <a:ea typeface="+mn-lt"/>
                <a:cs typeface="+mn-lt"/>
                <a:hlinkClick r:id="rId3"/>
              </a:rPr>
              <a:t>Isikuandmete kaitse üldmäärus artikkel 9 lõige 1</a:t>
            </a:r>
            <a:r>
              <a:rPr lang="en-US" sz="2400">
                <a:ea typeface="+mn-lt"/>
                <a:cs typeface="+mn-lt"/>
              </a:rPr>
              <a:t>: </a:t>
            </a:r>
            <a:endParaRPr lang="en-US" sz="2400" err="1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andmed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millest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ilmneb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rassiline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või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etniline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päritolu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poliitilised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vaated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usulised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või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filosoofilised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veendumused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või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ametiühingusse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kuulumine</a:t>
            </a:r>
            <a:endParaRPr lang="en-US" err="1">
              <a:solidFill>
                <a:srgbClr val="121212"/>
              </a:solidFill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geneetilised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andmed</a:t>
            </a:r>
            <a:endParaRPr lang="en-US" sz="24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füüsilise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isiku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kordumatuks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tuvastamiseks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kasutatavad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biomeetrilised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andmed</a:t>
            </a:r>
            <a:endParaRPr lang="en-US" sz="24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terviseandmed</a:t>
            </a:r>
            <a:endParaRPr lang="en-US" sz="24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andmed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füüsilise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isiku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seksuaalelu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ja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seksuaalse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sättumuse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kohta</a:t>
            </a:r>
            <a:r>
              <a:rPr lang="en-US" sz="2400">
                <a:solidFill>
                  <a:srgbClr val="12121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Inter"/>
            </a:pPr>
            <a:endParaRPr lang="en-US" sz="2400">
              <a:ea typeface="+mn-lt"/>
              <a:cs typeface="+mn-lt"/>
            </a:endParaRPr>
          </a:p>
          <a:p>
            <a:pPr>
              <a:buFont typeface="Inter"/>
              <a:buChar char="‣"/>
            </a:pPr>
            <a:endParaRPr lang="en-US" sz="24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386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1136-F650-0313-A1DC-5996467B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95A1-410B-63D4-BD13-EE2F752DE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Eriliigiliste</a:t>
            </a:r>
            <a:r>
              <a:rPr lang="en-US" sz="3600" b="1"/>
              <a:t> </a:t>
            </a:r>
            <a:r>
              <a:rPr lang="en-US" sz="3600" b="1" err="1"/>
              <a:t>isikuandmete</a:t>
            </a:r>
            <a:r>
              <a:rPr lang="en-US" sz="3600" b="1"/>
              <a:t> </a:t>
            </a:r>
            <a:r>
              <a:rPr lang="en-US" sz="3600" b="1" err="1"/>
              <a:t>töötlemise</a:t>
            </a:r>
            <a:r>
              <a:rPr lang="en-US" sz="3600" b="1"/>
              <a:t> </a:t>
            </a:r>
            <a:r>
              <a:rPr lang="en-US" sz="3600" b="1" err="1"/>
              <a:t>alused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DBE44-F9A7-A669-2BB8-033DCC9254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1570451" cy="4465637"/>
          </a:xfrm>
        </p:spPr>
        <p:txBody>
          <a:bodyPr/>
          <a:lstStyle/>
          <a:p>
            <a:pPr>
              <a:buFont typeface="Inter"/>
            </a:pPr>
            <a:r>
              <a:rPr lang="en-US" sz="2400">
                <a:ea typeface="+mn-lt"/>
                <a:cs typeface="+mn-lt"/>
                <a:hlinkClick r:id="rId3"/>
              </a:rPr>
              <a:t>Isikuandmete kaitse üldmäärus artikkel 9 lõige 2</a:t>
            </a:r>
            <a:r>
              <a:rPr lang="en-US" sz="2400">
                <a:ea typeface="+mn-lt"/>
                <a:cs typeface="+mn-lt"/>
              </a:rPr>
              <a:t>: </a:t>
            </a:r>
            <a:endParaRPr lang="en-US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Nõusolek</a:t>
            </a:r>
            <a:endParaRPr lang="en-US" sz="2000">
              <a:ea typeface="Inter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Seadusjärgse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kohustuse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täitmine</a:t>
            </a:r>
            <a:endParaRPr lang="en-US" sz="2000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</a:rPr>
              <a:t>Eluliste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huvide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kaitsmine</a:t>
            </a:r>
            <a:endParaRPr lang="en-US" sz="2000" err="1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Õigusnõude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koostamine</a:t>
            </a:r>
            <a:r>
              <a:rPr lang="en-US" sz="2000">
                <a:ea typeface="Inter"/>
                <a:cs typeface="+mn-lt"/>
              </a:rPr>
              <a:t>, </a:t>
            </a:r>
            <a:r>
              <a:rPr lang="en-US" sz="2000" err="1">
                <a:ea typeface="Inter"/>
                <a:cs typeface="+mn-lt"/>
              </a:rPr>
              <a:t>esitamine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või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kaitsmine</a:t>
            </a:r>
            <a:endParaRPr lang="en-US" sz="2000" err="1"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Andmesubjekt</a:t>
            </a:r>
            <a:r>
              <a:rPr lang="en-US" sz="2000">
                <a:ea typeface="Inter"/>
                <a:cs typeface="+mn-lt"/>
              </a:rPr>
              <a:t> on </a:t>
            </a:r>
            <a:r>
              <a:rPr lang="en-US" sz="2000" err="1">
                <a:ea typeface="Inter"/>
                <a:cs typeface="+mn-lt"/>
              </a:rPr>
              <a:t>isikuandmed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ise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avalikastanud</a:t>
            </a:r>
            <a:endParaRPr lang="en-US" sz="2000" err="1"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Avalikes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huvides</a:t>
            </a:r>
            <a:endParaRPr lang="en-US" sz="2000" err="1">
              <a:cs typeface="+mn-lt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000" err="1">
                <a:ea typeface="Inter"/>
                <a:cs typeface="+mn-lt"/>
              </a:rPr>
              <a:t>Õiguspärase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tegevuse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raames</a:t>
            </a:r>
            <a:endParaRPr lang="en-US" sz="2000" err="1">
              <a:cs typeface="+mn-lt"/>
            </a:endParaRPr>
          </a:p>
          <a:p>
            <a:pPr lvl="1">
              <a:buFont typeface="Courier New"/>
              <a:buChar char="o"/>
            </a:pPr>
            <a:endParaRPr lang="en-US" sz="2000"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77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0DB7-ABBC-6536-EAED-E2B074AA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5AFE-F9E5-518B-9C79-BE297FF2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n-US" b="1" err="1"/>
              <a:t>Andmekaitsetingimused</a:t>
            </a:r>
            <a:r>
              <a:rPr lang="en-US" b="1"/>
              <a:t> (</a:t>
            </a:r>
            <a:r>
              <a:rPr lang="en-US" b="1" err="1"/>
              <a:t>Privaatsuspoliitika</a:t>
            </a:r>
            <a:r>
              <a:rPr lang="en-US" b="1"/>
              <a:t>)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F1978-1A6C-E6EA-3F37-9A3C9D36EE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Dokument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andmesubjektile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info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andmiseks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andmete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töötlemise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kohta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Peab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sisaldama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:</a:t>
            </a:r>
            <a:endParaRPr lang="en-US"/>
          </a:p>
          <a:p>
            <a:pPr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Milliseid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kogutakse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–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nt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nimi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, e-mail,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asukoht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, IP-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aadress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. </a:t>
            </a:r>
            <a:endParaRPr lang="en-US" sz="2000">
              <a:solidFill>
                <a:srgbClr val="121212"/>
              </a:solidFill>
              <a:latin typeface="Inter"/>
              <a:ea typeface="Inter"/>
              <a:cs typeface="Noto Serif"/>
            </a:endParaRPr>
          </a:p>
          <a:p>
            <a:pPr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Kuidas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kasutatakse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–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nt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turundustegevuseks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,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teenuste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osutamiseks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. </a:t>
            </a:r>
            <a:endParaRPr lang="en-US" sz="2000">
              <a:solidFill>
                <a:srgbClr val="121212"/>
              </a:solidFill>
              <a:latin typeface="Inter"/>
              <a:ea typeface="Inter"/>
              <a:cs typeface="Noto Serif"/>
            </a:endParaRPr>
          </a:p>
          <a:p>
            <a:pPr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Kellega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jagatakse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– kas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edastatakse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kolmandatele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osapooltele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(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nt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Meta)?</a:t>
            </a:r>
            <a:endParaRPr lang="en-US" sz="2000">
              <a:solidFill>
                <a:srgbClr val="121212"/>
              </a:solidFill>
              <a:latin typeface="Inter"/>
              <a:ea typeface="Inter"/>
              <a:cs typeface="Noto Serif"/>
            </a:endParaRPr>
          </a:p>
          <a:p>
            <a:pPr lvl="1" indent="-2286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Kuidas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ja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kui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kaua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hoiustatakse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ning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kas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nende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hoiustamine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on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turvaline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.</a:t>
            </a:r>
            <a:endParaRPr lang="en-US" sz="2000">
              <a:solidFill>
                <a:srgbClr val="121212"/>
              </a:solidFill>
              <a:latin typeface="Inter"/>
              <a:ea typeface="Inter"/>
              <a:cs typeface="Noto Serif"/>
            </a:endParaRPr>
          </a:p>
          <a:p>
            <a:pPr lvl="1" indent="-2286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Kas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kodulehel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kasutatakse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küpsiseid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ehk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külastaja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tegevuse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jälgimise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tehnoloogiaid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.</a:t>
            </a:r>
            <a:endParaRPr lang="en-US"/>
          </a:p>
          <a:p>
            <a:pPr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Andmesubjektil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on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õigus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oma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nõusolek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andmete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töötlemiseks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igal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ajal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tagasi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 </a:t>
            </a:r>
            <a:r>
              <a:rPr lang="en-US" sz="2000" err="1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võtta</a:t>
            </a:r>
            <a:r>
              <a:rPr lang="en-US" sz="2000">
                <a:solidFill>
                  <a:srgbClr val="17172F"/>
                </a:solidFill>
                <a:latin typeface="Inter"/>
                <a:ea typeface="Inter"/>
                <a:cs typeface="Noto Serif"/>
              </a:rPr>
              <a:t>. </a:t>
            </a:r>
            <a:endParaRPr lang="en-US" sz="2000">
              <a:solidFill>
                <a:srgbClr val="17172F"/>
              </a:solidFill>
              <a:latin typeface="Inter" panose="02000503000000020004" pitchFamily="2" charset="0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3131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5178-9EA6-04AF-41FB-F00766ED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D0B33-2A0E-8759-0001-AFD2ECD182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624C10-1BA8-8DB0-67FC-6BB956333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91711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CE1C-0873-F3D2-FEA0-382D8F614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Lõimitud</a:t>
            </a:r>
            <a:r>
              <a:rPr lang="en-US"/>
              <a:t> </a:t>
            </a:r>
            <a:r>
              <a:rPr lang="en-US" err="1"/>
              <a:t>andmekaitse</a:t>
            </a:r>
            <a:r>
              <a:rPr lang="en-US"/>
              <a:t> </a:t>
            </a:r>
            <a:r>
              <a:rPr lang="en-US" err="1"/>
              <a:t>põhimõtted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17D6-25D3-ADA4-0D38-F2A0C17192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2000" err="1">
                <a:ea typeface="+mn-lt"/>
                <a:cs typeface="+mn-lt"/>
              </a:rPr>
              <a:t>Enneta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mitte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ära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tegele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tagajärgedega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 lvl="1">
              <a:buFont typeface="Courier New" panose="020B0502030000000004" pitchFamily="34" charset="0"/>
              <a:buChar char="o"/>
            </a:pP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Andmekaitse</a:t>
            </a:r>
            <a:r>
              <a:rPr lang="en-US">
                <a:ea typeface="+mn-lt"/>
                <a:cs typeface="+mn-lt"/>
              </a:rPr>
              <a:t> on </a:t>
            </a:r>
            <a:r>
              <a:rPr lang="en-US" err="1">
                <a:ea typeface="+mn-lt"/>
                <a:cs typeface="+mn-lt"/>
              </a:rPr>
              <a:t>organisatsiooni</a:t>
            </a:r>
            <a:r>
              <a:rPr lang="en-US">
                <a:ea typeface="+mn-lt"/>
                <a:cs typeface="+mn-lt"/>
              </a:rPr>
              <a:t> tegevusse ning tema infosüsteemidesse sisse ehitatud enne isikuandmete töötlemisega alustamist; </a:t>
            </a:r>
            <a:endParaRPr lang="en-US">
              <a:cs typeface="+mn-lt"/>
            </a:endParaRPr>
          </a:p>
          <a:p>
            <a:pPr marL="342900" indent="-342900">
              <a:buClr>
                <a:srgbClr val="121212"/>
              </a:buClr>
              <a:buAutoNum type="arabicPeriod"/>
            </a:pPr>
            <a:r>
              <a:rPr lang="en-US" sz="2000" err="1">
                <a:ea typeface="+mn-lt"/>
                <a:cs typeface="+mn-lt"/>
              </a:rPr>
              <a:t>Andmekaitse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korrapärasus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süsteemsus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cs typeface="+mn-lt"/>
            </a:endParaRPr>
          </a:p>
          <a:p>
            <a:pPr marL="857250" lvl="1" indent="-342900">
              <a:buFont typeface="Courier New" panose="020B0502030000000004" pitchFamily="34" charset="0"/>
              <a:buChar char="o"/>
            </a:pPr>
            <a:r>
              <a:rPr lang="en-US" err="1">
                <a:ea typeface="+mn-lt"/>
                <a:cs typeface="+mn-lt"/>
              </a:rPr>
              <a:t>Andmekaitse</a:t>
            </a:r>
            <a:r>
              <a:rPr lang="en-US">
                <a:ea typeface="+mn-lt"/>
                <a:cs typeface="+mn-lt"/>
              </a:rPr>
              <a:t> on </a:t>
            </a:r>
            <a:r>
              <a:rPr lang="en-US" err="1">
                <a:ea typeface="+mn-lt"/>
                <a:cs typeface="+mn-lt"/>
              </a:rPr>
              <a:t>sisse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ehitatud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infosüsteemide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disaini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arhitektuuri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äritegevusse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olles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osa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tuumfunktsionaalsusest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Andmetöötleja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hindab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korrapäraselt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võimalikke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ohte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rakendab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vastavalt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olukorrale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täiendavaid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kaitsemeetmeid</a:t>
            </a:r>
            <a:r>
              <a:rPr lang="en-US">
                <a:ea typeface="+mn-lt"/>
                <a:cs typeface="+mn-lt"/>
              </a:rPr>
              <a:t>. </a:t>
            </a:r>
            <a:endParaRPr lang="en-US">
              <a:cs typeface="+mn-lt"/>
            </a:endParaRPr>
          </a:p>
          <a:p>
            <a:pPr marL="342900">
              <a:buClr>
                <a:srgbClr val="121212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Andmetöötlus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olgu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algusest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lõpuni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turvaline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>
              <a:cs typeface="+mn-lt"/>
            </a:endParaRPr>
          </a:p>
          <a:p>
            <a:pPr marL="857250" lvl="1" indent="-342900">
              <a:buFont typeface="Courier New" panose="020B0502030000000004" pitchFamily="34" charset="0"/>
              <a:buChar char="o"/>
            </a:pPr>
            <a:r>
              <a:rPr lang="en-US">
                <a:ea typeface="+mn-lt"/>
                <a:cs typeface="+mn-lt"/>
              </a:rPr>
              <a:t>Alates </a:t>
            </a:r>
            <a:r>
              <a:rPr lang="en-US" err="1">
                <a:ea typeface="+mn-lt"/>
                <a:cs typeface="+mn-lt"/>
              </a:rPr>
              <a:t>isikuandmete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esmasest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kogumisest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kuni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hävitamiseni</a:t>
            </a:r>
            <a:r>
              <a:rPr lang="en-US">
                <a:ea typeface="+mn-lt"/>
                <a:cs typeface="+mn-lt"/>
              </a:rPr>
              <a:t> on </a:t>
            </a:r>
            <a:r>
              <a:rPr lang="en-US" err="1">
                <a:ea typeface="+mn-lt"/>
                <a:cs typeface="+mn-lt"/>
              </a:rPr>
              <a:t>rakendatud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asjakohased</a:t>
            </a:r>
            <a:r>
              <a:rPr lang="en-US">
                <a:ea typeface="+mn-lt"/>
                <a:cs typeface="+mn-lt"/>
              </a:rPr>
              <a:t> ja </a:t>
            </a:r>
            <a:r>
              <a:rPr lang="en-US" err="1">
                <a:ea typeface="+mn-lt"/>
                <a:cs typeface="+mn-lt"/>
              </a:rPr>
              <a:t>ajakohastatud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turvameetmed</a:t>
            </a:r>
            <a:r>
              <a:rPr lang="en-US">
                <a:ea typeface="+mn-lt"/>
                <a:cs typeface="+mn-lt"/>
              </a:rPr>
              <a:t>. </a:t>
            </a:r>
            <a:endParaRPr lang="en-US">
              <a:cs typeface="+mn-lt"/>
            </a:endParaRPr>
          </a:p>
          <a:p>
            <a:pPr marL="342900">
              <a:buClr>
                <a:srgbClr val="121212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Andmetöötlus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olgu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läbipaistev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vastutustundlik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cs typeface="+mn-lt"/>
            </a:endParaRPr>
          </a:p>
          <a:p>
            <a:pPr marL="857250" lvl="1" indent="-342900">
              <a:buFont typeface="Courier New" panose="020B0502030000000004" pitchFamily="34" charset="0"/>
              <a:buChar char="o"/>
            </a:pPr>
            <a:r>
              <a:rPr lang="en-US" err="1">
                <a:ea typeface="+mn-lt"/>
                <a:cs typeface="+mn-lt"/>
              </a:rPr>
              <a:t>Kõigile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organisatsiooni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andmetöötlusse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kaasatud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isikutele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koostööpartneritele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peab</a:t>
            </a:r>
            <a:r>
              <a:rPr lang="en-US">
                <a:ea typeface="+mn-lt"/>
                <a:cs typeface="+mn-lt"/>
              </a:rPr>
              <a:t> olema üheselt arusaadav, mis on andmetöötluse eesmärk. </a:t>
            </a:r>
            <a:endParaRPr lang="en-US">
              <a:cs typeface="+mn-lt"/>
            </a:endParaRPr>
          </a:p>
          <a:p>
            <a:pPr marL="857250" lvl="1" indent="-342900">
              <a:buFont typeface="Courier New" panose="020B0502030000000004" pitchFamily="34" charset="0"/>
              <a:buChar char="o"/>
            </a:pPr>
            <a:r>
              <a:rPr lang="en-US">
                <a:ea typeface="+mn-lt"/>
                <a:cs typeface="+mn-lt"/>
              </a:rPr>
              <a:t>Andmesubjektile on </a:t>
            </a:r>
            <a:r>
              <a:rPr lang="en-US" err="1">
                <a:ea typeface="+mn-lt"/>
                <a:cs typeface="+mn-lt"/>
              </a:rPr>
              <a:t>tagatud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teave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andmete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töötlemise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eesmärgi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kui</a:t>
            </a:r>
            <a:r>
              <a:rPr lang="en-US">
                <a:ea typeface="+mn-lt"/>
                <a:cs typeface="+mn-lt"/>
              </a:rPr>
              <a:t> ta õiguste </a:t>
            </a:r>
            <a:r>
              <a:rPr lang="en-US" err="1">
                <a:ea typeface="+mn-lt"/>
                <a:cs typeface="+mn-lt"/>
              </a:rPr>
              <a:t>kohta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selle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töötlemise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suhtes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Teave</a:t>
            </a:r>
            <a:r>
              <a:rPr lang="en-US">
                <a:ea typeface="+mn-lt"/>
                <a:cs typeface="+mn-lt"/>
              </a:rPr>
              <a:t> on </a:t>
            </a:r>
            <a:r>
              <a:rPr lang="en-US" err="1">
                <a:ea typeface="+mn-lt"/>
                <a:cs typeface="+mn-lt"/>
              </a:rPr>
              <a:t>kergelt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kättesaadav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selgelt</a:t>
            </a:r>
            <a:r>
              <a:rPr lang="en-US">
                <a:ea typeface="+mn-lt"/>
                <a:cs typeface="+mn-lt"/>
              </a:rPr>
              <a:t> ja </a:t>
            </a:r>
            <a:r>
              <a:rPr lang="en-US" err="1">
                <a:ea typeface="+mn-lt"/>
                <a:cs typeface="+mn-lt"/>
              </a:rPr>
              <a:t>lihtsalt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sõnastatud</a:t>
            </a:r>
            <a:r>
              <a:rPr lang="en-US">
                <a:ea typeface="+mn-lt"/>
                <a:cs typeface="+mn-lt"/>
              </a:rPr>
              <a:t>. </a:t>
            </a:r>
            <a:endParaRPr lang="en-US">
              <a:cs typeface="+mn-lt"/>
            </a:endParaRPr>
          </a:p>
          <a:p>
            <a:pPr marL="857250" lvl="1" indent="-342900">
              <a:buFont typeface="Courier New" panose="020B0502030000000004" pitchFamily="34" charset="0"/>
              <a:buChar char="o"/>
            </a:pPr>
            <a:r>
              <a:rPr lang="en-US" err="1">
                <a:ea typeface="+mn-lt"/>
                <a:cs typeface="+mn-lt"/>
              </a:rPr>
              <a:t>Organisatsioon</a:t>
            </a:r>
            <a:r>
              <a:rPr lang="en-US">
                <a:ea typeface="+mn-lt"/>
                <a:cs typeface="+mn-lt"/>
              </a:rPr>
              <a:t> on </a:t>
            </a:r>
            <a:r>
              <a:rPr lang="en-US" err="1">
                <a:ea typeface="+mn-lt"/>
                <a:cs typeface="+mn-lt"/>
              </a:rPr>
              <a:t>sõlminud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koostööpartneritega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õiguspärased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andmetöötluslepingud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C6A04-A27A-59D3-2C9E-1FE4F0E95AEF}"/>
              </a:ext>
            </a:extLst>
          </p:cNvPr>
          <p:cNvSpPr txBox="1"/>
          <p:nvPr/>
        </p:nvSpPr>
        <p:spPr>
          <a:xfrm>
            <a:off x="5484395" y="6015789"/>
            <a:ext cx="60759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Allikas: </a:t>
            </a:r>
            <a:r>
              <a:rPr lang="en-US" sz="2000">
                <a:ea typeface="Inter"/>
                <a:hlinkClick r:id="rId2"/>
              </a:rPr>
              <a:t>Isikuandmete töötleja üldjuhend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A2B6-2FA5-96F5-681E-7E41C9F6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00D5-9B3C-162A-4B58-FF55402E5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Vaikimisi</a:t>
            </a:r>
            <a:r>
              <a:rPr lang="en-US"/>
              <a:t> </a:t>
            </a:r>
            <a:r>
              <a:rPr lang="en-US" err="1"/>
              <a:t>andmekaitse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538C-F300-EDBC-ADF6-B19FCB8385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>
                <a:ea typeface="+mn-lt"/>
                <a:cs typeface="+mn-lt"/>
              </a:rPr>
              <a:t> = </a:t>
            </a:r>
            <a:r>
              <a:rPr lang="en-US" sz="2000" err="1">
                <a:ea typeface="+mn-lt"/>
                <a:cs typeface="+mn-lt"/>
              </a:rPr>
              <a:t>vaikelahendusena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algseadistusena</a:t>
            </a:r>
            <a:r>
              <a:rPr lang="en-US" sz="2000">
                <a:ea typeface="+mn-lt"/>
                <a:cs typeface="+mn-lt"/>
              </a:rPr>
              <a:t>) </a:t>
            </a:r>
            <a:r>
              <a:rPr lang="en-US" sz="2000" err="1">
                <a:ea typeface="+mn-lt"/>
                <a:cs typeface="+mn-lt"/>
              </a:rPr>
              <a:t>sätestatud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tingimused</a:t>
            </a:r>
            <a:endParaRPr lang="en-US" sz="20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Vaikelahendus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peab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olema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kõige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privaatsussõbralikum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kõige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väiksemate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ohtudega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Suuremaid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ohte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sisaldavad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valikud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peaksid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olema</a:t>
            </a:r>
            <a:r>
              <a:rPr lang="en-US" sz="2000">
                <a:ea typeface="+mn-lt"/>
                <a:cs typeface="+mn-lt"/>
              </a:rPr>
              <a:t> need, </a:t>
            </a:r>
            <a:r>
              <a:rPr lang="en-US" sz="2000" err="1">
                <a:ea typeface="+mn-lt"/>
                <a:cs typeface="+mn-lt"/>
              </a:rPr>
              <a:t>mida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inimene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valib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vaikelahenduse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asemele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Vaikimisi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tuleb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nõuda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hädavajalikku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minimaalteavet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14930-731E-5DEE-1CD9-F87FB3285F83}"/>
              </a:ext>
            </a:extLst>
          </p:cNvPr>
          <p:cNvSpPr txBox="1"/>
          <p:nvPr/>
        </p:nvSpPr>
        <p:spPr>
          <a:xfrm>
            <a:off x="5484395" y="6015789"/>
            <a:ext cx="60759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Allikas: </a:t>
            </a:r>
            <a:r>
              <a:rPr lang="en-US" sz="2000">
                <a:ea typeface="Inter"/>
                <a:hlinkClick r:id="rId2"/>
              </a:rPr>
              <a:t>Isikuandmete töötleja üldjuhend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367F-3396-082B-66D9-839F00A1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AD4F-1363-83EA-B854-BE0B8A17C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Andmekaitsespetsialisti</a:t>
            </a:r>
            <a:r>
              <a:rPr lang="en-US"/>
              <a:t> roll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9FFC2-F0D8-A263-0E3B-B405923230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olla </a:t>
            </a:r>
            <a:r>
              <a:rPr lang="en-US" sz="2000" err="1">
                <a:ea typeface="+mn-lt"/>
                <a:cs typeface="+mn-lt"/>
              </a:rPr>
              <a:t>andmesubjektidele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kontaktisikuks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kõigis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küsimustes</a:t>
            </a:r>
            <a:r>
              <a:rPr lang="en-US" sz="2000">
                <a:ea typeface="+mn-lt"/>
                <a:cs typeface="+mn-lt"/>
              </a:rPr>
              <a:t>, mis on </a:t>
            </a:r>
            <a:r>
              <a:rPr lang="en-US" sz="2000" err="1">
                <a:ea typeface="+mn-lt"/>
                <a:cs typeface="+mn-lt"/>
              </a:rPr>
              <a:t>seotud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nende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isikuandmete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töötlemise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nende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andmekaitseliste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õiguste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kasutamisega</a:t>
            </a:r>
            <a:r>
              <a:rPr lang="en-US" sz="2000">
                <a:ea typeface="+mn-lt"/>
                <a:cs typeface="+mn-lt"/>
              </a:rPr>
              <a:t>; </a:t>
            </a:r>
            <a:endParaRPr lang="en-US" sz="2000" err="1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teavitada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nõustada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oma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organisatsiooni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vajadusel</a:t>
            </a:r>
            <a:r>
              <a:rPr lang="en-US" sz="2000">
                <a:ea typeface="+mn-lt"/>
                <a:cs typeface="+mn-lt"/>
              </a:rPr>
              <a:t> ka </a:t>
            </a:r>
            <a:r>
              <a:rPr lang="en-US" sz="2000" err="1">
                <a:ea typeface="+mn-lt"/>
                <a:cs typeface="+mn-lt"/>
              </a:rPr>
              <a:t>selle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partnerite</a:t>
            </a:r>
            <a:r>
              <a:rPr lang="en-US" sz="2000">
                <a:ea typeface="+mn-lt"/>
                <a:cs typeface="+mn-lt"/>
              </a:rPr>
              <a:t>) </a:t>
            </a:r>
            <a:r>
              <a:rPr lang="en-US" sz="2000" err="1">
                <a:ea typeface="+mn-lt"/>
                <a:cs typeface="+mn-lt"/>
              </a:rPr>
              <a:t>juhtkonda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ning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personali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alal</a:t>
            </a:r>
            <a:r>
              <a:rPr lang="en-US" sz="2000">
                <a:ea typeface="+mn-lt"/>
                <a:cs typeface="+mn-lt"/>
              </a:rPr>
              <a:t>; </a:t>
            </a:r>
            <a:endParaRPr 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jälgida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andmekaitsenormide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rakendamist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sealhulgas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vastutusvaldkondade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jaotamist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personali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teadlikkust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koolitamist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ning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andmekaitselist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auditeerimist</a:t>
            </a:r>
            <a:r>
              <a:rPr lang="en-US" sz="2000">
                <a:ea typeface="+mn-lt"/>
                <a:cs typeface="+mn-lt"/>
              </a:rPr>
              <a:t>; </a:t>
            </a:r>
            <a:endParaRPr 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anda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nõu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seoses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andmekaitsealase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mõjuhinnanguga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ning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jälgida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selle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toimimist</a:t>
            </a:r>
            <a:r>
              <a:rPr lang="en-US" sz="2000">
                <a:ea typeface="+mn-lt"/>
                <a:cs typeface="+mn-lt"/>
              </a:rPr>
              <a:t>;</a:t>
            </a:r>
            <a:endParaRPr 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teha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koostööd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Andmekaitse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Inspektsiooniga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olles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tööandja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kontaktisikuks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2513E-C58D-C395-84EF-B8B11D7EA09C}"/>
              </a:ext>
            </a:extLst>
          </p:cNvPr>
          <p:cNvSpPr txBox="1"/>
          <p:nvPr/>
        </p:nvSpPr>
        <p:spPr>
          <a:xfrm>
            <a:off x="5484395" y="6015789"/>
            <a:ext cx="60759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Allikas: </a:t>
            </a:r>
            <a:r>
              <a:rPr lang="en-US" sz="2000">
                <a:ea typeface="Inter"/>
                <a:hlinkClick r:id="rId2"/>
              </a:rPr>
              <a:t>Isikuandmete töötleja üldjuhend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BA15-FE95-ED4A-59C1-CBF90525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F57B-5641-1979-CECB-A828F9903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Andmekaitsespetsialisti</a:t>
            </a:r>
            <a:r>
              <a:rPr lang="en-US"/>
              <a:t> </a:t>
            </a:r>
            <a:r>
              <a:rPr lang="en-US" err="1"/>
              <a:t>määramise</a:t>
            </a:r>
            <a:r>
              <a:rPr lang="en-US"/>
              <a:t> </a:t>
            </a:r>
            <a:r>
              <a:rPr lang="en-US" err="1"/>
              <a:t>kohustus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DC98-99E4-0C63-4015-CAD0B61845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Andmekaitsespetsialisti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peavad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määrama</a:t>
            </a:r>
          </a:p>
          <a:p>
            <a:pPr marL="857250" lvl="1" indent="-457200">
              <a:lnSpc>
                <a:spcPct val="150000"/>
              </a:lnSpc>
              <a:buAutoNum type="arabicPeriod"/>
            </a:pPr>
            <a:r>
              <a:rPr lang="en-US" sz="2000" err="1">
                <a:ea typeface="+mn-lt"/>
                <a:cs typeface="+mn-lt"/>
              </a:rPr>
              <a:t>kõik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avaliku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sektori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asutused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organid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v.a.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kohtud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õigusemõistmise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osas</a:t>
            </a:r>
            <a:r>
              <a:rPr lang="en-US" sz="2000">
                <a:ea typeface="+mn-lt"/>
                <a:cs typeface="+mn-lt"/>
              </a:rPr>
              <a:t>);</a:t>
            </a:r>
            <a:endParaRPr lang="en-US" sz="2000">
              <a:cs typeface="+mn-lt"/>
            </a:endParaRPr>
          </a:p>
          <a:p>
            <a:pPr marL="857250" lvl="1" indent="-457200">
              <a:lnSpc>
                <a:spcPct val="150000"/>
              </a:lnSpc>
              <a:buAutoNum type="arabicPeriod"/>
            </a:pPr>
            <a:r>
              <a:rPr lang="en-US" sz="2000">
                <a:ea typeface="+mn-lt"/>
                <a:cs typeface="+mn-lt"/>
              </a:rPr>
              <a:t>need, </a:t>
            </a:r>
            <a:r>
              <a:rPr lang="en-US" sz="2000" err="1">
                <a:ea typeface="+mn-lt"/>
                <a:cs typeface="+mn-lt"/>
              </a:rPr>
              <a:t>kes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jälgivad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inimesi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oma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põhitegevuse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raames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korrapäraselt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süsteemselt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ning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sealjuures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ulatuslikult</a:t>
            </a:r>
            <a:r>
              <a:rPr lang="en-US" sz="2000">
                <a:ea typeface="+mn-lt"/>
                <a:cs typeface="+mn-lt"/>
              </a:rPr>
              <a:t>;</a:t>
            </a:r>
            <a:endParaRPr lang="en-US" sz="2000">
              <a:cs typeface="+mn-lt"/>
            </a:endParaRPr>
          </a:p>
          <a:p>
            <a:pPr marL="857250" lvl="1" indent="-457200">
              <a:lnSpc>
                <a:spcPct val="150000"/>
              </a:lnSpc>
              <a:buAutoNum type="arabicPeriod"/>
            </a:pPr>
            <a:r>
              <a:rPr lang="en-US" sz="2000">
                <a:ea typeface="+mn-lt"/>
                <a:cs typeface="+mn-lt"/>
              </a:rPr>
              <a:t>need, </a:t>
            </a:r>
            <a:r>
              <a:rPr lang="en-US" sz="2000" err="1">
                <a:ea typeface="+mn-lt"/>
                <a:cs typeface="+mn-lt"/>
              </a:rPr>
              <a:t>kes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töötlevad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isikuandmete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eriliike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või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süüteoandmeid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süüdimõistavaid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kohtuotsuseid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oma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põhitegevuse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raames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sealjuures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ulatuslikult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29059-A2F9-6FC5-5F53-5CC770523F9F}"/>
              </a:ext>
            </a:extLst>
          </p:cNvPr>
          <p:cNvSpPr txBox="1"/>
          <p:nvPr/>
        </p:nvSpPr>
        <p:spPr>
          <a:xfrm>
            <a:off x="3719764" y="6015789"/>
            <a:ext cx="78405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 ja </a:t>
            </a:r>
            <a:r>
              <a:rPr lang="en-US" err="1">
                <a:ea typeface="Inter"/>
              </a:rPr>
              <a:t>rohkem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infot</a:t>
            </a:r>
            <a:r>
              <a:rPr lang="en-US">
                <a:ea typeface="Inter"/>
              </a:rPr>
              <a:t>: </a:t>
            </a:r>
            <a:r>
              <a:rPr lang="en-US" sz="2000">
                <a:ea typeface="Inter"/>
                <a:hlinkClick r:id="rId2"/>
              </a:rPr>
              <a:t>Isikuandmete töötleja üldjuhend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4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3DD9-0882-AD0B-6772-D5A3DE02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4023-6D97-4D40-E848-E0E0901C3E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Vastutav</a:t>
            </a:r>
            <a:r>
              <a:rPr lang="en-US"/>
              <a:t> ja </a:t>
            </a:r>
            <a:r>
              <a:rPr lang="en-US" err="1"/>
              <a:t>volitav</a:t>
            </a:r>
            <a:r>
              <a:rPr lang="en-US"/>
              <a:t> </a:t>
            </a:r>
            <a:r>
              <a:rPr lang="en-US" err="1"/>
              <a:t>töötleja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3C07A-F125-3E4C-9D1D-040C8E417C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Isikuandmete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vastutav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töötleja</a:t>
            </a:r>
            <a:r>
              <a:rPr lang="en-US" sz="2000">
                <a:ea typeface="+mn-lt"/>
                <a:cs typeface="+mn-lt"/>
              </a:rPr>
              <a:t> on see </a:t>
            </a:r>
            <a:r>
              <a:rPr lang="en-US" sz="2000" err="1">
                <a:ea typeface="+mn-lt"/>
                <a:cs typeface="+mn-lt"/>
              </a:rPr>
              <a:t>ettevõte</a:t>
            </a:r>
            <a:r>
              <a:rPr lang="en-US" sz="2000">
                <a:ea typeface="+mn-lt"/>
                <a:cs typeface="+mn-lt"/>
              </a:rPr>
              <a:t>/</a:t>
            </a:r>
            <a:r>
              <a:rPr lang="en-US" sz="2000" err="1">
                <a:ea typeface="+mn-lt"/>
                <a:cs typeface="+mn-lt"/>
              </a:rPr>
              <a:t>asutus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kes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määrab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kindlaks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isikuandmete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töötluse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eesmärgid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vahendid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>
              <a:cs typeface="+mn-lt"/>
            </a:endParaRPr>
          </a:p>
          <a:p>
            <a:pPr lvl="1" indent="-342900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uuringu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tellija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juriidilise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isikuna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+mn-lt"/>
                <a:cs typeface="+mn-lt"/>
              </a:rPr>
              <a:t>Volitatud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töötleja</a:t>
            </a:r>
            <a:r>
              <a:rPr lang="en-US" sz="2000">
                <a:ea typeface="+mn-lt"/>
                <a:cs typeface="+mn-lt"/>
              </a:rPr>
              <a:t> on see, </a:t>
            </a:r>
            <a:r>
              <a:rPr lang="en-US" sz="2000" err="1">
                <a:ea typeface="+mn-lt"/>
                <a:cs typeface="+mn-lt"/>
              </a:rPr>
              <a:t>kes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vastutava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töötleja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nimel</a:t>
            </a:r>
            <a:r>
              <a:rPr lang="en-US" sz="2000">
                <a:ea typeface="+mn-lt"/>
                <a:cs typeface="+mn-lt"/>
              </a:rPr>
              <a:t> ja </a:t>
            </a:r>
            <a:r>
              <a:rPr lang="en-US" sz="2000" err="1">
                <a:ea typeface="+mn-lt"/>
                <a:cs typeface="+mn-lt"/>
              </a:rPr>
              <a:t>ülesandel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isikuandmeid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töötleb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cs typeface="+mn-lt"/>
            </a:endParaRPr>
          </a:p>
          <a:p>
            <a:pPr lvl="1" indent="-342900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uuringu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läbiviija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juriidilise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isikuna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Vastuvõtja</a:t>
            </a:r>
            <a:r>
              <a:rPr lang="en-US" sz="2000">
                <a:ea typeface="+mn-lt"/>
                <a:cs typeface="+mn-lt"/>
              </a:rPr>
              <a:t> on </a:t>
            </a:r>
            <a:r>
              <a:rPr lang="en-US" sz="2000" err="1">
                <a:ea typeface="+mn-lt"/>
                <a:cs typeface="+mn-lt"/>
              </a:rPr>
              <a:t>iga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või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asutus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kellele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isikuandmeid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avaldatakse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uuringu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tellija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juriidilise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isikuna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kui</a:t>
            </a:r>
            <a:r>
              <a:rPr lang="en-US" sz="1800">
                <a:ea typeface="+mn-lt"/>
                <a:cs typeface="+mn-lt"/>
              </a:rPr>
              <a:t> ka </a:t>
            </a:r>
            <a:r>
              <a:rPr lang="en-US" sz="1800" err="1">
                <a:ea typeface="+mn-lt"/>
                <a:cs typeface="+mn-lt"/>
              </a:rPr>
              <a:t>uuringu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tellija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juures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töötavad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füüsilised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isikud</a:t>
            </a:r>
            <a:endParaRPr lang="en-US" sz="18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38BD2-0AEC-7390-168D-7F3E71691C93}"/>
              </a:ext>
            </a:extLst>
          </p:cNvPr>
          <p:cNvSpPr txBox="1"/>
          <p:nvPr/>
        </p:nvSpPr>
        <p:spPr>
          <a:xfrm>
            <a:off x="3719764" y="6015789"/>
            <a:ext cx="78405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 ja </a:t>
            </a:r>
            <a:r>
              <a:rPr lang="en-US" err="1">
                <a:ea typeface="Inter"/>
              </a:rPr>
              <a:t>rohkem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infot</a:t>
            </a:r>
            <a:r>
              <a:rPr lang="en-US">
                <a:ea typeface="Inter"/>
              </a:rPr>
              <a:t>: </a:t>
            </a:r>
            <a:r>
              <a:rPr lang="en-US" sz="2000">
                <a:ea typeface="Inter"/>
                <a:hlinkClick r:id="rId2"/>
              </a:rPr>
              <a:t>Isikuandmete töötleja üldjuhend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7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7EED-C7C3-A543-597B-884CD5C6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E785-FD21-250F-EA36-3D00F0FD6D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err="1"/>
              <a:t>Andmekaitse</a:t>
            </a:r>
            <a:r>
              <a:rPr lang="en-US" sz="2800"/>
              <a:t> </a:t>
            </a:r>
            <a:r>
              <a:rPr lang="en-US" sz="2800" err="1"/>
              <a:t>kokkuvõte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15C8-BFC0-462A-CF64-448D5904B6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Peab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alati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olema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eesmärgipärane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seaduslik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Inter"/>
              </a:rPr>
              <a:t>Kui </a:t>
            </a:r>
            <a:r>
              <a:rPr lang="en-US" sz="2000" err="1">
                <a:ea typeface="Inter"/>
              </a:rPr>
              <a:t>ettevõttes</a:t>
            </a:r>
            <a:r>
              <a:rPr lang="en-US" sz="2000">
                <a:ea typeface="Inter"/>
              </a:rPr>
              <a:t> on </a:t>
            </a:r>
            <a:r>
              <a:rPr lang="en-US" sz="2000" err="1">
                <a:ea typeface="Inter"/>
              </a:rPr>
              <a:t>määratud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andmekaitsespetsialist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siis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pöördu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alati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kahtluse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korral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tema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poole</a:t>
            </a:r>
            <a:r>
              <a:rPr lang="en-US" sz="2000">
                <a:ea typeface="Inter"/>
              </a:rPr>
              <a:t>. </a:t>
            </a:r>
          </a:p>
          <a:p>
            <a:pPr>
              <a:lnSpc>
                <a:spcPct val="150000"/>
              </a:lnSpc>
            </a:pPr>
            <a:endParaRPr lang="en-US" sz="20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104031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9D1A-D010-A2FD-742D-5F5DB359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15A1-2EB7-0018-E763-B73E36760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err="1"/>
              <a:t>Lisamaterjale</a:t>
            </a:r>
            <a:r>
              <a:rPr lang="en-US" sz="2800"/>
              <a:t> </a:t>
            </a:r>
            <a:r>
              <a:rPr lang="en-US" sz="2800" err="1"/>
              <a:t>andmekaitse</a:t>
            </a:r>
            <a:r>
              <a:rPr lang="en-US" sz="2800"/>
              <a:t> </a:t>
            </a:r>
            <a:r>
              <a:rPr lang="en-US" sz="2800" err="1"/>
              <a:t>kohta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E086A-9AC8-70D7-09C0-66D170C0AB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000">
              <a:ea typeface="Inter"/>
            </a:endParaRPr>
          </a:p>
          <a:p>
            <a:pPr>
              <a:lnSpc>
                <a:spcPct val="150000"/>
              </a:lnSpc>
            </a:pPr>
            <a:endParaRPr lang="en-US" sz="2000">
              <a:ea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E1D98-B1F7-F3A1-53F6-04E762FE62F5}"/>
              </a:ext>
            </a:extLst>
          </p:cNvPr>
          <p:cNvSpPr txBox="1"/>
          <p:nvPr/>
        </p:nvSpPr>
        <p:spPr>
          <a:xfrm>
            <a:off x="635431" y="1149828"/>
            <a:ext cx="11034325" cy="11355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ea typeface="Inter"/>
              </a:rPr>
              <a:t>Andmekaitse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inspektsioon</a:t>
            </a:r>
            <a:r>
              <a:rPr lang="en-US" sz="2400" dirty="0">
                <a:ea typeface="Inter"/>
              </a:rPr>
              <a:t>: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>
                <a:ea typeface="Inter"/>
                <a:hlinkClick r:id="rId2"/>
              </a:rPr>
              <a:t>Andmekaitse ABC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ea typeface="Inter"/>
                <a:hlinkClick r:id="rId3"/>
              </a:rPr>
              <a:t>Isikuandmete töötleja üldjuhend</a:t>
            </a:r>
          </a:p>
        </p:txBody>
      </p:sp>
    </p:spTree>
    <p:extLst>
      <p:ext uri="{BB962C8B-B14F-4D97-AF65-F5344CB8AC3E}">
        <p14:creationId xmlns:p14="http://schemas.microsoft.com/office/powerpoint/2010/main" val="2968960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B218-5E3A-367F-021B-630DDB20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611B-EDDD-19FC-1455-EECFE20A7D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D50AD9-8154-F045-E96F-F3431C772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40614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7BC0-79F6-AB62-E18D-E728B50E0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F04F-79CF-D596-2442-C7AA52CDBB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err="1"/>
              <a:t>Külalisesineja</a:t>
            </a:r>
            <a:endParaRPr lang="et-EE" sz="3200" dirty="0"/>
          </a:p>
        </p:txBody>
      </p:sp>
    </p:spTree>
    <p:extLst>
      <p:ext uri="{BB962C8B-B14F-4D97-AF65-F5344CB8AC3E}">
        <p14:creationId xmlns:p14="http://schemas.microsoft.com/office/powerpoint/2010/main" val="1871966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EDE8-4802-6D47-FC8C-0D71004B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3FF4-C04B-25BA-46AE-8BE14DC04A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02593E-1699-CD76-2AB7-FB29D7F74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dirty="0"/>
              <a:t>Paus 15:15-15:30</a:t>
            </a:r>
          </a:p>
        </p:txBody>
      </p:sp>
    </p:spTree>
    <p:extLst>
      <p:ext uri="{BB962C8B-B14F-4D97-AF65-F5344CB8AC3E}">
        <p14:creationId xmlns:p14="http://schemas.microsoft.com/office/powerpoint/2010/main" val="3267241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916F-3A2C-85BA-9906-09B4A79C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5537-CB3E-C083-F8A7-F00B6AE1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n-US" b="1" err="1"/>
              <a:t>Grupitöö</a:t>
            </a:r>
            <a:r>
              <a:rPr lang="en-US" b="1"/>
              <a:t> </a:t>
            </a:r>
            <a:r>
              <a:rPr lang="en-US" b="1" err="1"/>
              <a:t>osad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FECB-31FC-C645-D35E-8C1758638C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err="1">
                <a:ea typeface="Inter"/>
                <a:cs typeface="Noto Serif"/>
              </a:rPr>
              <a:t>Ettevõtte</a:t>
            </a:r>
            <a:r>
              <a:rPr lang="en-US" sz="2000">
                <a:ea typeface="Inter"/>
                <a:cs typeface="Noto Serif"/>
              </a:rPr>
              <a:t> ja </a:t>
            </a:r>
            <a:r>
              <a:rPr lang="en-US" sz="2000" err="1">
                <a:ea typeface="Inter"/>
                <a:cs typeface="Noto Serif"/>
              </a:rPr>
              <a:t>uurimisprobleemi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tutvustus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Uurimisplaan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Andmekaitse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kirjeldus</a:t>
            </a:r>
            <a:r>
              <a:rPr lang="en-US" sz="2000">
                <a:ea typeface="Inter"/>
                <a:cs typeface="Noto Serif"/>
              </a:rPr>
              <a:t> – mis </a:t>
            </a:r>
            <a:r>
              <a:rPr lang="en-US" sz="2000" err="1">
                <a:ea typeface="Inter"/>
                <a:cs typeface="Noto Serif"/>
              </a:rPr>
              <a:t>alustel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andmeid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töödeldakse</a:t>
            </a:r>
            <a:r>
              <a:rPr lang="en-US" sz="2000">
                <a:ea typeface="Inter"/>
                <a:cs typeface="Noto Serif"/>
              </a:rPr>
              <a:t>?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Ärisõnastik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andmemudel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andmesõnastik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Andmevoog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Näidisandmestiku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loomine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kvaliteedi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kontroll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eksploratiivne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statistiline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Kirjeldav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raport</a:t>
            </a:r>
            <a:r>
              <a:rPr lang="en-US" sz="2000">
                <a:ea typeface="Inter"/>
                <a:cs typeface="Noto Serif"/>
              </a:rPr>
              <a:t> /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Andmelugu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järeldused</a:t>
            </a:r>
            <a:endParaRPr lang="en-US" sz="2000" err="1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45017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24B8-E587-E3FE-2649-C69E942C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62382-376F-D403-218E-FAD6D454E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n-US" b="1" dirty="0" err="1"/>
              <a:t>Grupitöö</a:t>
            </a:r>
            <a:r>
              <a:rPr lang="en-US" b="1" dirty="0"/>
              <a:t> - 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7352-F93B-EE31-220C-F9E2EC9BDA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 err="1">
                <a:ea typeface="Inter"/>
                <a:cs typeface="Noto Serif"/>
              </a:rPr>
              <a:t>Looge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Githubi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projekt</a:t>
            </a:r>
            <a:r>
              <a:rPr lang="en-US" sz="2400" dirty="0">
                <a:ea typeface="Inter"/>
                <a:cs typeface="Noto Serif"/>
              </a:rPr>
              <a:t> – </a:t>
            </a:r>
            <a:r>
              <a:rPr lang="en-US" sz="2400" dirty="0" err="1">
                <a:ea typeface="Inter"/>
                <a:cs typeface="Noto Serif"/>
              </a:rPr>
              <a:t>avalik</a:t>
            </a:r>
            <a:r>
              <a:rPr lang="en-US" sz="2400" dirty="0">
                <a:ea typeface="Inter"/>
                <a:cs typeface="Noto Serif"/>
              </a:rPr>
              <a:t> repository </a:t>
            </a:r>
            <a:r>
              <a:rPr lang="en-US" sz="2400" dirty="0" err="1">
                <a:ea typeface="Inter"/>
                <a:cs typeface="Noto Serif"/>
              </a:rPr>
              <a:t>mõne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grupiliikme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Githubis</a:t>
            </a:r>
            <a:endParaRPr lang="en-US" sz="2400" dirty="0">
              <a:ea typeface="Inter"/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 err="1">
                <a:ea typeface="Inter"/>
                <a:cs typeface="Noto Serif"/>
              </a:rPr>
              <a:t>Lisage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teised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grupiliikmed</a:t>
            </a:r>
            <a:r>
              <a:rPr lang="en-US" sz="2400" dirty="0">
                <a:ea typeface="Inter"/>
                <a:cs typeface="Noto Serif"/>
              </a:rPr>
              <a:t> Collaborators </a:t>
            </a:r>
            <a:r>
              <a:rPr lang="en-US" sz="2400" dirty="0" err="1">
                <a:ea typeface="Inter"/>
                <a:cs typeface="Noto Serif"/>
              </a:rPr>
              <a:t>alla</a:t>
            </a:r>
            <a:endParaRPr lang="en-US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dirty="0">
                <a:ea typeface="Inter"/>
                <a:cs typeface="Noto Serif"/>
              </a:rPr>
              <a:t>Clone repository </a:t>
            </a:r>
            <a:r>
              <a:rPr lang="en-US" sz="2400" dirty="0" err="1">
                <a:ea typeface="Inter"/>
                <a:cs typeface="Noto Serif"/>
              </a:rPr>
              <a:t>oma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kohalikku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arvutisse</a:t>
            </a:r>
            <a:endParaRPr lang="en-US" sz="2400" dirty="0" err="1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dirty="0" err="1">
                <a:ea typeface="Inter"/>
                <a:cs typeface="Noto Serif"/>
              </a:rPr>
              <a:t>Leppige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kokku</a:t>
            </a:r>
            <a:r>
              <a:rPr lang="en-US" sz="2400" dirty="0">
                <a:ea typeface="Inter"/>
                <a:cs typeface="Noto Serif"/>
              </a:rPr>
              <a:t>, </a:t>
            </a:r>
            <a:r>
              <a:rPr lang="en-US" sz="2400" dirty="0" err="1">
                <a:ea typeface="Inter"/>
                <a:cs typeface="Noto Serif"/>
              </a:rPr>
              <a:t>kuidas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muutusi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üles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laete</a:t>
            </a:r>
            <a:endParaRPr lang="en-US" sz="2400" dirty="0" err="1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n-US" sz="2400" dirty="0" err="1">
                <a:ea typeface="Inter"/>
                <a:cs typeface="Noto Serif"/>
              </a:rPr>
              <a:t>Nt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iga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uue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funktsionaalsuse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jaoks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eraldi</a:t>
            </a:r>
            <a:r>
              <a:rPr lang="en-US" sz="2400" dirty="0">
                <a:ea typeface="Inter"/>
                <a:cs typeface="Noto Serif"/>
              </a:rPr>
              <a:t> "feature/..." Branch</a:t>
            </a:r>
            <a:endParaRPr lang="en-US" sz="240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n-US" sz="2400" dirty="0">
                <a:ea typeface="Inter"/>
                <a:cs typeface="Noto Serif"/>
              </a:rPr>
              <a:t>Kui </a:t>
            </a:r>
            <a:r>
              <a:rPr lang="en-US" sz="2400" dirty="0" err="1">
                <a:ea typeface="Inter"/>
                <a:cs typeface="Noto Serif"/>
              </a:rPr>
              <a:t>iga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funktsionaalsuse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jaoks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eraldi</a:t>
            </a:r>
            <a:r>
              <a:rPr lang="en-US" sz="2400" dirty="0">
                <a:ea typeface="Inter"/>
                <a:cs typeface="Noto Serif"/>
              </a:rPr>
              <a:t> branch, </a:t>
            </a:r>
            <a:r>
              <a:rPr lang="en-US" sz="2400" dirty="0" err="1">
                <a:ea typeface="Inter"/>
                <a:cs typeface="Noto Serif"/>
              </a:rPr>
              <a:t>siis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pärast</a:t>
            </a:r>
            <a:r>
              <a:rPr lang="en-US" sz="2400" dirty="0">
                <a:ea typeface="Inter"/>
                <a:cs typeface="Noto Serif"/>
              </a:rPr>
              <a:t> Pull </a:t>
            </a:r>
            <a:r>
              <a:rPr lang="en-US" sz="2400" dirty="0" err="1">
                <a:ea typeface="Inter"/>
                <a:cs typeface="Noto Serif"/>
              </a:rPr>
              <a:t>Request'I</a:t>
            </a:r>
            <a:r>
              <a:rPr lang="en-US" sz="2400" dirty="0">
                <a:ea typeface="Inter"/>
                <a:cs typeface="Noto Serif"/>
              </a:rPr>
              <a:t> </a:t>
            </a:r>
            <a:r>
              <a:rPr lang="en-US" sz="2400" dirty="0" err="1">
                <a:ea typeface="Inter"/>
                <a:cs typeface="Noto Serif"/>
              </a:rPr>
              <a:t>kustutada</a:t>
            </a:r>
            <a:r>
              <a:rPr lang="en-US" sz="2400" dirty="0">
                <a:ea typeface="Inter"/>
                <a:cs typeface="Noto Serif"/>
              </a:rPr>
              <a:t> feature branch</a:t>
            </a:r>
            <a:endParaRPr lang="en-US" sz="240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n-US" sz="240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n-US" sz="240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4079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EE9B-3020-A266-14D5-3A10FD23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3CE6-A314-B235-7804-1DB6617CE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</a:t>
            </a:r>
            <a:r>
              <a:rPr lang="en-US" dirty="0" err="1"/>
              <a:t>muutuste</a:t>
            </a:r>
            <a:r>
              <a:rPr lang="en-US" dirty="0"/>
              <a:t> </a:t>
            </a:r>
            <a:r>
              <a:rPr lang="en-US" dirty="0" err="1"/>
              <a:t>üles</a:t>
            </a:r>
            <a:r>
              <a:rPr lang="en-US" dirty="0"/>
              <a:t> </a:t>
            </a:r>
            <a:r>
              <a:rPr lang="en-US" dirty="0" err="1"/>
              <a:t>laadimine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3C7E-895D-19CD-768D-5D677901F5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Tee </a:t>
            </a:r>
            <a:r>
              <a:rPr lang="en-US" sz="2400" dirty="0" err="1">
                <a:ea typeface="Inter"/>
              </a:rPr>
              <a:t>muutused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kohalikus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kaustas</a:t>
            </a:r>
            <a:endParaRPr lang="en-US" sz="2400" dirty="0">
              <a:ea typeface="Inter"/>
            </a:endParaRP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Pull from main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Lisa </a:t>
            </a:r>
            <a:r>
              <a:rPr lang="en-US" sz="2400" err="1">
                <a:ea typeface="Inter"/>
              </a:rPr>
              <a:t>kommentaar</a:t>
            </a:r>
            <a:r>
              <a:rPr lang="en-US" sz="2400" dirty="0">
                <a:ea typeface="Inter"/>
              </a:rPr>
              <a:t> ja Commit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Sync Changes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Vali </a:t>
            </a:r>
            <a:r>
              <a:rPr lang="en-US" sz="240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Kliki</a:t>
            </a:r>
            <a:r>
              <a:rPr lang="en-US" sz="2400" dirty="0">
                <a:ea typeface="Inter"/>
              </a:rPr>
              <a:t> "This branch is 1 commit ahead"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Create Pull Request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Merge Pull Request</a:t>
            </a:r>
            <a:endParaRPr lang="en-US" sz="2400" dirty="0"/>
          </a:p>
          <a:p>
            <a:pPr>
              <a:buClr>
                <a:srgbClr val="121212"/>
              </a:buCl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4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D8D0-6DB4-575E-917E-EF1716356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4898-1A89-32D0-7964-55457B42E9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 err="1"/>
              <a:t>Leppime</a:t>
            </a:r>
            <a:r>
              <a:rPr lang="en-US" sz="2400" dirty="0"/>
              <a:t> </a:t>
            </a:r>
            <a:r>
              <a:rPr lang="en-US" sz="2400" dirty="0" err="1"/>
              <a:t>kokku</a:t>
            </a:r>
            <a:r>
              <a:rPr lang="en-US" sz="2400" dirty="0"/>
              <a:t> </a:t>
            </a:r>
            <a:r>
              <a:rPr lang="en-US" sz="2400" dirty="0" err="1"/>
              <a:t>kohtumised</a:t>
            </a:r>
            <a:r>
              <a:rPr lang="en-US" sz="2400" dirty="0"/>
              <a:t> </a:t>
            </a:r>
            <a:r>
              <a:rPr lang="en-US" sz="2400" dirty="0" err="1"/>
              <a:t>kliendiga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1519353560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1615</Words>
  <Application>Microsoft Office PowerPoint</Application>
  <PresentationFormat>Widescreen</PresentationFormat>
  <Paragraphs>230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Poppins SemiBold</vt:lpstr>
      <vt:lpstr>Courier New,monospace</vt:lpstr>
      <vt:lpstr>Inter</vt:lpstr>
      <vt:lpstr>Courier New</vt:lpstr>
      <vt:lpstr>Noto Serif</vt:lpstr>
      <vt:lpstr>Inter Bold</vt:lpstr>
      <vt:lpstr>Arial,Sans-Serif</vt:lpstr>
      <vt:lpstr>Calibri</vt:lpstr>
      <vt:lpstr>Arial</vt:lpstr>
      <vt:lpstr>BCS</vt:lpstr>
      <vt:lpstr>Vali Andmetarkus!</vt:lpstr>
      <vt:lpstr>Päevakava - XIV päev</vt:lpstr>
      <vt:lpstr>Andmekaitse</vt:lpstr>
      <vt:lpstr>Harjutus - töötajate andmestik</vt:lpstr>
      <vt:lpstr>Isikuandmete peitmine - anonümiseerimine vs pseudonümiseerimine </vt:lpstr>
      <vt:lpstr>Isikuandmete töötlemise põhimõtted</vt:lpstr>
      <vt:lpstr>Isiku õigused seoses isikuandmetega</vt:lpstr>
      <vt:lpstr>Isikuandmete töötlemise seaduslik alus</vt:lpstr>
      <vt:lpstr>Eriliiki isikuandmed</vt:lpstr>
      <vt:lpstr>Eriliigiliste isikuandmete töötlemise alused</vt:lpstr>
      <vt:lpstr>Andmekaitsetingimused (Privaatsuspoliitika)</vt:lpstr>
      <vt:lpstr>Paus 10:30-10:45</vt:lpstr>
      <vt:lpstr>Lõimitud andmekaitse põhimõtted</vt:lpstr>
      <vt:lpstr>Vaikimisi andmekaitse</vt:lpstr>
      <vt:lpstr>Andmekaitsespetsialisti roll</vt:lpstr>
      <vt:lpstr>Andmekaitsespetsialisti määramise kohustus</vt:lpstr>
      <vt:lpstr>Vastutav ja volitav töötleja</vt:lpstr>
      <vt:lpstr>Andmekaitse kokkuvõte</vt:lpstr>
      <vt:lpstr>Lisamaterjale andmekaitse kohta</vt:lpstr>
      <vt:lpstr>Lõunapaus 12:15-13:15</vt:lpstr>
      <vt:lpstr>PowerPoint Presentation</vt:lpstr>
      <vt:lpstr>Paus 15:15-15:30</vt:lpstr>
      <vt:lpstr>Grupitöö osad</vt:lpstr>
      <vt:lpstr>Grupitöö - GitHub</vt:lpstr>
      <vt:lpstr>Versioonihaldus – muutuste üles laadimine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160</cp:revision>
  <dcterms:created xsi:type="dcterms:W3CDTF">2021-08-27T11:35:28Z</dcterms:created>
  <dcterms:modified xsi:type="dcterms:W3CDTF">2026-04-14T08:00:53Z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