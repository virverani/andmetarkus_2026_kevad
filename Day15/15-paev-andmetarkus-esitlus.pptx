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417" r:id="rId5"/>
    <p:sldId id="479" r:id="rId6"/>
    <p:sldId id="567" r:id="rId7"/>
    <p:sldId id="475" r:id="rId8"/>
    <p:sldId id="261" r:id="rId9"/>
    <p:sldId id="452" r:id="rId10"/>
    <p:sldId id="647" r:id="rId11"/>
    <p:sldId id="476" r:id="rId12"/>
    <p:sldId id="477" r:id="rId13"/>
    <p:sldId id="494" r:id="rId14"/>
    <p:sldId id="446" r:id="rId15"/>
    <p:sldId id="447" r:id="rId16"/>
    <p:sldId id="646" r:id="rId17"/>
    <p:sldId id="571" r:id="rId18"/>
    <p:sldId id="514" r:id="rId19"/>
    <p:sldId id="572" r:id="rId20"/>
    <p:sldId id="619" r:id="rId21"/>
  </p:sldIdLst>
  <p:sldSz cx="12192000" cy="6858000"/>
  <p:notesSz cx="6858000" cy="9144000"/>
  <p:embeddedFontLst>
    <p:embeddedFont>
      <p:font typeface="Inter" panose="020B0604020202020204" charset="0"/>
      <p:regular r:id="rId24"/>
      <p:bold r:id="rId25"/>
      <p:italic r:id="rId26"/>
      <p:boldItalic r:id="rId27"/>
    </p:embeddedFont>
    <p:embeddedFont>
      <p:font typeface="Inter Bold" panose="020B0604020202020204" charset="0"/>
      <p:bold r:id="rId28"/>
    </p:embeddedFont>
    <p:embeddedFont>
      <p:font typeface="Noto Serif" panose="02020600060500020200" pitchFamily="18" charset="0"/>
      <p:regular r:id="rId29"/>
      <p:bold r:id="rId30"/>
      <p:italic r:id="rId31"/>
      <p:boldItalic r:id="rId32"/>
    </p:embeddedFont>
    <p:embeddedFont>
      <p:font typeface="Poppins SemiBold" panose="00000700000000000000" pitchFamily="2" charset="0"/>
      <p:bold r:id="rId33"/>
      <p:boldItalic r:id="rId3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ADCC2F-0731-4A5B-A287-B42682DA1D9C}" v="92" dt="2026-04-17T08:26:41.1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font" Target="fonts/font1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4-17T08:27:10.969" v="544" actId="1076"/>
      <pc:docMkLst>
        <pc:docMk/>
      </pc:docMkLst>
      <pc:sldChg chg="modSp add mod">
        <pc:chgData name="Virve Räni" userId="161a7437-7ef4-49ec-91bf-54882f313dfe" providerId="ADAL" clId="{6D754EED-65AA-4A21-B175-6769012CF487}" dt="2026-04-17T08:27:10.969" v="544" actId="1076"/>
        <pc:sldMkLst>
          <pc:docMk/>
          <pc:sldMk cId="0" sldId="261"/>
        </pc:sldMkLst>
        <pc:spChg chg="mod">
          <ac:chgData name="Virve Räni" userId="161a7437-7ef4-49ec-91bf-54882f313dfe" providerId="ADAL" clId="{6D754EED-65AA-4A21-B175-6769012CF487}" dt="2026-04-17T08:27:02.988" v="543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Virve Räni" userId="161a7437-7ef4-49ec-91bf-54882f313dfe" providerId="ADAL" clId="{6D754EED-65AA-4A21-B175-6769012CF487}" dt="2026-04-17T08:27:10.969" v="544" actId="1076"/>
          <ac:spMkLst>
            <pc:docMk/>
            <pc:sldMk cId="0" sldId="261"/>
            <ac:spMk id="3" creationId="{00000000-0000-0000-0000-000000000000}"/>
          </ac:spMkLst>
        </pc:spChg>
        <pc:spChg chg="mod">
          <ac:chgData name="Virve Räni" userId="161a7437-7ef4-49ec-91bf-54882f313dfe" providerId="ADAL" clId="{6D754EED-65AA-4A21-B175-6769012CF487}" dt="2026-04-17T08:27:10.969" v="544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Virve Räni" userId="161a7437-7ef4-49ec-91bf-54882f313dfe" providerId="ADAL" clId="{6D754EED-65AA-4A21-B175-6769012CF487}" dt="2026-04-17T08:27:10.969" v="544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Virve Räni" userId="161a7437-7ef4-49ec-91bf-54882f313dfe" providerId="ADAL" clId="{6D754EED-65AA-4A21-B175-6769012CF487}" dt="2026-04-17T08:27:10.969" v="544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Virve Räni" userId="161a7437-7ef4-49ec-91bf-54882f313dfe" providerId="ADAL" clId="{6D754EED-65AA-4A21-B175-6769012CF487}" dt="2026-04-17T08:27:10.969" v="544" actId="1076"/>
          <ac:spMkLst>
            <pc:docMk/>
            <pc:sldMk cId="0" sldId="261"/>
            <ac:spMk id="7" creationId="{00000000-0000-0000-0000-000000000000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4169291970" sldId="41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5" creationId="{3496B8E7-2B01-285F-88ED-B3ADE66A3D3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23" creationId="{382D4282-6F49-4A70-83AA-7E8F5DD56DC2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1536515755" sldId="4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2" creationId="{15E4613B-AA18-2E8F-A97B-F0B013DE239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3" creationId="{F4A70332-1D1A-2C6E-9052-C6A2A2009676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3667732403" sldId="44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2" creationId="{637509EE-22F1-1315-8A2D-3282644AA9E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3" creationId="{90E5931E-0B21-061A-1BAA-585EFA37FA45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3557357758" sldId="45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2" creationId="{8181DBF1-6B0C-F0AB-B6AE-072A389A274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9" creationId="{2C7597CA-D61E-17DA-17B5-C9C1738A73BE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13" creationId="{7D4B374B-E0FB-F26A-AAD2-2AA0ED2D1C5C}"/>
          </ac:spMkLst>
        </pc:spChg>
      </pc:sldChg>
      <pc:sldChg chg="modSp mod">
        <pc:chgData name="Virve Räni" userId="161a7437-7ef4-49ec-91bf-54882f313dfe" providerId="ADAL" clId="{6D754EED-65AA-4A21-B175-6769012CF487}" dt="2026-04-14T08:13:17.052" v="511" actId="20577"/>
        <pc:sldMkLst>
          <pc:docMk/>
          <pc:sldMk cId="3647997252" sldId="475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47997252" sldId="475"/>
            <ac:spMk id="2" creationId="{B5EA4698-C786-6EFD-B097-B5E4A75DB8C2}"/>
          </ac:spMkLst>
        </pc:spChg>
        <pc:spChg chg="mod">
          <ac:chgData name="Virve Räni" userId="161a7437-7ef4-49ec-91bf-54882f313dfe" providerId="ADAL" clId="{6D754EED-65AA-4A21-B175-6769012CF487}" dt="2026-04-14T08:13:17.052" v="511" actId="20577"/>
          <ac:spMkLst>
            <pc:docMk/>
            <pc:sldMk cId="3647997252" sldId="475"/>
            <ac:spMk id="3" creationId="{6724179F-8918-CD83-5B3D-AF1D9C751EAD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574469935" sldId="47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2" creationId="{30C2D799-FEF4-2867-2771-9F5C35BC3DB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3" creationId="{AC5492C0-055D-8861-D035-31319A801802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894215464" sldId="47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2" creationId="{8C4CA12E-8239-93DD-2B09-FE46CB68CA64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3" creationId="{4BAEE41D-2DBC-64AB-6A9E-0377C470EE09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139234541" sldId="47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139234541" sldId="479"/>
            <ac:spMk id="2" creationId="{C1FE7A2D-F34A-AFF4-F094-9247F2654D30}"/>
          </ac:spMkLst>
        </pc:spChg>
        <pc:graphicFrameChg chg="mod modGraphic">
          <ac:chgData name="Virve Räni" userId="161a7437-7ef4-49ec-91bf-54882f313dfe" providerId="ADAL" clId="{6D754EED-65AA-4A21-B175-6769012CF487}" dt="2026-04-14T08:06:07.883" v="377" actId="790"/>
          <ac:graphicFrameMkLst>
            <pc:docMk/>
            <pc:sldMk cId="1139234541" sldId="479"/>
            <ac:graphicFrameMk id="5" creationId="{65E32B2B-E742-662F-CC36-DC7E268CAC3C}"/>
          </ac:graphicFrameMkLst>
        </pc:graphicFrameChg>
      </pc:sldChg>
      <pc:sldChg chg="modSp mod modAnim">
        <pc:chgData name="Virve Räni" userId="161a7437-7ef4-49ec-91bf-54882f313dfe" providerId="ADAL" clId="{6D754EED-65AA-4A21-B175-6769012CF487}" dt="2026-04-14T08:06:07.883" v="377" actId="790"/>
        <pc:sldMkLst>
          <pc:docMk/>
          <pc:sldMk cId="4027656671" sldId="49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2" creationId="{193632AA-1804-C95A-235A-B1630A75A285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3" creationId="{2ED24C29-7DB7-412C-B56A-46EC71179C17}"/>
          </ac:spMkLst>
        </pc:spChg>
      </pc:sldChg>
      <pc:sldChg chg="modSp mod ord">
        <pc:chgData name="Virve Räni" userId="161a7437-7ef4-49ec-91bf-54882f313dfe" providerId="ADAL" clId="{6D754EED-65AA-4A21-B175-6769012CF487}" dt="2026-04-14T08:06:47.771" v="379"/>
        <pc:sldMkLst>
          <pc:docMk/>
          <pc:sldMk cId="2641817430" sldId="51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2" creationId="{C9529B55-022C-CCF6-9EF2-07D4A3BCE7C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3" creationId="{1F0A66F8-FBDE-40E8-405E-245CA696AFB7}"/>
          </ac:spMkLst>
        </pc:spChg>
      </pc:sldChg>
      <pc:sldChg chg="modSp mod ord">
        <pc:chgData name="Virve Räni" userId="161a7437-7ef4-49ec-91bf-54882f313dfe" providerId="ADAL" clId="{6D754EED-65AA-4A21-B175-6769012CF487}" dt="2026-04-14T08:06:07.883" v="377" actId="790"/>
        <pc:sldMkLst>
          <pc:docMk/>
          <pc:sldMk cId="2677885354" sldId="56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3" creationId="{563CB597-CCE1-B2CB-AF5D-4898AE06731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5" creationId="{DC12984A-F918-66CF-9BF7-11C289E0534A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494237226" sldId="571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3" creationId="{D12FCE63-0FB0-32F6-8A25-B0877487D27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5" creationId="{2DEE2DCD-5528-0E71-8160-938192ACA33B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3652901621" sldId="57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3" creationId="{96915822-6BB3-759C-184D-73740C8BDF97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5" creationId="{C6EAEB33-E2E1-C05F-2B41-C3ECC3F9D6BB}"/>
          </ac:spMkLst>
        </pc:spChg>
      </pc:sldChg>
      <pc:sldChg chg="modSp mod ord">
        <pc:chgData name="Virve Räni" userId="161a7437-7ef4-49ec-91bf-54882f313dfe" providerId="ADAL" clId="{6D754EED-65AA-4A21-B175-6769012CF487}" dt="2026-04-14T08:07:04.953" v="381"/>
        <pc:sldMkLst>
          <pc:docMk/>
          <pc:sldMk cId="1362109033" sldId="61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2" creationId="{DD181A30-3F12-3F34-4B12-D2A75ABF5922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3" creationId="{EB1B2D3B-479E-EDB2-3538-B9498FA1C196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3682630093" sldId="6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82630093" sldId="646"/>
            <ac:spMk id="2" creationId="{4FFB36D3-A970-D5A5-D02E-FEE0E6B0D12C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82630093" sldId="646"/>
            <ac:spMk id="3" creationId="{DEB6FC87-C50E-09CA-7F87-C4C23D6BFC79}"/>
          </ac:spMkLst>
        </pc:spChg>
      </pc:sldChg>
      <pc:sldChg chg="modSp new mod">
        <pc:chgData name="Virve Räni" userId="161a7437-7ef4-49ec-91bf-54882f313dfe" providerId="ADAL" clId="{6D754EED-65AA-4A21-B175-6769012CF487}" dt="2026-04-14T08:12:52.894" v="497" actId="20577"/>
        <pc:sldMkLst>
          <pc:docMk/>
          <pc:sldMk cId="1143583913" sldId="647"/>
        </pc:sldMkLst>
        <pc:spChg chg="mod">
          <ac:chgData name="Virve Räni" userId="161a7437-7ef4-49ec-91bf-54882f313dfe" providerId="ADAL" clId="{6D754EED-65AA-4A21-B175-6769012CF487}" dt="2026-04-14T08:11:50.324" v="428" actId="20577"/>
          <ac:spMkLst>
            <pc:docMk/>
            <pc:sldMk cId="1143583913" sldId="647"/>
            <ac:spMk id="2" creationId="{1A746728-76D6-E8E6-D46A-BE5C5BCFA966}"/>
          </ac:spMkLst>
        </pc:spChg>
        <pc:spChg chg="mod">
          <ac:chgData name="Virve Räni" userId="161a7437-7ef4-49ec-91bf-54882f313dfe" providerId="ADAL" clId="{6D754EED-65AA-4A21-B175-6769012CF487}" dt="2026-04-14T08:12:52.894" v="497" actId="20577"/>
          <ac:spMkLst>
            <pc:docMk/>
            <pc:sldMk cId="1143583913" sldId="647"/>
            <ac:spMk id="3" creationId="{04A36C9B-9CD7-7743-0A7B-85761C9ACA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17.04.2026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Iteratiivne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</a:t>
            </a:r>
            <a:r>
              <a:rPr lang="en-US"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67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17.04.2026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t-E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t-EE" sz="150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16A5AF-4096-3F73-CDAE-6BD353811010}"/>
              </a:ext>
            </a:extLst>
          </p:cNvPr>
          <p:cNvCxnSpPr>
            <a:cxnSpLocks/>
          </p:cNvCxnSpPr>
          <p:nvPr userDrawn="1"/>
        </p:nvCxnSpPr>
        <p:spPr>
          <a:xfrm>
            <a:off x="680936" y="6411507"/>
            <a:ext cx="9766503" cy="0"/>
          </a:xfrm>
          <a:prstGeom prst="line">
            <a:avLst/>
          </a:prstGeom>
          <a:noFill/>
          <a:ln w="38100" cap="flat" cmpd="sng" algn="ctr">
            <a:solidFill>
              <a:srgbClr val="584FF5"/>
            </a:solidFill>
            <a:prstDash val="solid"/>
            <a:miter lim="800000"/>
          </a:ln>
          <a:effectLst/>
        </p:spPr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576EF2F-0C5E-420A-857B-31ACCBDDD5CD}"/>
              </a:ext>
            </a:extLst>
          </p:cNvPr>
          <p:cNvGrpSpPr/>
          <p:nvPr userDrawn="1"/>
        </p:nvGrpSpPr>
        <p:grpSpPr>
          <a:xfrm>
            <a:off x="10951021" y="6277886"/>
            <a:ext cx="674192" cy="266297"/>
            <a:chOff x="10757948" y="6254276"/>
            <a:chExt cx="809030" cy="319556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B5F4D7E-D685-D63A-46F9-6F65D124122E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rgbClr val="584FF5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7619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Inter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C0494AF-C2FA-DB73-BDB7-868AA8801C0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rgbClr val="584FF5">
                <a:lumMod val="60000"/>
                <a:lumOff val="40000"/>
              </a:srgb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7619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In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7105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  <p:sldLayoutId id="2147483678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archlightinstitute.org/wp-content/uploads/2025/12/Crosstabs-AI-Polling-Survey-v2-2025073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course/index.php?categoryid=60" TargetMode="External"/><Relationship Id="rId2" Type="http://schemas.openxmlformats.org/officeDocument/2006/relationships/hyperlink" Target="https://sisu.ut.ee/ti/oppematerjali-avaleht/" TargetMode="Externa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app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claude.ai/" TargetMode="External"/><Relationship Id="rId4" Type="http://schemas.openxmlformats.org/officeDocument/2006/relationships/hyperlink" Target="https://copilot.microsoft.com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noProof="0" dirty="0">
                <a:ea typeface="Inter"/>
              </a:rPr>
              <a:t>Virve Räni</a:t>
            </a:r>
            <a:endParaRPr lang="et-EE" noProof="0" dirty="0"/>
          </a:p>
          <a:p>
            <a:r>
              <a:rPr lang="et-EE" noProof="0" dirty="0">
                <a:ea typeface="Inter"/>
              </a:rPr>
              <a:t>virve.rani@bcs.ee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32999610"/>
              </p:ext>
            </p:extLst>
          </p:nvPr>
        </p:nvGraphicFramePr>
        <p:xfrm>
          <a:off x="623888" y="1268413"/>
          <a:ext cx="11021261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Erki Pogoretski (Telia)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-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Tehisaru toimimise põhimõtted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Vestlusrobotiga andmeanalüüs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Vestlusrobotiga andmeanalüüs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EBB5-E66E-D684-9080-959FC5E2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CB597-CCE1-B2CB-AF5D-4898AE0673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C12984A-F918-66CF-9BF7-11C289E05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67788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154E-E89E-8B00-74C5-66A723E4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4698-C786-6EFD-B097-B5E4A75DB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sz="2800" b="1" noProof="0" dirty="0"/>
              <a:t>Generatiivne tehisaru – suured keelemudelid (</a:t>
            </a:r>
            <a:r>
              <a:rPr lang="et-EE" sz="2800" b="1" noProof="0" dirty="0" err="1"/>
              <a:t>LLMs</a:t>
            </a:r>
            <a:r>
              <a:rPr lang="et-EE" sz="2800" b="1" noProof="0" dirty="0"/>
              <a:t>)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179F-8918-CD83-5B3D-AF1D9C751E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Treenitakse tekstide ja muude materjalide pinnalt.</a:t>
            </a:r>
            <a:endParaRPr lang="et-EE" sz="2400" noProof="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Otsib mustreid tekstides - </a:t>
            </a:r>
            <a:r>
              <a:rPr lang="et-EE" sz="2000" noProof="0" dirty="0" err="1">
                <a:ea typeface="Inter"/>
                <a:cs typeface="Noto Serif"/>
              </a:rPr>
              <a:t>sõnadevahelisi</a:t>
            </a:r>
            <a:r>
              <a:rPr lang="et-EE" sz="2000" noProof="0" dirty="0">
                <a:ea typeface="Inter"/>
                <a:cs typeface="Noto Serif"/>
              </a:rPr>
              <a:t> seoseid mitmete treeningtsüklite käigus.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Tokenization</a:t>
            </a:r>
            <a:r>
              <a:rPr lang="et-EE" sz="2000" noProof="0" dirty="0">
                <a:ea typeface="Inter"/>
                <a:cs typeface="Noto Serif"/>
              </a:rPr>
              <a:t> – tekstid jagatakse osadeks.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Embedding</a:t>
            </a:r>
            <a:r>
              <a:rPr lang="et-EE" sz="2000" noProof="0" dirty="0">
                <a:ea typeface="Inter"/>
                <a:cs typeface="Noto Serif"/>
              </a:rPr>
              <a:t> – </a:t>
            </a:r>
            <a:r>
              <a:rPr lang="et-EE" sz="2000" noProof="0" dirty="0" err="1">
                <a:ea typeface="Inter"/>
                <a:cs typeface="Noto Serif"/>
              </a:rPr>
              <a:t>tokenitele</a:t>
            </a:r>
            <a:r>
              <a:rPr lang="et-EE" sz="2000" noProof="0" dirty="0">
                <a:ea typeface="Inter"/>
                <a:cs typeface="Noto Serif"/>
              </a:rPr>
              <a:t> määratakse vektor, mis määrab tema asukoha teiste </a:t>
            </a:r>
            <a:r>
              <a:rPr lang="et-EE" sz="2000" noProof="0" dirty="0" err="1">
                <a:ea typeface="Inter"/>
                <a:cs typeface="Noto Serif"/>
              </a:rPr>
              <a:t>tokenitega</a:t>
            </a:r>
            <a:r>
              <a:rPr lang="et-EE" sz="2000" noProof="0" dirty="0">
                <a:ea typeface="Inter"/>
                <a:cs typeface="Noto Serif"/>
              </a:rPr>
              <a:t> võrdluses.</a:t>
            </a: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Areneb vastavalt tagasisidele. (</a:t>
            </a:r>
            <a:r>
              <a:rPr lang="et-EE" sz="2000" noProof="0" dirty="0" err="1">
                <a:ea typeface="Inter"/>
                <a:cs typeface="Noto Serif"/>
              </a:rPr>
              <a:t>Reinforcement</a:t>
            </a:r>
            <a:r>
              <a:rPr lang="et-EE" sz="2000" noProof="0" dirty="0">
                <a:ea typeface="Inter"/>
                <a:cs typeface="Noto Serif"/>
              </a:rPr>
              <a:t> </a:t>
            </a:r>
            <a:r>
              <a:rPr lang="et-EE" sz="2000" noProof="0" dirty="0" err="1">
                <a:ea typeface="Inter"/>
                <a:cs typeface="Noto Serif"/>
              </a:rPr>
              <a:t>Learning</a:t>
            </a:r>
            <a:r>
              <a:rPr lang="et-EE" sz="2000" noProof="0" dirty="0">
                <a:ea typeface="Inter"/>
                <a:cs typeface="Noto Serif"/>
              </a:rPr>
              <a:t>)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noProof="0" dirty="0" err="1">
                <a:ea typeface="Inter"/>
                <a:cs typeface="Noto Serif"/>
              </a:rPr>
              <a:t>Sisendi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järel</a:t>
            </a:r>
            <a:r>
              <a:rPr lang="et-EE" sz="2400" noProof="0" dirty="0">
                <a:ea typeface="Inter"/>
                <a:cs typeface="Noto Serif"/>
              </a:rPr>
              <a:t> ennustatakse, milline sõna tuleb järgmisena.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Vastuste kvaliteet oleneb treeningandmestiku kvaliteedist.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Tehisaru võib "</a:t>
            </a:r>
            <a:r>
              <a:rPr lang="et-EE" sz="2400" noProof="0" dirty="0" err="1">
                <a:ea typeface="Inter"/>
                <a:cs typeface="Noto Serif"/>
              </a:rPr>
              <a:t>hallutsineerida</a:t>
            </a:r>
            <a:r>
              <a:rPr lang="et-EE" sz="2400" noProof="0" dirty="0">
                <a:ea typeface="Inter"/>
                <a:cs typeface="Noto Serif"/>
              </a:rPr>
              <a:t>".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364799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9196" y="956041"/>
            <a:ext cx="9836051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625"/>
              </a:lnSpc>
            </a:pPr>
            <a:r>
              <a:rPr lang="en-US" sz="3708" b="1" dirty="0" err="1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Generatiivne</a:t>
            </a:r>
            <a:r>
              <a:rPr lang="en-US" sz="3708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 </a:t>
            </a:r>
            <a:r>
              <a:rPr lang="en-US" sz="3708" b="1" dirty="0" err="1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tehisaru</a:t>
            </a:r>
            <a:r>
              <a:rPr lang="en-US" sz="3708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 vs traditsiooniline tarkvara</a:t>
            </a:r>
            <a:endParaRPr lang="en-US" sz="3708" dirty="0"/>
          </a:p>
        </p:txBody>
      </p:sp>
      <p:sp>
        <p:nvSpPr>
          <p:cNvPr id="3" name="Text 1"/>
          <p:cNvSpPr/>
          <p:nvPr/>
        </p:nvSpPr>
        <p:spPr>
          <a:xfrm>
            <a:off x="560685" y="2348353"/>
            <a:ext cx="3642916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Traditsiooniline programm</a:t>
            </a:r>
            <a:endParaRPr lang="en-US" sz="2208" dirty="0"/>
          </a:p>
        </p:txBody>
      </p:sp>
      <p:sp>
        <p:nvSpPr>
          <p:cNvPr id="4" name="Text 2"/>
          <p:cNvSpPr/>
          <p:nvPr/>
        </p:nvSpPr>
        <p:spPr>
          <a:xfrm>
            <a:off x="560685" y="2891775"/>
            <a:ext cx="5203924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Teeb täpselt seda, mis sisse programmeeritud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Järgib ette määratud reegleid ja algoritme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Alati ühesugune tulemus samale sisendile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Ei loo midagi uut ise</a:t>
            </a:r>
            <a:endParaRPr lang="en-US" sz="1458" dirty="0"/>
          </a:p>
        </p:txBody>
      </p:sp>
      <p:sp>
        <p:nvSpPr>
          <p:cNvPr id="5" name="Shape 3"/>
          <p:cNvSpPr/>
          <p:nvPr/>
        </p:nvSpPr>
        <p:spPr>
          <a:xfrm>
            <a:off x="6096000" y="2159341"/>
            <a:ext cx="5476181" cy="2206427"/>
          </a:xfrm>
          <a:prstGeom prst="roundRect">
            <a:avLst>
              <a:gd name="adj" fmla="val 6168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et-EE" sz="1500"/>
          </a:p>
        </p:txBody>
      </p:sp>
      <p:sp>
        <p:nvSpPr>
          <p:cNvPr id="6" name="Text 4"/>
          <p:cNvSpPr/>
          <p:nvPr/>
        </p:nvSpPr>
        <p:spPr>
          <a:xfrm>
            <a:off x="6285012" y="2348353"/>
            <a:ext cx="3655219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b="1" dirty="0" err="1">
                <a:solidFill>
                  <a:srgbClr val="FFFFFF"/>
                </a:solidFill>
                <a:ea typeface="Inter Bold" pitchFamily="34" charset="-122"/>
                <a:cs typeface="Inter Bold" pitchFamily="34" charset="-120"/>
              </a:rPr>
              <a:t>Generatiivne</a:t>
            </a:r>
            <a:r>
              <a:rPr lang="en-US" sz="2208" b="1" dirty="0">
                <a:solidFill>
                  <a:srgbClr val="FFFFFF"/>
                </a:solidFill>
                <a:ea typeface="Inter Bold" pitchFamily="34" charset="-122"/>
                <a:cs typeface="Inter Bold" pitchFamily="34" charset="-120"/>
              </a:rPr>
              <a:t> </a:t>
            </a:r>
            <a:r>
              <a:rPr lang="en-US" sz="2208" b="1" dirty="0" err="1">
                <a:solidFill>
                  <a:srgbClr val="FFFFFF"/>
                </a:solidFill>
                <a:ea typeface="Inter Bold" pitchFamily="34" charset="-122"/>
                <a:cs typeface="Inter Bold" pitchFamily="34" charset="-120"/>
              </a:rPr>
              <a:t>tehisaru</a:t>
            </a:r>
            <a:endParaRPr lang="en-US" sz="2208" dirty="0"/>
          </a:p>
        </p:txBody>
      </p:sp>
      <p:sp>
        <p:nvSpPr>
          <p:cNvPr id="7" name="Text 5"/>
          <p:cNvSpPr/>
          <p:nvPr/>
        </p:nvSpPr>
        <p:spPr>
          <a:xfrm>
            <a:off x="6285011" y="2891775"/>
            <a:ext cx="5098157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Loob uut ja originaalset sisu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Genereerib teksti, pilte ja tabeleid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Kohaneb kontekstiga ja loov vastustes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Iga vastus on unikaalne</a:t>
            </a:r>
            <a:endParaRPr lang="en-US" sz="145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DBF1-6B0C-F0AB-B6AE-072A389A2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Kuidas generatiivne tehisaru töötab?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597CA-D61E-17DA-17B5-C9C1738A73BE}"/>
              </a:ext>
            </a:extLst>
          </p:cNvPr>
          <p:cNvSpPr txBox="1"/>
          <p:nvPr/>
        </p:nvSpPr>
        <p:spPr>
          <a:xfrm>
            <a:off x="650240" y="1188720"/>
            <a:ext cx="51612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t-EE" noProof="0" dirty="0">
                <a:ea typeface="Inter"/>
              </a:rPr>
              <a:t>Mida arvasid ameeriklased augustis 2025:</a:t>
            </a:r>
            <a:endParaRPr lang="et-EE" noProof="0" dirty="0"/>
          </a:p>
          <a:p>
            <a:pPr marL="285750" indent="-285750">
              <a:buFont typeface="Arial"/>
              <a:buChar char="•"/>
            </a:pPr>
            <a:endParaRPr lang="et-EE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DF6099E-FFF5-3B8B-6ED0-48C668AABFB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55813" y="1836261"/>
            <a:ext cx="807720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4B374B-E0FB-F26A-AAD2-2AA0ED2D1C5C}"/>
              </a:ext>
            </a:extLst>
          </p:cNvPr>
          <p:cNvSpPr txBox="1"/>
          <p:nvPr/>
        </p:nvSpPr>
        <p:spPr>
          <a:xfrm>
            <a:off x="2692400" y="6014720"/>
            <a:ext cx="75184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t-EE" sz="1400" noProof="0" dirty="0">
                <a:ea typeface="Inter"/>
              </a:rPr>
              <a:t>Allikas:</a:t>
            </a:r>
            <a:r>
              <a:rPr lang="et-EE" sz="1400" noProof="0" dirty="0">
                <a:ea typeface="+mn-lt"/>
                <a:cs typeface="+mn-lt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Searchlight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Institute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ja Tavern Research uuring AI kohta</a:t>
            </a:r>
            <a:r>
              <a:rPr lang="et-EE" sz="1400" noProof="0" dirty="0">
                <a:ea typeface="+mn-lt"/>
                <a:cs typeface="+mn-lt"/>
              </a:rPr>
              <a:t>.</a:t>
            </a:r>
            <a:r>
              <a:rPr lang="et-EE" noProof="0" dirty="0">
                <a:ea typeface="+mn-lt"/>
                <a:cs typeface="+mn-lt"/>
              </a:rPr>
              <a:t> </a:t>
            </a:r>
            <a:endParaRPr lang="et-EE" noProof="0" dirty="0">
              <a:ea typeface="Inter"/>
            </a:endParaRPr>
          </a:p>
          <a:p>
            <a:pPr algn="r"/>
            <a:endParaRPr lang="et-EE" noProof="0" dirty="0">
              <a:solidFill>
                <a:srgbClr val="121212"/>
              </a:solidFill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735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6728-76D6-E8E6-D46A-BE5C5BCFA9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Lisamaterjale</a:t>
            </a:r>
            <a:r>
              <a:rPr lang="en-US" dirty="0"/>
              <a:t> </a:t>
            </a:r>
            <a:r>
              <a:rPr lang="en-US" dirty="0" err="1"/>
              <a:t>tehisaru</a:t>
            </a:r>
            <a:r>
              <a:rPr lang="en-US" dirty="0"/>
              <a:t> </a:t>
            </a:r>
            <a:r>
              <a:rPr lang="en-US" dirty="0" err="1"/>
              <a:t>olemuse</a:t>
            </a:r>
            <a:r>
              <a:rPr lang="en-US" dirty="0"/>
              <a:t> </a:t>
            </a:r>
            <a:r>
              <a:rPr lang="en-US" dirty="0" err="1"/>
              <a:t>mõistmiseks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36C9B-9CD7-7743-0A7B-85761C9ACA6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TÜ </a:t>
            </a:r>
            <a:r>
              <a:rPr lang="en-US" sz="2400" dirty="0" err="1"/>
              <a:t>õppematerjal</a:t>
            </a:r>
            <a:r>
              <a:rPr lang="en-US" sz="2400" dirty="0"/>
              <a:t>: </a:t>
            </a:r>
            <a:r>
              <a:rPr lang="en-US" sz="2400" dirty="0">
                <a:hlinkClick r:id="rId2"/>
              </a:rPr>
              <a:t>https://sisu.ut.ee/ti/oppematerjali-avaleht/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Digiriigi</a:t>
            </a:r>
            <a:r>
              <a:rPr lang="en-US" sz="2400" dirty="0"/>
              <a:t> </a:t>
            </a:r>
            <a:r>
              <a:rPr lang="en-US" sz="2400" dirty="0" err="1"/>
              <a:t>Akadeemia</a:t>
            </a:r>
            <a:r>
              <a:rPr lang="en-US" sz="2400" dirty="0"/>
              <a:t> </a:t>
            </a:r>
            <a:r>
              <a:rPr lang="en-US" sz="2400" dirty="0" err="1"/>
              <a:t>kursused</a:t>
            </a:r>
            <a:r>
              <a:rPr lang="en-US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hlinkClick r:id="rId3"/>
              </a:rPr>
              <a:t>https://digiriigiakadeemia.ee/course/index.php?categoryid=60</a:t>
            </a:r>
            <a:r>
              <a:rPr lang="en-US" sz="2400" dirty="0"/>
              <a:t> 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143583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4885-183C-7405-345F-6F039AC36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D799-FEF4-2867-2771-9F5C35BC3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vestlusrobotid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92C0-055D-8861-D035-31319A8018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solidFill>
                  <a:srgbClr val="121212"/>
                </a:solidFill>
                <a:latin typeface="Inter"/>
                <a:ea typeface="Inter"/>
                <a:cs typeface="Noto Serif"/>
                <a:hlinkClick r:id="rId2"/>
              </a:rPr>
              <a:t>ChatGPT</a:t>
            </a:r>
            <a:endParaRPr lang="et-EE" sz="2400" noProof="0" dirty="0"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3"/>
              </a:rPr>
              <a:t>Google </a:t>
            </a:r>
            <a:r>
              <a:rPr lang="et-EE" sz="2400" noProof="0" dirty="0" err="1">
                <a:ea typeface="Inter"/>
                <a:cs typeface="Noto Serif"/>
                <a:hlinkClick r:id="rId3"/>
              </a:rPr>
              <a:t>Gemini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4"/>
              </a:rPr>
              <a:t>Microsoft </a:t>
            </a:r>
            <a:r>
              <a:rPr lang="et-EE" sz="2400" noProof="0" dirty="0" err="1">
                <a:ea typeface="Inter"/>
                <a:cs typeface="Noto Serif"/>
                <a:hlinkClick r:id="rId4"/>
              </a:rPr>
              <a:t>Copilot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5"/>
              </a:rPr>
              <a:t>Claude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  <a:hlinkClick r:id="rId6"/>
              </a:rPr>
              <a:t>NotebookLM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Nt proovi "Show </a:t>
            </a:r>
            <a:r>
              <a:rPr lang="et-EE" sz="2400" noProof="0" dirty="0" err="1">
                <a:ea typeface="Inter"/>
                <a:cs typeface="Noto Serif"/>
              </a:rPr>
              <a:t>world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t-EE" sz="2400" noProof="0" dirty="0" err="1">
                <a:ea typeface="Inter"/>
                <a:cs typeface="Noto Serif"/>
              </a:rPr>
              <a:t>population</a:t>
            </a:r>
            <a:r>
              <a:rPr lang="et-EE" sz="2400" noProof="0" dirty="0">
                <a:ea typeface="Inter"/>
                <a:cs typeface="Noto Serif"/>
              </a:rPr>
              <a:t> on </a:t>
            </a:r>
            <a:r>
              <a:rPr lang="et-EE" sz="2400" noProof="0" dirty="0" err="1">
                <a:ea typeface="Inter"/>
                <a:cs typeface="Noto Serif"/>
              </a:rPr>
              <a:t>graph</a:t>
            </a:r>
            <a:r>
              <a:rPr lang="et-EE" sz="2400" noProof="0" dirty="0">
                <a:ea typeface="Inter"/>
                <a:cs typeface="Noto Serif"/>
              </a:rPr>
              <a:t>."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574469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96E0-0447-F416-DAB5-8BD8EEA4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A12E-8239-93DD-2B09-FE46CB68C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kasutusvõimalused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E41D-2DBC-64AB-6A9E-0377C470EE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Koodi ja valemite loomine ning paluda selgitused juurde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Veateadete lahendamine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Andmemudeli loomine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Näidisandmestike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Graafikute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Statistiliste analüüside tegemine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Kokkuvõtete tegemine, tulemuste tõlgendamine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0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NB! Kasutamisel tuleb silmas pidada andmekaitset ja ärisaladuse hoidmist. Tavaliselt vestlusrobotid kasutavad saadud andmeid edasiseks treenimiseks.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89421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DEC0-4E0D-7B98-5997-87424201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32AA-1804-C95A-235A-B1630A75A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eduka sisendi kirjutamine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4C29-7DB7-412C-B56A-46EC71179C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Sisend = keelemudelile antud </a:t>
            </a:r>
            <a:r>
              <a:rPr lang="et-EE" sz="2400" noProof="0" dirty="0" err="1">
                <a:ea typeface="Inter"/>
                <a:cs typeface="Noto Serif"/>
              </a:rPr>
              <a:t>viip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Anna võimalikult palju konteksti ning millises formaadis vastust soovid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Täpsusta, millist tarkvara kasutad, kui valemeid küsid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Iteratiivne protsess – kui kohe ei saa õiget vastust, siis täienda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402765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613B-AA18-2E8F-A97B-F0B013DE23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kirjutamise põhimõtted (CRAFT mudel)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332-1D1A-2C6E-9052-C6A2A200967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1) Kontekst - taustainfo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2) Roll – kelle rolli tehisaru võtab, nt ametiala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3) Tegevus – mis on eesmärk ja oodatud tulemus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4) Formaat – millises formaadis vastust soovid</a:t>
            </a:r>
            <a:endParaRPr lang="et-EE" noProof="0" dirty="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5) Sihtgrupp - kellele on tulem suunatud</a:t>
            </a:r>
            <a:endParaRPr lang="et-EE" noProof="0" dirty="0"/>
          </a:p>
          <a:p>
            <a:pPr marL="742950" lvl="1" indent="-285750">
              <a:lnSpc>
                <a:spcPct val="150000"/>
              </a:lnSpc>
            </a:pPr>
            <a:endParaRPr lang="et-EE" noProof="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515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09EE-22F1-1315-8A2D-3282644A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931E-0B21-061A-1BAA-585EFA37FA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400" noProof="0" dirty="0">
                <a:ea typeface="Inter"/>
              </a:rPr>
              <a:t>Algne: </a:t>
            </a:r>
            <a:r>
              <a:rPr lang="et-EE" sz="2400" noProof="0" dirty="0">
                <a:ea typeface="+mn-lt"/>
                <a:cs typeface="+mn-lt"/>
              </a:rPr>
              <a:t>Analüüsi andmeid.</a:t>
            </a:r>
            <a:endParaRPr lang="et-EE" sz="2400" noProof="0" dirty="0"/>
          </a:p>
          <a:p>
            <a:pPr marL="0" indent="0">
              <a:buNone/>
            </a:pP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Täiendatud: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Siin on andmestik kahe pakiroboti tarneaja kohta. </a:t>
            </a:r>
            <a:r>
              <a:rPr lang="et-EE" sz="2000" i="1" noProof="0" dirty="0">
                <a:ea typeface="Inter"/>
              </a:rPr>
              <a:t>(Kontekst)</a:t>
            </a:r>
            <a:endParaRPr lang="et-EE" sz="2000" i="1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Sa oled seenior andmeanalüütik. </a:t>
            </a:r>
            <a:r>
              <a:rPr lang="et-EE" sz="2000" i="1" noProof="0" dirty="0">
                <a:ea typeface="Inter"/>
              </a:rPr>
              <a:t>(Roll)</a:t>
            </a:r>
            <a:endParaRPr lang="et-EE" sz="2000" i="1" noProof="0" dirty="0"/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Võrdle erinevust vana ja uue tarkvaraga pakiroboti vahel. </a:t>
            </a:r>
            <a:r>
              <a:rPr lang="et-EE" sz="2000" i="1" noProof="0" dirty="0">
                <a:ea typeface="+mn-lt"/>
                <a:cs typeface="+mn-lt"/>
              </a:rPr>
              <a:t>(Tegevus)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Loo </a:t>
            </a:r>
            <a:r>
              <a:rPr lang="et-EE" sz="2000" noProof="0" dirty="0" err="1">
                <a:ea typeface="+mn-lt"/>
                <a:cs typeface="+mn-lt"/>
              </a:rPr>
              <a:t>Jupyter</a:t>
            </a:r>
            <a:r>
              <a:rPr lang="et-EE" sz="2000" noProof="0" dirty="0">
                <a:ea typeface="+mn-lt"/>
                <a:cs typeface="+mn-lt"/>
              </a:rPr>
              <a:t> </a:t>
            </a:r>
            <a:r>
              <a:rPr lang="et-EE" sz="2000" noProof="0" dirty="0" err="1">
                <a:ea typeface="+mn-lt"/>
                <a:cs typeface="+mn-lt"/>
              </a:rPr>
              <a:t>Notebook</a:t>
            </a:r>
            <a:r>
              <a:rPr lang="et-EE" sz="2000" noProof="0" dirty="0">
                <a:ea typeface="+mn-lt"/>
                <a:cs typeface="+mn-lt"/>
              </a:rPr>
              <a:t> fail. </a:t>
            </a:r>
            <a:r>
              <a:rPr lang="et-EE" sz="2000" i="1" noProof="0" dirty="0">
                <a:ea typeface="+mn-lt"/>
                <a:cs typeface="+mn-lt"/>
              </a:rPr>
              <a:t>(Formaat)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Esitlus on mõeldud tootetiimile.</a:t>
            </a:r>
            <a:r>
              <a:rPr lang="et-EE" sz="2000" i="1" noProof="0" dirty="0">
                <a:ea typeface="+mn-lt"/>
                <a:cs typeface="+mn-lt"/>
              </a:rPr>
              <a:t> (Sihtgrupp)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3667732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6D3-A970-D5A5-D02E-FEE0E6B0D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Tehisaru - personaliseerimine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FC87-C50E-09CA-7F87-C4C23D6BFC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Saab lisada info, mida iga päringu tegemisel jooksutatakse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t-EE" sz="2400" noProof="0" dirty="0" err="1">
                <a:ea typeface="Inter"/>
              </a:rPr>
              <a:t>ChatGPT</a:t>
            </a:r>
            <a:r>
              <a:rPr lang="et-EE" sz="2400" noProof="0" dirty="0">
                <a:ea typeface="Inter"/>
              </a:rPr>
              <a:t> --&gt; kliki oma profiilil --&gt; </a:t>
            </a:r>
            <a:r>
              <a:rPr lang="et-EE" sz="2400" noProof="0" dirty="0" err="1">
                <a:ea typeface="Inter"/>
              </a:rPr>
              <a:t>Customize</a:t>
            </a:r>
            <a:r>
              <a:rPr lang="et-EE" sz="2400" noProof="0" dirty="0">
                <a:ea typeface="Inter"/>
              </a:rPr>
              <a:t> </a:t>
            </a:r>
            <a:r>
              <a:rPr lang="et-EE" sz="2400" noProof="0" dirty="0" err="1">
                <a:ea typeface="Inter"/>
              </a:rPr>
              <a:t>ChatGPT</a:t>
            </a:r>
            <a:endParaRPr lang="et-EE" sz="2400" noProof="0" dirty="0"/>
          </a:p>
        </p:txBody>
      </p:sp>
    </p:spTree>
    <p:extLst>
      <p:ext uri="{BB962C8B-B14F-4D97-AF65-F5344CB8AC3E}">
        <p14:creationId xmlns:p14="http://schemas.microsoft.com/office/powerpoint/2010/main" val="36826300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B0F9-9A44-A96E-0A3E-14C2C20C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FCE63-0FB0-32F6-8A25-B0877487D2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EE2DCD-5528-0E71-8160-938192ACA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14942372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C7D33-8F01-1754-4E8C-82C6A6EF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B55-022C-CCF6-9EF2-07D4A3BCE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vestlusrobotid - praktiline harjutus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A66F8-FBDE-40E8-405E-245CA696AF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Ava  Müügiraporti Power BI 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Palu erinevatel vestlusrobotitel luua samu arvutatud tulpasid ja mõõdikuid, mida analüüsis kasutasime. Võrdle vestlusrobotite vahelisi tulemusi ning meie poolt kirjutatud valemeid. 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cs typeface="Noto Serif"/>
              </a:rPr>
              <a:t>Uuri sama </a:t>
            </a:r>
            <a:r>
              <a:rPr lang="et-EE" sz="2400" noProof="0" dirty="0" err="1">
                <a:cs typeface="Noto Serif"/>
              </a:rPr>
              <a:t>Employee</a:t>
            </a:r>
            <a:r>
              <a:rPr lang="et-EE" sz="2400" noProof="0" dirty="0">
                <a:cs typeface="Noto Serif"/>
              </a:rPr>
              <a:t> </a:t>
            </a:r>
            <a:r>
              <a:rPr lang="et-EE" sz="2400" noProof="0" dirty="0" err="1">
                <a:cs typeface="Noto Serif"/>
              </a:rPr>
              <a:t>Overview</a:t>
            </a:r>
            <a:r>
              <a:rPr lang="et-EE" sz="2400" noProof="0" dirty="0">
                <a:cs typeface="Noto Serif"/>
              </a:rPr>
              <a:t> raporti mõõdikute kohta</a:t>
            </a: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264181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65C-5832-C00B-D532-FF433879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15822-6BB3-759C-184D-73740C8BDF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EAEB33-E2E1-C05F-2B41-C3ECC3F9D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652901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393A-A8F2-67EE-DB4D-EC30357C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1A30-3F12-3F34-4B12-D2A75ABF5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2D3B-479E-EDB2-3538-B9498FA1C1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</a:rPr>
              <a:t>View</a:t>
            </a:r>
            <a:r>
              <a:rPr lang="et-EE" sz="2400" noProof="0" dirty="0">
                <a:ea typeface="Inter"/>
                <a:cs typeface="Noto Serif"/>
              </a:rPr>
              <a:t> --&gt; Chat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Ühendus valitud vestlusrobotiga</a:t>
            </a: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Võimalik ette anda kontekst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Proovi luua SQL päringuid kirjelduse abil</a:t>
            </a:r>
            <a:endParaRPr lang="et-EE" sz="2400" noProof="0" dirty="0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36210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559</Words>
  <Application>Microsoft Office PowerPoint</Application>
  <PresentationFormat>Widescreen</PresentationFormat>
  <Paragraphs>125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Poppins SemiBold</vt:lpstr>
      <vt:lpstr>Inter Bold</vt:lpstr>
      <vt:lpstr>Wingdings</vt:lpstr>
      <vt:lpstr>Noto Serif</vt:lpstr>
      <vt:lpstr>Calibri</vt:lpstr>
      <vt:lpstr>Arial</vt:lpstr>
      <vt:lpstr>Inter</vt:lpstr>
      <vt:lpstr>Courier New</vt:lpstr>
      <vt:lpstr>Arial,Sans-Serif</vt:lpstr>
      <vt:lpstr>BCS</vt:lpstr>
      <vt:lpstr>Vali Andmetarkus!</vt:lpstr>
      <vt:lpstr>Päevakava - XV päev</vt:lpstr>
      <vt:lpstr>Paus 10:30-10:45</vt:lpstr>
      <vt:lpstr>Generatiivne tehisaru – suured keelemudelid (LLMs)</vt:lpstr>
      <vt:lpstr>PowerPoint Presentation</vt:lpstr>
      <vt:lpstr>Kuidas generatiivne tehisaru töötab?</vt:lpstr>
      <vt:lpstr>Lisamaterjale tehisaru olemuse mõistmiseks</vt:lpstr>
      <vt:lpstr>Tehisaru – levinumad vestlusrobotid </vt:lpstr>
      <vt:lpstr>Tehisaru – levinumad kasutusvõimalused </vt:lpstr>
      <vt:lpstr>Tehisaru – eduka sisendi kirjutamine </vt:lpstr>
      <vt:lpstr>Sisendi kirjutamise põhimõtted (CRAFT mudel)</vt:lpstr>
      <vt:lpstr>Sisendi näide</vt:lpstr>
      <vt:lpstr>Tehisaru - personaliseerimine</vt:lpstr>
      <vt:lpstr>Lõunapaus 12:15-13:15</vt:lpstr>
      <vt:lpstr>Tehisaru – vestlusrobotid - praktiline harjutus</vt:lpstr>
      <vt:lpstr>Paus 14:45-15:00</vt:lpstr>
      <vt:lpstr>Tehisaru – Visual Studio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221</cp:revision>
  <dcterms:created xsi:type="dcterms:W3CDTF">2021-08-27T11:35:28Z</dcterms:created>
  <dcterms:modified xsi:type="dcterms:W3CDTF">2026-04-17T08:27:20Z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