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417" r:id="rId5"/>
    <p:sldId id="479" r:id="rId6"/>
    <p:sldId id="475" r:id="rId7"/>
    <p:sldId id="452" r:id="rId8"/>
    <p:sldId id="476" r:id="rId9"/>
    <p:sldId id="477" r:id="rId10"/>
    <p:sldId id="494" r:id="rId11"/>
    <p:sldId id="446" r:id="rId12"/>
    <p:sldId id="447" r:id="rId13"/>
    <p:sldId id="646" r:id="rId14"/>
    <p:sldId id="567" r:id="rId15"/>
    <p:sldId id="514" r:id="rId16"/>
    <p:sldId id="619" r:id="rId17"/>
    <p:sldId id="571" r:id="rId18"/>
    <p:sldId id="572" r:id="rId19"/>
  </p:sldIdLst>
  <p:sldSz cx="12192000" cy="6858000"/>
  <p:notesSz cx="6858000" cy="9144000"/>
  <p:embeddedFontLst>
    <p:embeddedFont>
      <p:font typeface="Inter" panose="020B0604020202020204" charset="0"/>
      <p:regular r:id="rId22"/>
      <p:bold r:id="rId23"/>
    </p:embeddedFont>
    <p:embeddedFont>
      <p:font typeface="Inter Bold" panose="020B0604020202020204" charset="0"/>
      <p:bold r:id="rId24"/>
    </p:embeddedFont>
    <p:embeddedFont>
      <p:font typeface="Noto Serif" panose="02020600060500020200" pitchFamily="18" charset="0"/>
      <p:regular r:id="rId25"/>
      <p:bold r:id="rId26"/>
      <p:italic r:id="rId27"/>
      <p:boldItalic r:id="rId28"/>
    </p:embeddedFont>
    <p:embeddedFont>
      <p:font typeface="Poppins SemiBold" panose="00000700000000000000" pitchFamily="2" charset="0"/>
      <p:bold r:id="rId29"/>
      <p:boldItalic r:id="rId30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0FA394-0DB7-4104-96D1-C1B96C0EB4DB}" v="4" dt="2026-03-18T07:48:40.0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microsoft.com/office/2016/11/relationships/changesInfo" Target="changesInfos/changesInfo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3-18T08:01:02.537" v="200" actId="20577"/>
      <pc:docMkLst>
        <pc:docMk/>
      </pc:docMkLst>
      <pc:sldChg chg="add">
        <pc:chgData name="Virve Räni" userId="161a7437-7ef4-49ec-91bf-54882f313dfe" providerId="ADAL" clId="{6D754EED-65AA-4A21-B175-6769012CF487}" dt="2026-03-18T07:48:40.053" v="105"/>
        <pc:sldMkLst>
          <pc:docMk/>
          <pc:sldMk cId="1536515755" sldId="446"/>
        </pc:sldMkLst>
      </pc:sldChg>
      <pc:sldChg chg="modSp add mod">
        <pc:chgData name="Virve Räni" userId="161a7437-7ef4-49ec-91bf-54882f313dfe" providerId="ADAL" clId="{6D754EED-65AA-4A21-B175-6769012CF487}" dt="2026-03-18T08:01:02.537" v="200" actId="20577"/>
        <pc:sldMkLst>
          <pc:docMk/>
          <pc:sldMk cId="3667732403" sldId="447"/>
        </pc:sldMkLst>
        <pc:spChg chg="mod">
          <ac:chgData name="Virve Räni" userId="161a7437-7ef4-49ec-91bf-54882f313dfe" providerId="ADAL" clId="{6D754EED-65AA-4A21-B175-6769012CF487}" dt="2026-03-18T08:01:02.537" v="200" actId="20577"/>
          <ac:spMkLst>
            <pc:docMk/>
            <pc:sldMk cId="3667732403" sldId="447"/>
            <ac:spMk id="3" creationId="{90E5931E-0B21-061A-1BAA-585EFA37FA45}"/>
          </ac:spMkLst>
        </pc:spChg>
      </pc:sldChg>
      <pc:sldChg chg="add">
        <pc:chgData name="Virve Räni" userId="161a7437-7ef4-49ec-91bf-54882f313dfe" providerId="ADAL" clId="{6D754EED-65AA-4A21-B175-6769012CF487}" dt="2026-03-18T07:47:59.508" v="104"/>
        <pc:sldMkLst>
          <pc:docMk/>
          <pc:sldMk cId="3557357758" sldId="452"/>
        </pc:sldMkLst>
      </pc:sldChg>
      <pc:sldChg chg="modSp add del mod">
        <pc:chgData name="Virve Räni" userId="161a7437-7ef4-49ec-91bf-54882f313dfe" providerId="ADAL" clId="{6D754EED-65AA-4A21-B175-6769012CF487}" dt="2026-03-18T07:48:55.243" v="107" actId="47"/>
        <pc:sldMkLst>
          <pc:docMk/>
          <pc:sldMk cId="3579936010" sldId="453"/>
        </pc:sldMkLst>
        <pc:spChg chg="mod">
          <ac:chgData name="Virve Räni" userId="161a7437-7ef4-49ec-91bf-54882f313dfe" providerId="ADAL" clId="{6D754EED-65AA-4A21-B175-6769012CF487}" dt="2026-03-18T07:48:46.667" v="106" actId="20577"/>
          <ac:spMkLst>
            <pc:docMk/>
            <pc:sldMk cId="3579936010" sldId="453"/>
            <ac:spMk id="2" creationId="{AFCE01E6-D719-60C9-6A7D-77EE04BD12FB}"/>
          </ac:spMkLst>
        </pc:spChg>
      </pc:sldChg>
      <pc:sldChg chg="modSp mod">
        <pc:chgData name="Virve Räni" userId="161a7437-7ef4-49ec-91bf-54882f313dfe" providerId="ADAL" clId="{6D754EED-65AA-4A21-B175-6769012CF487}" dt="2026-03-18T07:15:38.517" v="98" actId="20577"/>
        <pc:sldMkLst>
          <pc:docMk/>
          <pc:sldMk cId="1139234541" sldId="479"/>
        </pc:sldMkLst>
        <pc:graphicFrameChg chg="mod modGraphic">
          <ac:chgData name="Virve Räni" userId="161a7437-7ef4-49ec-91bf-54882f313dfe" providerId="ADAL" clId="{6D754EED-65AA-4A21-B175-6769012CF487}" dt="2026-03-18T07:15:38.517" v="98" actId="20577"/>
          <ac:graphicFrameMkLst>
            <pc:docMk/>
            <pc:sldMk cId="1139234541" sldId="479"/>
            <ac:graphicFrameMk id="5" creationId="{65E32B2B-E742-662F-CC36-DC7E268CAC3C}"/>
          </ac:graphicFrameMkLst>
        </pc:graphicFrameChg>
      </pc:sldChg>
      <pc:sldChg chg="ord">
        <pc:chgData name="Virve Räni" userId="161a7437-7ef4-49ec-91bf-54882f313dfe" providerId="ADAL" clId="{6D754EED-65AA-4A21-B175-6769012CF487}" dt="2026-03-18T07:47:14.719" v="103"/>
        <pc:sldMkLst>
          <pc:docMk/>
          <pc:sldMk cId="2677885354" sldId="567"/>
        </pc:sldMkLst>
      </pc:sldChg>
      <pc:sldChg chg="del">
        <pc:chgData name="Virve Räni" userId="161a7437-7ef4-49ec-91bf-54882f313dfe" providerId="ADAL" clId="{6D754EED-65AA-4A21-B175-6769012CF487}" dt="2026-03-18T07:46:12.763" v="101" actId="47"/>
        <pc:sldMkLst>
          <pc:docMk/>
          <pc:sldMk cId="113238818" sldId="64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18.03.2026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Iteratiivne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protsess</a:t>
            </a:r>
            <a:r>
              <a:rPr lang="en-US">
                <a:ea typeface="Calibri"/>
                <a:cs typeface="Calibri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967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archlightinstitute.org/wp-content/uploads/2025/12/Crosstabs-AI-Polling-Survey-v2-20250730.pdf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.com/app" TargetMode="External"/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claude.ai/" TargetMode="External"/><Relationship Id="rId4" Type="http://schemas.openxmlformats.org/officeDocument/2006/relationships/hyperlink" Target="https://copilot.microsoft.com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XV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278524344"/>
              </p:ext>
            </p:extLst>
          </p:nvPr>
        </p:nvGraphicFramePr>
        <p:xfrm>
          <a:off x="623888" y="1268413"/>
          <a:ext cx="11021261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Tehisaru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toimimise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põhimõtted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Vestlusrobotiga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andmeanalüüs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Ettevõte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külastus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Ettevõte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külastus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154E-E89E-8B00-74C5-66A723E4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4698-C786-6EFD-B097-B5E4A75DB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sz="2800" b="1" err="1"/>
              <a:t>Generatiivne</a:t>
            </a:r>
            <a:r>
              <a:rPr lang="en-US" sz="2800" b="1"/>
              <a:t> </a:t>
            </a:r>
            <a:r>
              <a:rPr lang="en-US" sz="2800" b="1" err="1"/>
              <a:t>tehisaru</a:t>
            </a:r>
            <a:r>
              <a:rPr lang="en-US" sz="2800" b="1"/>
              <a:t> – </a:t>
            </a:r>
            <a:r>
              <a:rPr lang="en-US" sz="2800" b="1" err="1"/>
              <a:t>suured</a:t>
            </a:r>
            <a:r>
              <a:rPr lang="en-US" sz="2800" b="1"/>
              <a:t> </a:t>
            </a:r>
            <a:r>
              <a:rPr lang="en-US" sz="2800" b="1" err="1"/>
              <a:t>keelemudelid</a:t>
            </a:r>
            <a:r>
              <a:rPr lang="en-US" sz="2800" b="1"/>
              <a:t> (LLMs)</a:t>
            </a:r>
            <a:endParaRPr lang="en-US" sz="280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179F-8918-CD83-5B3D-AF1D9C751EA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Treenitakse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tekstide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muude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materjalide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pinnalt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.</a:t>
            </a:r>
            <a:endParaRPr lang="en-US" sz="240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000" dirty="0" err="1">
                <a:ea typeface="Inter"/>
                <a:cs typeface="Noto Serif"/>
              </a:rPr>
              <a:t>Otsib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mustreid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tekstides</a:t>
            </a:r>
            <a:r>
              <a:rPr lang="en-US" sz="2000" dirty="0">
                <a:ea typeface="Inter"/>
                <a:cs typeface="Noto Serif"/>
              </a:rPr>
              <a:t> - </a:t>
            </a:r>
            <a:r>
              <a:rPr lang="en-US" sz="2000" dirty="0" err="1">
                <a:ea typeface="Inter"/>
                <a:cs typeface="Noto Serif"/>
              </a:rPr>
              <a:t>sõnadevahelisi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seoseid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mitmete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treeningtsüklite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käigus</a:t>
            </a:r>
            <a:r>
              <a:rPr lang="en-US" sz="2000" dirty="0">
                <a:ea typeface="Inter"/>
                <a:cs typeface="Noto Serif"/>
              </a:rPr>
              <a:t>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  <a:cs typeface="Noto Serif"/>
              </a:rPr>
              <a:t>Tokenization – </a:t>
            </a:r>
            <a:r>
              <a:rPr lang="en-US" sz="2000" dirty="0" err="1">
                <a:ea typeface="Inter"/>
                <a:cs typeface="Noto Serif"/>
              </a:rPr>
              <a:t>tekstid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jagatakse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osadeks</a:t>
            </a:r>
            <a:r>
              <a:rPr lang="en-US" sz="2000" dirty="0">
                <a:ea typeface="Inter"/>
                <a:cs typeface="Noto Serif"/>
              </a:rPr>
              <a:t>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  <a:cs typeface="Noto Serif"/>
              </a:rPr>
              <a:t>Embedding – </a:t>
            </a:r>
            <a:r>
              <a:rPr lang="en-US" sz="2000" dirty="0" err="1">
                <a:ea typeface="Inter"/>
                <a:cs typeface="Noto Serif"/>
              </a:rPr>
              <a:t>tokenitele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määratakse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vektor</a:t>
            </a:r>
            <a:r>
              <a:rPr lang="en-US" sz="2000" dirty="0">
                <a:ea typeface="Inter"/>
                <a:cs typeface="Noto Serif"/>
              </a:rPr>
              <a:t>, mis </a:t>
            </a:r>
            <a:r>
              <a:rPr lang="en-US" sz="2000" dirty="0" err="1">
                <a:ea typeface="Inter"/>
                <a:cs typeface="Noto Serif"/>
              </a:rPr>
              <a:t>määrab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tema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asukoha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teiste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tokenitega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võrdluses</a:t>
            </a:r>
            <a:r>
              <a:rPr lang="en-US" sz="2000" dirty="0">
                <a:ea typeface="Inter"/>
                <a:cs typeface="Noto Serif"/>
              </a:rPr>
              <a:t>.</a:t>
            </a: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000" dirty="0" err="1">
                <a:ea typeface="Inter"/>
                <a:cs typeface="Noto Serif"/>
              </a:rPr>
              <a:t>Areneb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vastavalt</a:t>
            </a:r>
            <a:r>
              <a:rPr lang="en-US" sz="2000" dirty="0">
                <a:ea typeface="Inter"/>
                <a:cs typeface="Noto Serif"/>
              </a:rPr>
              <a:t> </a:t>
            </a:r>
            <a:r>
              <a:rPr lang="en-US" sz="2000" dirty="0" err="1">
                <a:ea typeface="Inter"/>
                <a:cs typeface="Noto Serif"/>
              </a:rPr>
              <a:t>tagasisidele</a:t>
            </a:r>
            <a:r>
              <a:rPr lang="en-US" sz="2000" dirty="0">
                <a:ea typeface="Inter"/>
                <a:cs typeface="Noto Serif"/>
              </a:rPr>
              <a:t>. (Reinforcement Learning)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Päringu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esitades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ennustatakse</a:t>
            </a:r>
            <a:r>
              <a:rPr lang="en-US" sz="2400" dirty="0">
                <a:ea typeface="Inter"/>
                <a:cs typeface="Noto Serif"/>
              </a:rPr>
              <a:t>, milline </a:t>
            </a:r>
            <a:r>
              <a:rPr lang="en-US" sz="2400" dirty="0" err="1">
                <a:ea typeface="Inter"/>
                <a:cs typeface="Noto Serif"/>
              </a:rPr>
              <a:t>sõna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tuleb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järgmisena</a:t>
            </a:r>
            <a:r>
              <a:rPr lang="en-US" sz="2400" dirty="0">
                <a:ea typeface="Inter"/>
                <a:cs typeface="Noto Serif"/>
              </a:rPr>
              <a:t>. 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Vastuste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kvaliteet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oleneb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treeningandmestiku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kvaliteedist</a:t>
            </a:r>
            <a:r>
              <a:rPr lang="en-US" sz="2400" dirty="0">
                <a:ea typeface="Inter"/>
                <a:cs typeface="Noto Serif"/>
              </a:rPr>
              <a:t>.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Tehisaru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võib</a:t>
            </a:r>
            <a:r>
              <a:rPr lang="en-US" sz="2400" dirty="0">
                <a:ea typeface="Inter"/>
                <a:cs typeface="Noto Serif"/>
              </a:rPr>
              <a:t> "</a:t>
            </a:r>
            <a:r>
              <a:rPr lang="en-US" sz="2400" dirty="0" err="1">
                <a:ea typeface="Inter"/>
                <a:cs typeface="Noto Serif"/>
              </a:rPr>
              <a:t>hallutsineerida</a:t>
            </a:r>
            <a:r>
              <a:rPr lang="en-US" sz="2400" dirty="0">
                <a:ea typeface="Inter"/>
                <a:cs typeface="Noto Serif"/>
              </a:rPr>
              <a:t>".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64799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1DBF1-6B0C-F0AB-B6AE-072A389A27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Kuidas</a:t>
            </a:r>
            <a:r>
              <a:rPr lang="en-US" dirty="0"/>
              <a:t> </a:t>
            </a:r>
            <a:r>
              <a:rPr lang="en-US" dirty="0" err="1"/>
              <a:t>generatiivne</a:t>
            </a:r>
            <a:r>
              <a:rPr lang="en-US" dirty="0"/>
              <a:t> </a:t>
            </a:r>
            <a:r>
              <a:rPr lang="en-US" dirty="0" err="1"/>
              <a:t>tehisaru</a:t>
            </a:r>
            <a:r>
              <a:rPr lang="en-US" dirty="0"/>
              <a:t> </a:t>
            </a:r>
            <a:r>
              <a:rPr lang="en-US" dirty="0" err="1"/>
              <a:t>töötab</a:t>
            </a:r>
            <a:r>
              <a:rPr lang="en-US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597CA-D61E-17DA-17B5-C9C1738A73BE}"/>
              </a:ext>
            </a:extLst>
          </p:cNvPr>
          <p:cNvSpPr txBox="1"/>
          <p:nvPr/>
        </p:nvSpPr>
        <p:spPr>
          <a:xfrm>
            <a:off x="650240" y="1188720"/>
            <a:ext cx="51612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>
                <a:ea typeface="Inter"/>
              </a:rPr>
              <a:t>Mida </a:t>
            </a:r>
            <a:r>
              <a:rPr lang="en-US" dirty="0" err="1">
                <a:ea typeface="Inter"/>
              </a:rPr>
              <a:t>arvasid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ameeriklased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augustis</a:t>
            </a:r>
            <a:r>
              <a:rPr lang="en-US" dirty="0">
                <a:ea typeface="Inter"/>
              </a:rPr>
              <a:t> 2025:</a:t>
            </a:r>
            <a:endParaRPr lang="en-US" dirty="0"/>
          </a:p>
          <a:p>
            <a:pPr marL="285750" indent="-285750">
              <a:buFont typeface="Arial"/>
              <a:buChar char="•"/>
            </a:pPr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DF6099E-FFF5-3B8B-6ED0-48C668AABFB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055813" y="1836261"/>
            <a:ext cx="8077200" cy="40005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4B374B-E0FB-F26A-AAD2-2AA0ED2D1C5C}"/>
              </a:ext>
            </a:extLst>
          </p:cNvPr>
          <p:cNvSpPr txBox="1"/>
          <p:nvPr/>
        </p:nvSpPr>
        <p:spPr>
          <a:xfrm>
            <a:off x="2692400" y="6014720"/>
            <a:ext cx="75184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US" sz="1400" dirty="0">
                <a:ea typeface="Inter"/>
              </a:rPr>
              <a:t>Allikas: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>
                <a:ea typeface="+mn-lt"/>
                <a:cs typeface="+mn-lt"/>
                <a:hlinkClick r:id="rId3"/>
              </a:rPr>
              <a:t>Searchlight Institute ja Tavern Research uuring AI kohta</a:t>
            </a:r>
            <a:r>
              <a:rPr lang="en-US" sz="1400" dirty="0">
                <a:ea typeface="+mn-lt"/>
                <a:cs typeface="+mn-lt"/>
              </a:rPr>
              <a:t>.</a:t>
            </a:r>
            <a:r>
              <a:rPr lang="en-US" dirty="0">
                <a:ea typeface="+mn-lt"/>
                <a:cs typeface="+mn-lt"/>
              </a:rPr>
              <a:t> </a:t>
            </a:r>
            <a:endParaRPr lang="en-US" dirty="0">
              <a:ea typeface="Inter"/>
            </a:endParaRPr>
          </a:p>
          <a:p>
            <a:pPr algn="r"/>
            <a:endParaRPr lang="en-US" dirty="0">
              <a:solidFill>
                <a:srgbClr val="121212"/>
              </a:solidFill>
              <a:ea typeface="Inter"/>
            </a:endParaRP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7357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4885-183C-7405-345F-6F039AC36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D799-FEF4-2867-2771-9F5C35BC3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Tehisaru</a:t>
            </a:r>
            <a:r>
              <a:rPr lang="en-US" b="1"/>
              <a:t> – </a:t>
            </a:r>
            <a:r>
              <a:rPr lang="en-US" b="1" err="1"/>
              <a:t>levinumad</a:t>
            </a:r>
            <a:r>
              <a:rPr lang="en-US" b="1"/>
              <a:t> </a:t>
            </a:r>
            <a:r>
              <a:rPr lang="en-US" b="1" err="1"/>
              <a:t>vestlusrobotid</a:t>
            </a:r>
            <a:r>
              <a:rPr lang="en-US" b="1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92C0-055D-8861-D035-31319A8018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Noto Serif"/>
                <a:hlinkClick r:id="rId2"/>
              </a:rPr>
              <a:t>ChatGPT</a:t>
            </a:r>
            <a:endParaRPr lang="en-US" sz="2400" dirty="0"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  <a:hlinkClick r:id="rId3"/>
              </a:rPr>
              <a:t>Google Gemini</a:t>
            </a:r>
            <a:r>
              <a:rPr lang="en-US" sz="2400" dirty="0">
                <a:ea typeface="Inter"/>
                <a:cs typeface="Noto Serif"/>
              </a:rPr>
              <a:t> 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  <a:hlinkClick r:id="rId4"/>
              </a:rPr>
              <a:t>Microsoft Copilot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  <a:hlinkClick r:id="rId5"/>
              </a:rPr>
              <a:t>Claude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proovi</a:t>
            </a:r>
            <a:r>
              <a:rPr lang="en-US" sz="2400" dirty="0">
                <a:ea typeface="Inter"/>
                <a:cs typeface="Noto Serif"/>
              </a:rPr>
              <a:t> "Show world population on graph."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574469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96E0-0447-F416-DAB5-8BD8EEA42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A12E-8239-93DD-2B09-FE46CB68C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Tehisaru</a:t>
            </a:r>
            <a:r>
              <a:rPr lang="en-US" b="1"/>
              <a:t> – </a:t>
            </a:r>
            <a:r>
              <a:rPr lang="en-US" b="1" err="1"/>
              <a:t>levinumad</a:t>
            </a:r>
            <a:r>
              <a:rPr lang="en-US" b="1"/>
              <a:t> </a:t>
            </a:r>
            <a:r>
              <a:rPr lang="en-US" b="1" err="1"/>
              <a:t>kasutusvõimalused</a:t>
            </a:r>
            <a:r>
              <a:rPr lang="en-US" b="1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EE41D-2DBC-64AB-6A9E-0377C470EE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>
                <a:ea typeface="Inter"/>
                <a:cs typeface="Noto Serif"/>
              </a:rPr>
              <a:t>Koodi ja </a:t>
            </a:r>
            <a:r>
              <a:rPr lang="en-US" sz="2000" err="1">
                <a:ea typeface="Inter"/>
                <a:cs typeface="Noto Serif"/>
              </a:rPr>
              <a:t>valemite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ning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paluda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selgitused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juurde</a:t>
            </a:r>
            <a:endParaRPr lang="en-US" sz="200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  <a:cs typeface="Noto Serif"/>
              </a:rPr>
              <a:t>Veateadete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lahendamine</a:t>
            </a:r>
            <a:endParaRPr lang="en-US" sz="200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  <a:cs typeface="Noto Serif"/>
              </a:rPr>
              <a:t>Andmemudeli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  <a:cs typeface="Noto Serif"/>
              </a:rPr>
              <a:t>Näidisandmestike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  <a:cs typeface="Noto Serif"/>
              </a:rPr>
              <a:t>Graafikute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  <a:cs typeface="Noto Serif"/>
              </a:rPr>
              <a:t>Statistiliste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analüüside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tegemine</a:t>
            </a:r>
            <a:endParaRPr lang="en-US" sz="200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  <a:cs typeface="Noto Serif"/>
              </a:rPr>
              <a:t>Kokkuvõtete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tegemine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tulemuste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tõlgendamine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0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>
                <a:ea typeface="Inter"/>
                <a:cs typeface="Noto Serif"/>
              </a:rPr>
              <a:t>NB! </a:t>
            </a:r>
            <a:r>
              <a:rPr lang="en-US" sz="2400" err="1">
                <a:ea typeface="Inter"/>
                <a:cs typeface="Noto Serif"/>
              </a:rPr>
              <a:t>Kasutamisel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tuleb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silmas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pidada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andmekaitset</a:t>
            </a:r>
            <a:r>
              <a:rPr lang="en-US" sz="2400">
                <a:ea typeface="Inter"/>
                <a:cs typeface="Noto Serif"/>
              </a:rPr>
              <a:t> ja </a:t>
            </a:r>
            <a:r>
              <a:rPr lang="en-US" sz="2400" err="1">
                <a:ea typeface="Inter"/>
                <a:cs typeface="Noto Serif"/>
              </a:rPr>
              <a:t>ärisaladuse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hoidmist</a:t>
            </a:r>
            <a:r>
              <a:rPr lang="en-US" sz="2400">
                <a:ea typeface="Inter"/>
                <a:cs typeface="Noto Serif"/>
              </a:rPr>
              <a:t>. </a:t>
            </a:r>
            <a:r>
              <a:rPr lang="en-US" sz="2400" err="1">
                <a:ea typeface="Inter"/>
                <a:cs typeface="Noto Serif"/>
              </a:rPr>
              <a:t>Tavaliselt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vestlusrobotid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kasutavad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saadud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andmeid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edasiseks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treenimiseks</a:t>
            </a:r>
            <a:r>
              <a:rPr lang="en-US" sz="2400">
                <a:ea typeface="Inter"/>
                <a:cs typeface="Noto Serif"/>
              </a:rPr>
              <a:t>.</a:t>
            </a: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89421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DEC0-4E0D-7B98-5997-874242016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32AA-1804-C95A-235A-B1630A75A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Tehisaru</a:t>
            </a:r>
            <a:r>
              <a:rPr lang="en-US" b="1"/>
              <a:t> – </a:t>
            </a:r>
            <a:r>
              <a:rPr lang="en-US" b="1" err="1"/>
              <a:t>eduka</a:t>
            </a:r>
            <a:r>
              <a:rPr lang="en-US" b="1"/>
              <a:t> </a:t>
            </a:r>
            <a:r>
              <a:rPr lang="en-US" b="1" err="1"/>
              <a:t>päringu</a:t>
            </a:r>
            <a:r>
              <a:rPr lang="en-US" b="1"/>
              <a:t> </a:t>
            </a:r>
            <a:r>
              <a:rPr lang="en-US" b="1" err="1"/>
              <a:t>kirjutamine</a:t>
            </a:r>
            <a:r>
              <a:rPr lang="en-US" b="1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4C29-7DB7-412C-B56A-46EC71179C1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ea typeface="Inter"/>
                <a:cs typeface="Noto Serif"/>
              </a:rPr>
              <a:t>Päring</a:t>
            </a:r>
            <a:r>
              <a:rPr lang="en-US" sz="2400">
                <a:ea typeface="Inter"/>
                <a:cs typeface="Noto Serif"/>
              </a:rPr>
              <a:t> = </a:t>
            </a:r>
            <a:r>
              <a:rPr lang="en-US" sz="2400" err="1">
                <a:ea typeface="Inter"/>
                <a:cs typeface="Noto Serif"/>
              </a:rPr>
              <a:t>keelemudelile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programmi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kirjutamine</a:t>
            </a:r>
            <a:endParaRPr lang="en-US" sz="240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>
                <a:ea typeface="Inter"/>
                <a:cs typeface="Noto Serif"/>
              </a:rPr>
              <a:t>Anna </a:t>
            </a:r>
            <a:r>
              <a:rPr lang="en-US" sz="2400" err="1">
                <a:ea typeface="Inter"/>
                <a:cs typeface="Noto Serif"/>
              </a:rPr>
              <a:t>võimalikult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palju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konteksti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ning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millises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formaadis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vastust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soovid</a:t>
            </a:r>
            <a:endParaRPr lang="en-US" sz="240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ea typeface="Inter"/>
                <a:cs typeface="Noto Serif"/>
              </a:rPr>
              <a:t>Täpsusta</a:t>
            </a:r>
            <a:r>
              <a:rPr lang="en-US" sz="2400">
                <a:ea typeface="Inter"/>
                <a:cs typeface="Noto Serif"/>
              </a:rPr>
              <a:t>, </a:t>
            </a:r>
            <a:r>
              <a:rPr lang="en-US" sz="2400" err="1">
                <a:ea typeface="Inter"/>
                <a:cs typeface="Noto Serif"/>
              </a:rPr>
              <a:t>millist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tarkvara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kasutad</a:t>
            </a:r>
            <a:r>
              <a:rPr lang="en-US" sz="2400">
                <a:ea typeface="Inter"/>
                <a:cs typeface="Noto Serif"/>
              </a:rPr>
              <a:t>, </a:t>
            </a:r>
            <a:r>
              <a:rPr lang="en-US" sz="2400" err="1">
                <a:ea typeface="Inter"/>
                <a:cs typeface="Noto Serif"/>
              </a:rPr>
              <a:t>kui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valemeid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küsid</a:t>
            </a:r>
            <a:endParaRPr lang="en-US" sz="24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err="1">
                <a:ea typeface="Inter"/>
                <a:cs typeface="Noto Serif"/>
              </a:rPr>
              <a:t>Iteratiivne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protsess</a:t>
            </a:r>
            <a:r>
              <a:rPr lang="en-US" sz="2400">
                <a:ea typeface="Inter"/>
                <a:cs typeface="Noto Serif"/>
              </a:rPr>
              <a:t> – </a:t>
            </a:r>
            <a:r>
              <a:rPr lang="en-US" sz="2400" err="1">
                <a:ea typeface="Inter"/>
                <a:cs typeface="Noto Serif"/>
              </a:rPr>
              <a:t>palu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täiustada</a:t>
            </a:r>
            <a:r>
              <a:rPr lang="en-US" sz="2400">
                <a:ea typeface="Inter"/>
                <a:cs typeface="Noto Serif"/>
              </a:rPr>
              <a:t> ja </a:t>
            </a:r>
            <a:r>
              <a:rPr lang="en-US" sz="2400" err="1">
                <a:ea typeface="Inter"/>
                <a:cs typeface="Noto Serif"/>
              </a:rPr>
              <a:t>täiendada</a:t>
            </a:r>
            <a:endParaRPr lang="en-US" sz="24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2765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613B-AA18-2E8F-A97B-F0B013DE23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Sisendi</a:t>
            </a:r>
            <a:r>
              <a:rPr lang="en-US" dirty="0"/>
              <a:t> </a:t>
            </a:r>
            <a:r>
              <a:rPr lang="en-US" dirty="0" err="1"/>
              <a:t>kirjutamise</a:t>
            </a:r>
            <a:r>
              <a:rPr lang="en-US" dirty="0"/>
              <a:t> </a:t>
            </a:r>
            <a:r>
              <a:rPr lang="en-US" dirty="0" err="1"/>
              <a:t>põhimõtted</a:t>
            </a:r>
            <a:r>
              <a:rPr lang="en-US" dirty="0"/>
              <a:t> (CRAFT </a:t>
            </a:r>
            <a:r>
              <a:rPr lang="en-US" dirty="0" err="1"/>
              <a:t>mudel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332-1D1A-2C6E-9052-C6A2A200967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1) </a:t>
            </a:r>
            <a:r>
              <a:rPr lang="en-US" sz="2400" dirty="0" err="1">
                <a:ea typeface="Inter"/>
              </a:rPr>
              <a:t>Kontekst</a:t>
            </a:r>
            <a:r>
              <a:rPr lang="en-US" sz="2400" dirty="0">
                <a:ea typeface="Inter"/>
              </a:rPr>
              <a:t> - </a:t>
            </a:r>
            <a:r>
              <a:rPr lang="en-US" sz="2400" dirty="0" err="1">
                <a:ea typeface="Inter"/>
              </a:rPr>
              <a:t>taustainfo</a:t>
            </a:r>
            <a:endParaRPr lang="en-US" sz="2400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2) Roll – </a:t>
            </a:r>
            <a:r>
              <a:rPr lang="en-US" sz="2400" err="1">
                <a:ea typeface="Inter"/>
              </a:rPr>
              <a:t>kelle</a:t>
            </a:r>
            <a:r>
              <a:rPr lang="en-US" sz="2400" dirty="0">
                <a:ea typeface="Inter"/>
              </a:rPr>
              <a:t> </a:t>
            </a:r>
            <a:r>
              <a:rPr lang="en-US" sz="2400" err="1">
                <a:ea typeface="Inter"/>
              </a:rPr>
              <a:t>rolli</a:t>
            </a:r>
            <a:r>
              <a:rPr lang="en-US" sz="2400" dirty="0">
                <a:ea typeface="Inter"/>
              </a:rPr>
              <a:t> </a:t>
            </a:r>
            <a:r>
              <a:rPr lang="en-US" sz="2400" err="1">
                <a:ea typeface="Inter"/>
              </a:rPr>
              <a:t>tehisaru</a:t>
            </a:r>
            <a:r>
              <a:rPr lang="en-US" sz="2400" dirty="0">
                <a:ea typeface="Inter"/>
              </a:rPr>
              <a:t> </a:t>
            </a:r>
            <a:r>
              <a:rPr lang="en-US" sz="2400" err="1">
                <a:ea typeface="Inter"/>
              </a:rPr>
              <a:t>võtab</a:t>
            </a:r>
            <a:r>
              <a:rPr lang="en-US" sz="2400" dirty="0">
                <a:ea typeface="Inter"/>
              </a:rPr>
              <a:t>, </a:t>
            </a:r>
            <a:r>
              <a:rPr lang="en-US" sz="2400" err="1">
                <a:ea typeface="Inter"/>
              </a:rPr>
              <a:t>nt</a:t>
            </a:r>
            <a:r>
              <a:rPr lang="en-US" sz="2400" dirty="0">
                <a:ea typeface="Inter"/>
              </a:rPr>
              <a:t> </a:t>
            </a:r>
            <a:r>
              <a:rPr lang="en-US" sz="2400" err="1">
                <a:ea typeface="Inter"/>
              </a:rPr>
              <a:t>ametiala</a:t>
            </a:r>
            <a:endParaRPr lang="en-US" sz="2400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3) </a:t>
            </a:r>
            <a:r>
              <a:rPr lang="en-US" sz="2400" dirty="0" err="1">
                <a:ea typeface="Inter"/>
              </a:rPr>
              <a:t>Tegevus</a:t>
            </a:r>
            <a:r>
              <a:rPr lang="en-US" sz="2400" dirty="0">
                <a:ea typeface="Inter"/>
              </a:rPr>
              <a:t> – mis on </a:t>
            </a:r>
            <a:r>
              <a:rPr lang="en-US" sz="2400" dirty="0" err="1">
                <a:ea typeface="Inter"/>
              </a:rPr>
              <a:t>eesmärk</a:t>
            </a:r>
            <a:r>
              <a:rPr lang="en-US" sz="2400" dirty="0">
                <a:ea typeface="Inter"/>
              </a:rPr>
              <a:t> ja </a:t>
            </a:r>
            <a:r>
              <a:rPr lang="en-US" sz="2400" dirty="0" err="1">
                <a:ea typeface="Inter"/>
              </a:rPr>
              <a:t>oodatud</a:t>
            </a:r>
            <a:r>
              <a:rPr lang="en-US" sz="2400" dirty="0">
                <a:ea typeface="Inter"/>
              </a:rPr>
              <a:t> </a:t>
            </a:r>
            <a:r>
              <a:rPr lang="en-US" sz="2400" dirty="0" err="1">
                <a:ea typeface="Inter"/>
              </a:rPr>
              <a:t>tulemus</a:t>
            </a:r>
            <a:endParaRPr lang="en-US" sz="2400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4) </a:t>
            </a:r>
            <a:r>
              <a:rPr lang="en-US" sz="2400" dirty="0" err="1">
                <a:ea typeface="Inter"/>
              </a:rPr>
              <a:t>Formaat</a:t>
            </a:r>
            <a:r>
              <a:rPr lang="en-US" sz="2400" dirty="0">
                <a:ea typeface="Inter"/>
              </a:rPr>
              <a:t> – </a:t>
            </a:r>
            <a:r>
              <a:rPr lang="en-US" sz="2400" dirty="0" err="1">
                <a:ea typeface="Inter"/>
              </a:rPr>
              <a:t>millises</a:t>
            </a:r>
            <a:r>
              <a:rPr lang="en-US" sz="2400" dirty="0">
                <a:ea typeface="Inter"/>
              </a:rPr>
              <a:t> </a:t>
            </a:r>
            <a:r>
              <a:rPr lang="en-US" sz="2400" dirty="0" err="1">
                <a:ea typeface="Inter"/>
              </a:rPr>
              <a:t>formaadis</a:t>
            </a:r>
            <a:r>
              <a:rPr lang="en-US" sz="2400" dirty="0">
                <a:ea typeface="Inter"/>
              </a:rPr>
              <a:t> </a:t>
            </a:r>
            <a:r>
              <a:rPr lang="en-US" sz="2400" dirty="0" err="1">
                <a:ea typeface="Inter"/>
              </a:rPr>
              <a:t>vastust</a:t>
            </a:r>
            <a:r>
              <a:rPr lang="en-US" sz="2400" dirty="0">
                <a:ea typeface="Inter"/>
              </a:rPr>
              <a:t> </a:t>
            </a:r>
            <a:r>
              <a:rPr lang="en-US" sz="2400" dirty="0" err="1">
                <a:ea typeface="Inter"/>
              </a:rPr>
              <a:t>soovid</a:t>
            </a:r>
            <a:endParaRPr lang="en-US" dirty="0" err="1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5) </a:t>
            </a:r>
            <a:r>
              <a:rPr lang="en-US" sz="2400" err="1">
                <a:ea typeface="Inter"/>
              </a:rPr>
              <a:t>Sihtgrupp</a:t>
            </a:r>
            <a:r>
              <a:rPr lang="en-US" sz="2400" dirty="0">
                <a:ea typeface="Inter"/>
              </a:rPr>
              <a:t> - </a:t>
            </a:r>
            <a:r>
              <a:rPr lang="en-US" sz="2400" err="1">
                <a:ea typeface="Inter"/>
              </a:rPr>
              <a:t>kellele</a:t>
            </a:r>
            <a:r>
              <a:rPr lang="en-US" sz="2400" dirty="0">
                <a:ea typeface="Inter"/>
              </a:rPr>
              <a:t> on </a:t>
            </a:r>
            <a:r>
              <a:rPr lang="en-US" sz="2400" err="1">
                <a:ea typeface="Inter"/>
              </a:rPr>
              <a:t>tulem</a:t>
            </a:r>
            <a:r>
              <a:rPr lang="en-US" sz="2400" dirty="0">
                <a:ea typeface="Inter"/>
              </a:rPr>
              <a:t> </a:t>
            </a:r>
            <a:r>
              <a:rPr lang="en-US" sz="2400" err="1">
                <a:ea typeface="Inter"/>
              </a:rPr>
              <a:t>suunatud</a:t>
            </a:r>
            <a:endParaRPr lang="en-US" err="1"/>
          </a:p>
          <a:p>
            <a:pPr marL="742950" lvl="1" indent="-285750">
              <a:lnSpc>
                <a:spcPct val="150000"/>
              </a:lnSpc>
            </a:pPr>
            <a:endParaRPr lang="en-US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6515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09EE-22F1-1315-8A2D-3282644AA9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Sisendi</a:t>
            </a:r>
            <a:r>
              <a:rPr lang="en-US" dirty="0"/>
              <a:t> näide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5931E-0B21-061A-1BAA-585EFA37FA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400" dirty="0" err="1">
                <a:ea typeface="Inter"/>
              </a:rPr>
              <a:t>Algne</a:t>
            </a:r>
            <a:r>
              <a:rPr lang="en-US" sz="2400" dirty="0">
                <a:ea typeface="Inter"/>
              </a:rPr>
              <a:t>: </a:t>
            </a:r>
            <a:r>
              <a:rPr lang="en-US" sz="2400" dirty="0" err="1">
                <a:ea typeface="+mn-lt"/>
                <a:cs typeface="+mn-lt"/>
              </a:rPr>
              <a:t>Analüüsi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andmeid</a:t>
            </a:r>
            <a:r>
              <a:rPr lang="en-US" sz="2400" dirty="0">
                <a:ea typeface="+mn-lt"/>
                <a:cs typeface="+mn-lt"/>
              </a:rPr>
              <a:t>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Täiendatud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000" dirty="0" err="1">
                <a:ea typeface="Inter"/>
              </a:rPr>
              <a:t>Siin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andmestik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kahe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pakiroboti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tarneaja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kohta</a:t>
            </a:r>
            <a:r>
              <a:rPr lang="en-US" sz="2000" dirty="0">
                <a:ea typeface="Inter"/>
              </a:rPr>
              <a:t>. </a:t>
            </a:r>
            <a:r>
              <a:rPr lang="en-US" sz="2000" i="1" dirty="0">
                <a:ea typeface="Inter"/>
              </a:rPr>
              <a:t>(</a:t>
            </a:r>
            <a:r>
              <a:rPr lang="en-US" sz="2000" i="1" dirty="0" err="1">
                <a:ea typeface="Inter"/>
              </a:rPr>
              <a:t>Kontekst</a:t>
            </a:r>
            <a:r>
              <a:rPr lang="en-US" sz="2000" i="1" dirty="0">
                <a:ea typeface="Inter"/>
              </a:rPr>
              <a:t>)</a:t>
            </a:r>
            <a:endParaRPr lang="en-US" sz="2000" i="1" dirty="0"/>
          </a:p>
          <a:p>
            <a:pPr lvl="1">
              <a:lnSpc>
                <a:spcPct val="150000"/>
              </a:lnSpc>
            </a:pPr>
            <a:r>
              <a:rPr lang="en-US" sz="2000" dirty="0">
                <a:ea typeface="Inter"/>
              </a:rPr>
              <a:t>Sa </a:t>
            </a:r>
            <a:r>
              <a:rPr lang="en-US" sz="2000" dirty="0" err="1">
                <a:ea typeface="Inter"/>
              </a:rPr>
              <a:t>oled</a:t>
            </a:r>
            <a:r>
              <a:rPr lang="en-US" sz="2000" dirty="0">
                <a:ea typeface="Inter"/>
              </a:rPr>
              <a:t> </a:t>
            </a:r>
            <a:r>
              <a:rPr lang="en-US" sz="2000" dirty="0" err="1">
                <a:ea typeface="Inter"/>
              </a:rPr>
              <a:t>seenior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andmeanalüütik</a:t>
            </a:r>
            <a:r>
              <a:rPr lang="en-US" sz="2000" dirty="0">
                <a:ea typeface="Inter"/>
              </a:rPr>
              <a:t>. </a:t>
            </a:r>
            <a:r>
              <a:rPr lang="en-US" sz="2000" i="1" dirty="0">
                <a:ea typeface="Inter"/>
              </a:rPr>
              <a:t>(Roll)</a:t>
            </a:r>
            <a:endParaRPr lang="en-US" sz="2000" i="1" dirty="0"/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+mn-lt"/>
                <a:cs typeface="+mn-lt"/>
              </a:rPr>
              <a:t>Võrdle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erinevust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vana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uue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tarkvaraga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pakiroboti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vahel</a:t>
            </a:r>
            <a:r>
              <a:rPr lang="en-US" sz="2000" dirty="0">
                <a:ea typeface="+mn-lt"/>
                <a:cs typeface="+mn-lt"/>
              </a:rPr>
              <a:t>. </a:t>
            </a:r>
            <a:r>
              <a:rPr lang="en-US" sz="2000" i="1" dirty="0">
                <a:ea typeface="+mn-lt"/>
                <a:cs typeface="+mn-lt"/>
              </a:rPr>
              <a:t>(</a:t>
            </a:r>
            <a:r>
              <a:rPr lang="en-US" sz="2000" i="1" dirty="0" err="1">
                <a:ea typeface="+mn-lt"/>
                <a:cs typeface="+mn-lt"/>
              </a:rPr>
              <a:t>Tegevus</a:t>
            </a:r>
            <a:r>
              <a:rPr lang="en-US" sz="2000" i="1" dirty="0">
                <a:ea typeface="+mn-lt"/>
                <a:cs typeface="+mn-lt"/>
              </a:rPr>
              <a:t>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+mn-lt"/>
                <a:cs typeface="+mn-lt"/>
              </a:rPr>
              <a:t>Loo </a:t>
            </a:r>
            <a:r>
              <a:rPr lang="en-US" sz="2000" dirty="0" err="1">
                <a:ea typeface="+mn-lt"/>
                <a:cs typeface="+mn-lt"/>
              </a:rPr>
              <a:t>Jupyter</a:t>
            </a:r>
            <a:r>
              <a:rPr lang="en-US" sz="2000" dirty="0">
                <a:ea typeface="+mn-lt"/>
                <a:cs typeface="+mn-lt"/>
              </a:rPr>
              <a:t> Notebook fail. </a:t>
            </a:r>
            <a:r>
              <a:rPr lang="en-US" sz="2000" i="1" dirty="0">
                <a:ea typeface="+mn-lt"/>
                <a:cs typeface="+mn-lt"/>
              </a:rPr>
              <a:t>(</a:t>
            </a:r>
            <a:r>
              <a:rPr lang="en-US" sz="2000" i="1" dirty="0" err="1">
                <a:ea typeface="+mn-lt"/>
                <a:cs typeface="+mn-lt"/>
              </a:rPr>
              <a:t>Formaat</a:t>
            </a:r>
            <a:r>
              <a:rPr lang="en-US" sz="2000" i="1" dirty="0">
                <a:ea typeface="+mn-lt"/>
                <a:cs typeface="+mn-lt"/>
              </a:rPr>
              <a:t>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+mn-lt"/>
                <a:cs typeface="+mn-lt"/>
              </a:rPr>
              <a:t>Esitlus</a:t>
            </a:r>
            <a:r>
              <a:rPr lang="en-US" sz="2000" dirty="0">
                <a:ea typeface="+mn-lt"/>
                <a:cs typeface="+mn-lt"/>
              </a:rPr>
              <a:t> on </a:t>
            </a:r>
            <a:r>
              <a:rPr lang="en-US" sz="2000" dirty="0" err="1">
                <a:ea typeface="+mn-lt"/>
                <a:cs typeface="+mn-lt"/>
              </a:rPr>
              <a:t>mõeldud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tootetiimile</a:t>
            </a:r>
            <a:r>
              <a:rPr lang="en-US" sz="2000" dirty="0">
                <a:ea typeface="+mn-lt"/>
                <a:cs typeface="+mn-lt"/>
              </a:rPr>
              <a:t>.</a:t>
            </a:r>
            <a:r>
              <a:rPr lang="en-US" sz="2000" i="1" dirty="0">
                <a:ea typeface="+mn-lt"/>
                <a:cs typeface="+mn-lt"/>
              </a:rPr>
              <a:t> (</a:t>
            </a:r>
            <a:r>
              <a:rPr lang="en-US" sz="2000" i="1" dirty="0" err="1">
                <a:ea typeface="+mn-lt"/>
                <a:cs typeface="+mn-lt"/>
              </a:rPr>
              <a:t>Sihtgrupp</a:t>
            </a:r>
            <a:r>
              <a:rPr lang="en-US" sz="2000" i="1" dirty="0">
                <a:ea typeface="+mn-lt"/>
                <a:cs typeface="+mn-lt"/>
              </a:rPr>
              <a:t>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n-US" sz="2400" dirty="0"/>
          </a:p>
          <a:p>
            <a:pPr lvl="1"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n-US" sz="2400" dirty="0"/>
          </a:p>
          <a:p>
            <a:pPr lvl="1">
              <a:buFont typeface="Courier New" panose="020B0502030000000004" pitchFamily="34" charset="0"/>
              <a:buChar char="o"/>
            </a:pPr>
            <a:endParaRPr lang="en-US" sz="2400" dirty="0"/>
          </a:p>
          <a:p>
            <a:pPr lvl="1">
              <a:buFont typeface="Courier New" panose="020B0502030000000004" pitchFamily="34" charset="0"/>
              <a:buChar char="o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732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6D3-A970-D5A5-D02E-FEE0E6B0D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Tehisaru</a:t>
            </a:r>
            <a:r>
              <a:rPr lang="en-US" dirty="0"/>
              <a:t> - </a:t>
            </a:r>
            <a:r>
              <a:rPr lang="en-US" dirty="0" err="1"/>
              <a:t>personaliseerimine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6FC87-C50E-09CA-7F87-C4C23D6BFC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Saab </a:t>
            </a:r>
            <a:r>
              <a:rPr lang="en-US" sz="2400" err="1">
                <a:ea typeface="Inter"/>
              </a:rPr>
              <a:t>lisada</a:t>
            </a:r>
            <a:r>
              <a:rPr lang="en-US" sz="2400" dirty="0">
                <a:ea typeface="Inter"/>
              </a:rPr>
              <a:t> info, </a:t>
            </a:r>
            <a:r>
              <a:rPr lang="en-US" sz="2400" err="1">
                <a:ea typeface="Inter"/>
              </a:rPr>
              <a:t>mida</a:t>
            </a:r>
            <a:r>
              <a:rPr lang="en-US" sz="2400" dirty="0">
                <a:ea typeface="Inter"/>
              </a:rPr>
              <a:t> </a:t>
            </a:r>
            <a:r>
              <a:rPr lang="en-US" sz="2400" err="1">
                <a:ea typeface="Inter"/>
              </a:rPr>
              <a:t>iga</a:t>
            </a:r>
            <a:r>
              <a:rPr lang="en-US" sz="2400" dirty="0">
                <a:ea typeface="Inter"/>
              </a:rPr>
              <a:t> </a:t>
            </a:r>
            <a:r>
              <a:rPr lang="en-US" sz="2400" err="1">
                <a:ea typeface="Inter"/>
              </a:rPr>
              <a:t>päringu</a:t>
            </a:r>
            <a:r>
              <a:rPr lang="en-US" sz="2400" dirty="0">
                <a:ea typeface="Inter"/>
              </a:rPr>
              <a:t> </a:t>
            </a:r>
            <a:r>
              <a:rPr lang="en-US" sz="2400" err="1">
                <a:ea typeface="Inter"/>
              </a:rPr>
              <a:t>tegemisel</a:t>
            </a:r>
            <a:r>
              <a:rPr lang="en-US" sz="2400" dirty="0">
                <a:ea typeface="Inter"/>
              </a:rPr>
              <a:t> </a:t>
            </a:r>
            <a:r>
              <a:rPr lang="en-US" sz="2400" err="1">
                <a:ea typeface="Inter"/>
              </a:rPr>
              <a:t>jooksutatakse</a:t>
            </a:r>
            <a:endParaRPr lang="en-US" sz="240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ChatGPT --&gt;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oma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profiilil</a:t>
            </a:r>
            <a:r>
              <a:rPr lang="en-US" sz="2400" dirty="0">
                <a:ea typeface="Inter"/>
              </a:rPr>
              <a:t> --&gt; Customize ChatGPT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82630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8EBB5-E66E-D684-9080-959FC5E2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CB597-CCE1-B2CB-AF5D-4898AE0673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C12984A-F918-66CF-9BF7-11C289E053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677885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C7D33-8F01-1754-4E8C-82C6A6EFF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B55-022C-CCF6-9EF2-07D4A3BCE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Tehisaru</a:t>
            </a:r>
            <a:r>
              <a:rPr lang="en-US" b="1"/>
              <a:t> – </a:t>
            </a:r>
            <a:r>
              <a:rPr lang="en-US" b="1" err="1"/>
              <a:t>vestlusrobotid</a:t>
            </a:r>
            <a:r>
              <a:rPr lang="en-US" b="1"/>
              <a:t> - </a:t>
            </a:r>
            <a:r>
              <a:rPr lang="en-US" b="1" err="1"/>
              <a:t>praktiline</a:t>
            </a:r>
            <a:r>
              <a:rPr lang="en-US" b="1"/>
              <a:t> </a:t>
            </a:r>
            <a:r>
              <a:rPr lang="en-US" b="1" err="1"/>
              <a:t>harjutus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A66F8-FBDE-40E8-405E-245CA696AF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Ava  </a:t>
            </a:r>
            <a:r>
              <a:rPr lang="en-US" sz="2400" dirty="0" err="1">
                <a:ea typeface="Inter"/>
                <a:cs typeface="Noto Serif"/>
              </a:rPr>
              <a:t>Müügiraporti</a:t>
            </a:r>
            <a:r>
              <a:rPr lang="en-US" sz="2400" dirty="0">
                <a:ea typeface="Inter"/>
                <a:cs typeface="Noto Serif"/>
              </a:rPr>
              <a:t> Power BI 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Palu </a:t>
            </a:r>
            <a:r>
              <a:rPr lang="en-US" sz="2400" dirty="0" err="1">
                <a:ea typeface="Inter"/>
                <a:cs typeface="Noto Serif"/>
              </a:rPr>
              <a:t>erinevatel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vestlusrobotitel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luua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samu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arvutatud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tulpasid</a:t>
            </a:r>
            <a:r>
              <a:rPr lang="en-US" sz="2400" dirty="0">
                <a:ea typeface="Inter"/>
                <a:cs typeface="Noto Serif"/>
              </a:rPr>
              <a:t> ja </a:t>
            </a:r>
            <a:r>
              <a:rPr lang="en-US" sz="2400" dirty="0" err="1">
                <a:ea typeface="Inter"/>
                <a:cs typeface="Noto Serif"/>
              </a:rPr>
              <a:t>mõõdikuid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mida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analüüsis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kasutasime</a:t>
            </a:r>
            <a:r>
              <a:rPr lang="en-US" sz="2400" dirty="0">
                <a:ea typeface="Inter"/>
                <a:cs typeface="Noto Serif"/>
              </a:rPr>
              <a:t>. </a:t>
            </a:r>
            <a:r>
              <a:rPr lang="en-US" sz="2400" dirty="0" err="1">
                <a:ea typeface="Inter"/>
                <a:cs typeface="Noto Serif"/>
              </a:rPr>
              <a:t>Võrdle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vestlusrobotite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vahelisi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tulemusi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ning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meie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poolt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kirjutatud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valemeid</a:t>
            </a:r>
            <a:r>
              <a:rPr lang="en-US" sz="2400" dirty="0">
                <a:ea typeface="Inter"/>
                <a:cs typeface="Noto Serif"/>
              </a:rPr>
              <a:t>. 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cs typeface="Noto Serif"/>
              </a:rPr>
              <a:t>Uuri</a:t>
            </a:r>
            <a:r>
              <a:rPr lang="en-US" sz="2400" dirty="0">
                <a:cs typeface="Noto Serif"/>
              </a:rPr>
              <a:t> </a:t>
            </a:r>
            <a:r>
              <a:rPr lang="en-US" sz="2400" dirty="0" err="1">
                <a:cs typeface="Noto Serif"/>
              </a:rPr>
              <a:t>sama</a:t>
            </a:r>
            <a:r>
              <a:rPr lang="en-US" sz="2400" dirty="0">
                <a:cs typeface="Noto Serif"/>
              </a:rPr>
              <a:t> Employee Overview </a:t>
            </a:r>
            <a:r>
              <a:rPr lang="en-US" sz="2400" dirty="0" err="1">
                <a:cs typeface="Noto Serif"/>
              </a:rPr>
              <a:t>raporti</a:t>
            </a:r>
            <a:r>
              <a:rPr lang="en-US" sz="2400" dirty="0">
                <a:cs typeface="Noto Serif"/>
              </a:rPr>
              <a:t> </a:t>
            </a:r>
            <a:r>
              <a:rPr lang="en-US" sz="2400" dirty="0" err="1">
                <a:cs typeface="Noto Serif"/>
              </a:rPr>
              <a:t>mõõdikute</a:t>
            </a:r>
            <a:r>
              <a:rPr lang="en-US" sz="2400" dirty="0">
                <a:cs typeface="Noto Serif"/>
              </a:rPr>
              <a:t> </a:t>
            </a:r>
            <a:r>
              <a:rPr lang="en-US" sz="2400" dirty="0" err="1">
                <a:cs typeface="Noto Serif"/>
              </a:rPr>
              <a:t>kohta</a:t>
            </a:r>
            <a:endParaRPr lang="en-US" sz="2400" dirty="0">
              <a:cs typeface="Noto Serif"/>
            </a:endParaRP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181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393A-A8F2-67EE-DB4D-EC30357C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81A30-3F12-3F34-4B12-D2A75ABF5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Tehisaru</a:t>
            </a:r>
            <a:r>
              <a:rPr lang="en-US" b="1"/>
              <a:t> – Visual Studio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B2D3B-479E-EDB2-3538-B9498FA1C1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>
                <a:ea typeface="Inter"/>
                <a:cs typeface="Noto Serif"/>
              </a:rPr>
              <a:t>View --&gt; Chat</a:t>
            </a:r>
            <a:endParaRPr lang="en-US" sz="240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err="1">
                <a:ea typeface="Inter"/>
                <a:cs typeface="Noto Serif"/>
              </a:rPr>
              <a:t>Ühendus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valitud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vestlusrobotiga</a:t>
            </a: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err="1">
                <a:ea typeface="Inter"/>
                <a:cs typeface="Noto Serif"/>
              </a:rPr>
              <a:t>Võimalik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ette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anda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kontekst</a:t>
            </a:r>
            <a:endParaRPr lang="en-US" sz="24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err="1">
                <a:ea typeface="Inter"/>
                <a:cs typeface="Noto Serif"/>
              </a:rPr>
              <a:t>Proovi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luua</a:t>
            </a:r>
            <a:r>
              <a:rPr lang="en-US" sz="2400">
                <a:ea typeface="Inter"/>
                <a:cs typeface="Noto Serif"/>
              </a:rPr>
              <a:t> SQL </a:t>
            </a:r>
            <a:r>
              <a:rPr lang="en-US" sz="2400" err="1">
                <a:ea typeface="Inter"/>
                <a:cs typeface="Noto Serif"/>
              </a:rPr>
              <a:t>päringuid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kirjelduse</a:t>
            </a:r>
            <a:r>
              <a:rPr lang="en-US" sz="2400">
                <a:ea typeface="Inter"/>
                <a:cs typeface="Noto Serif"/>
              </a:rPr>
              <a:t> </a:t>
            </a:r>
            <a:r>
              <a:rPr lang="en-US" sz="2400" err="1">
                <a:ea typeface="Inter"/>
                <a:cs typeface="Noto Serif"/>
              </a:rPr>
              <a:t>abil</a:t>
            </a:r>
            <a:endParaRPr lang="en-US" sz="2400" err="1">
              <a:cs typeface="Noto Serif"/>
            </a:endParaRP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6210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B0F9-9A44-A96E-0A3E-14C2C20C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FCE63-0FB0-32F6-8A25-B0877487D2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EE2DCD-5528-0E71-8160-938192ACA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14942372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065C-5832-C00B-D532-FF433879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15822-6BB3-759C-184D-73740C8BDF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EAEB33-E2E1-C05F-2B41-C3ECC3F9D6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652901621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459</Words>
  <Application>Microsoft Office PowerPoint</Application>
  <PresentationFormat>Widescreen</PresentationFormat>
  <Paragraphs>107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Inter</vt:lpstr>
      <vt:lpstr>Arial</vt:lpstr>
      <vt:lpstr>Calibri</vt:lpstr>
      <vt:lpstr>Poppins SemiBold</vt:lpstr>
      <vt:lpstr>Noto Serif</vt:lpstr>
      <vt:lpstr>Wingdings</vt:lpstr>
      <vt:lpstr>Arial,Sans-Serif</vt:lpstr>
      <vt:lpstr>Courier New</vt:lpstr>
      <vt:lpstr>Inter Bold</vt:lpstr>
      <vt:lpstr>BCS</vt:lpstr>
      <vt:lpstr>Vali Andmetarkus!</vt:lpstr>
      <vt:lpstr>Päevakava - XV päev</vt:lpstr>
      <vt:lpstr>Generatiivne tehisaru – suured keelemudelid (LLMs)</vt:lpstr>
      <vt:lpstr>Kuidas generatiivne tehisaru töötab?</vt:lpstr>
      <vt:lpstr>Tehisaru – levinumad vestlusrobotid </vt:lpstr>
      <vt:lpstr>Tehisaru – levinumad kasutusvõimalused </vt:lpstr>
      <vt:lpstr>Tehisaru – eduka päringu kirjutamine </vt:lpstr>
      <vt:lpstr>Sisendi kirjutamise põhimõtted (CRAFT mudel)</vt:lpstr>
      <vt:lpstr>Sisendi näide</vt:lpstr>
      <vt:lpstr>Tehisaru - personaliseerimine</vt:lpstr>
      <vt:lpstr>Paus 10:30-10:45</vt:lpstr>
      <vt:lpstr>Tehisaru – vestlusrobotid - praktiline harjutus</vt:lpstr>
      <vt:lpstr>Tehisaru – Visual Studio Code</vt:lpstr>
      <vt:lpstr>Lõunapaus 12:15-13:15</vt:lpstr>
      <vt:lpstr>Paus 14:45-15:00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221</cp:revision>
  <dcterms:created xsi:type="dcterms:W3CDTF">2021-08-27T11:35:28Z</dcterms:created>
  <dcterms:modified xsi:type="dcterms:W3CDTF">2026-03-18T08:03:05Z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