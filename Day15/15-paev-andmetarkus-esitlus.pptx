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417" r:id="rId5"/>
    <p:sldId id="479" r:id="rId6"/>
    <p:sldId id="567" r:id="rId7"/>
    <p:sldId id="475" r:id="rId8"/>
    <p:sldId id="452" r:id="rId9"/>
    <p:sldId id="647" r:id="rId10"/>
    <p:sldId id="476" r:id="rId11"/>
    <p:sldId id="477" r:id="rId12"/>
    <p:sldId id="494" r:id="rId13"/>
    <p:sldId id="446" r:id="rId14"/>
    <p:sldId id="447" r:id="rId15"/>
    <p:sldId id="646" r:id="rId16"/>
    <p:sldId id="571" r:id="rId17"/>
    <p:sldId id="514" r:id="rId18"/>
    <p:sldId id="572" r:id="rId19"/>
    <p:sldId id="619" r:id="rId20"/>
  </p:sldIdLst>
  <p:sldSz cx="12192000" cy="6858000"/>
  <p:notesSz cx="6858000" cy="9144000"/>
  <p:embeddedFontLst>
    <p:embeddedFont>
      <p:font typeface="Inter" panose="020B0604020202020204" charset="0"/>
      <p:regular r:id="rId23"/>
      <p:bold r:id="rId24"/>
    </p:embeddedFont>
    <p:embeddedFont>
      <p:font typeface="Inter Bold" panose="020B0604020202020204" charset="0"/>
      <p:bold r:id="rId25"/>
    </p:embeddedFont>
    <p:embeddedFont>
      <p:font typeface="Noto Serif" panose="02020600060500020200" pitchFamily="18" charset="0"/>
      <p:regular r:id="rId26"/>
      <p:bold r:id="rId27"/>
      <p:italic r:id="rId28"/>
      <p:boldItalic r:id="rId29"/>
    </p:embeddedFont>
    <p:embeddedFont>
      <p:font typeface="Poppins SemiBold" panose="00000700000000000000" pitchFamily="2" charset="0"/>
      <p:bold r:id="rId30"/>
      <p:boldItalic r:id="rId31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ADCC2F-0731-4A5B-A287-B42682DA1D9C}" v="91" dt="2026-04-14T08:13:17.0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4.fntdata"/><Relationship Id="rId21" Type="http://schemas.openxmlformats.org/officeDocument/2006/relationships/notesMaster" Target="notesMasters/notesMaster1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3.fntdata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2.fntdata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9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addSld delSld modSld sldOrd">
      <pc:chgData name="Virve Räni" userId="161a7437-7ef4-49ec-91bf-54882f313dfe" providerId="ADAL" clId="{6D754EED-65AA-4A21-B175-6769012CF487}" dt="2026-04-14T08:13:17.052" v="511" actId="20577"/>
      <pc:docMkLst>
        <pc:docMk/>
      </pc:docMkLst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4169291970" sldId="417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4169291970" sldId="417"/>
            <ac:spMk id="5" creationId="{3496B8E7-2B01-285F-88ED-B3ADE66A3D3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4169291970" sldId="417"/>
            <ac:spMk id="23" creationId="{382D4282-6F49-4A70-83AA-7E8F5DD56DC2}"/>
          </ac:spMkLst>
        </pc:spChg>
      </pc:sldChg>
      <pc:sldChg chg="modSp add mod">
        <pc:chgData name="Virve Räni" userId="161a7437-7ef4-49ec-91bf-54882f313dfe" providerId="ADAL" clId="{6D754EED-65AA-4A21-B175-6769012CF487}" dt="2026-04-14T08:06:07.883" v="377" actId="790"/>
        <pc:sldMkLst>
          <pc:docMk/>
          <pc:sldMk cId="1536515755" sldId="446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536515755" sldId="446"/>
            <ac:spMk id="2" creationId="{15E4613B-AA18-2E8F-A97B-F0B013DE239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536515755" sldId="446"/>
            <ac:spMk id="3" creationId="{F4A70332-1D1A-2C6E-9052-C6A2A2009676}"/>
          </ac:spMkLst>
        </pc:spChg>
      </pc:sldChg>
      <pc:sldChg chg="modSp add mod">
        <pc:chgData name="Virve Räni" userId="161a7437-7ef4-49ec-91bf-54882f313dfe" providerId="ADAL" clId="{6D754EED-65AA-4A21-B175-6769012CF487}" dt="2026-04-14T08:06:07.883" v="377" actId="790"/>
        <pc:sldMkLst>
          <pc:docMk/>
          <pc:sldMk cId="3667732403" sldId="447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67732403" sldId="447"/>
            <ac:spMk id="2" creationId="{637509EE-22F1-1315-8A2D-3282644AA9E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67732403" sldId="447"/>
            <ac:spMk id="3" creationId="{90E5931E-0B21-061A-1BAA-585EFA37FA45}"/>
          </ac:spMkLst>
        </pc:spChg>
      </pc:sldChg>
      <pc:sldChg chg="modSp add mod">
        <pc:chgData name="Virve Räni" userId="161a7437-7ef4-49ec-91bf-54882f313dfe" providerId="ADAL" clId="{6D754EED-65AA-4A21-B175-6769012CF487}" dt="2026-04-14T08:06:07.883" v="377" actId="790"/>
        <pc:sldMkLst>
          <pc:docMk/>
          <pc:sldMk cId="3557357758" sldId="452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557357758" sldId="452"/>
            <ac:spMk id="2" creationId="{8181DBF1-6B0C-F0AB-B6AE-072A389A274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557357758" sldId="452"/>
            <ac:spMk id="9" creationId="{2C7597CA-D61E-17DA-17B5-C9C1738A73BE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557357758" sldId="452"/>
            <ac:spMk id="13" creationId="{7D4B374B-E0FB-F26A-AAD2-2AA0ED2D1C5C}"/>
          </ac:spMkLst>
        </pc:spChg>
      </pc:sldChg>
      <pc:sldChg chg="modSp mod">
        <pc:chgData name="Virve Räni" userId="161a7437-7ef4-49ec-91bf-54882f313dfe" providerId="ADAL" clId="{6D754EED-65AA-4A21-B175-6769012CF487}" dt="2026-04-14T08:13:17.052" v="511" actId="20577"/>
        <pc:sldMkLst>
          <pc:docMk/>
          <pc:sldMk cId="3647997252" sldId="475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47997252" sldId="475"/>
            <ac:spMk id="2" creationId="{B5EA4698-C786-6EFD-B097-B5E4A75DB8C2}"/>
          </ac:spMkLst>
        </pc:spChg>
        <pc:spChg chg="mod">
          <ac:chgData name="Virve Räni" userId="161a7437-7ef4-49ec-91bf-54882f313dfe" providerId="ADAL" clId="{6D754EED-65AA-4A21-B175-6769012CF487}" dt="2026-04-14T08:13:17.052" v="511" actId="20577"/>
          <ac:spMkLst>
            <pc:docMk/>
            <pc:sldMk cId="3647997252" sldId="475"/>
            <ac:spMk id="3" creationId="{6724179F-8918-CD83-5B3D-AF1D9C751EAD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574469935" sldId="476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574469935" sldId="476"/>
            <ac:spMk id="2" creationId="{30C2D799-FEF4-2867-2771-9F5C35BC3DBA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574469935" sldId="476"/>
            <ac:spMk id="3" creationId="{AC5492C0-055D-8861-D035-31319A801802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1894215464" sldId="477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894215464" sldId="477"/>
            <ac:spMk id="2" creationId="{8C4CA12E-8239-93DD-2B09-FE46CB68CA64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894215464" sldId="477"/>
            <ac:spMk id="3" creationId="{4BAEE41D-2DBC-64AB-6A9E-0377C470EE09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1139234541" sldId="479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139234541" sldId="479"/>
            <ac:spMk id="2" creationId="{C1FE7A2D-F34A-AFF4-F094-9247F2654D30}"/>
          </ac:spMkLst>
        </pc:spChg>
        <pc:graphicFrameChg chg="mod modGraphic">
          <ac:chgData name="Virve Räni" userId="161a7437-7ef4-49ec-91bf-54882f313dfe" providerId="ADAL" clId="{6D754EED-65AA-4A21-B175-6769012CF487}" dt="2026-04-14T08:06:07.883" v="377" actId="790"/>
          <ac:graphicFrameMkLst>
            <pc:docMk/>
            <pc:sldMk cId="1139234541" sldId="479"/>
            <ac:graphicFrameMk id="5" creationId="{65E32B2B-E742-662F-CC36-DC7E268CAC3C}"/>
          </ac:graphicFrameMkLst>
        </pc:graphicFrameChg>
      </pc:sldChg>
      <pc:sldChg chg="modSp mod modAnim">
        <pc:chgData name="Virve Räni" userId="161a7437-7ef4-49ec-91bf-54882f313dfe" providerId="ADAL" clId="{6D754EED-65AA-4A21-B175-6769012CF487}" dt="2026-04-14T08:06:07.883" v="377" actId="790"/>
        <pc:sldMkLst>
          <pc:docMk/>
          <pc:sldMk cId="4027656671" sldId="494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4027656671" sldId="494"/>
            <ac:spMk id="2" creationId="{193632AA-1804-C95A-235A-B1630A75A285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4027656671" sldId="494"/>
            <ac:spMk id="3" creationId="{2ED24C29-7DB7-412C-B56A-46EC71179C17}"/>
          </ac:spMkLst>
        </pc:spChg>
      </pc:sldChg>
      <pc:sldChg chg="modSp mod ord">
        <pc:chgData name="Virve Räni" userId="161a7437-7ef4-49ec-91bf-54882f313dfe" providerId="ADAL" clId="{6D754EED-65AA-4A21-B175-6769012CF487}" dt="2026-04-14T08:06:47.771" v="379"/>
        <pc:sldMkLst>
          <pc:docMk/>
          <pc:sldMk cId="2641817430" sldId="514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2641817430" sldId="514"/>
            <ac:spMk id="2" creationId="{C9529B55-022C-CCF6-9EF2-07D4A3BCE7C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2641817430" sldId="514"/>
            <ac:spMk id="3" creationId="{1F0A66F8-FBDE-40E8-405E-245CA696AFB7}"/>
          </ac:spMkLst>
        </pc:spChg>
      </pc:sldChg>
      <pc:sldChg chg="modSp mod ord">
        <pc:chgData name="Virve Räni" userId="161a7437-7ef4-49ec-91bf-54882f313dfe" providerId="ADAL" clId="{6D754EED-65AA-4A21-B175-6769012CF487}" dt="2026-04-14T08:06:07.883" v="377" actId="790"/>
        <pc:sldMkLst>
          <pc:docMk/>
          <pc:sldMk cId="2677885354" sldId="567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2677885354" sldId="567"/>
            <ac:spMk id="3" creationId="{563CB597-CCE1-B2CB-AF5D-4898AE06731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2677885354" sldId="567"/>
            <ac:spMk id="5" creationId="{DC12984A-F918-66CF-9BF7-11C289E0534A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1494237226" sldId="571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494237226" sldId="571"/>
            <ac:spMk id="3" creationId="{D12FCE63-0FB0-32F6-8A25-B0877487D27A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494237226" sldId="571"/>
            <ac:spMk id="5" creationId="{2DEE2DCD-5528-0E71-8160-938192ACA33B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3652901621" sldId="572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52901621" sldId="572"/>
            <ac:spMk id="3" creationId="{96915822-6BB3-759C-184D-73740C8BDF97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52901621" sldId="572"/>
            <ac:spMk id="5" creationId="{C6EAEB33-E2E1-C05F-2B41-C3ECC3F9D6BB}"/>
          </ac:spMkLst>
        </pc:spChg>
      </pc:sldChg>
      <pc:sldChg chg="modSp mod ord">
        <pc:chgData name="Virve Räni" userId="161a7437-7ef4-49ec-91bf-54882f313dfe" providerId="ADAL" clId="{6D754EED-65AA-4A21-B175-6769012CF487}" dt="2026-04-14T08:07:04.953" v="381"/>
        <pc:sldMkLst>
          <pc:docMk/>
          <pc:sldMk cId="1362109033" sldId="619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362109033" sldId="619"/>
            <ac:spMk id="2" creationId="{DD181A30-3F12-3F34-4B12-D2A75ABF5922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362109033" sldId="619"/>
            <ac:spMk id="3" creationId="{EB1B2D3B-479E-EDB2-3538-B9498FA1C196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3682630093" sldId="646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82630093" sldId="646"/>
            <ac:spMk id="2" creationId="{4FFB36D3-A970-D5A5-D02E-FEE0E6B0D12C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82630093" sldId="646"/>
            <ac:spMk id="3" creationId="{DEB6FC87-C50E-09CA-7F87-C4C23D6BFC79}"/>
          </ac:spMkLst>
        </pc:spChg>
      </pc:sldChg>
      <pc:sldChg chg="modSp new mod">
        <pc:chgData name="Virve Räni" userId="161a7437-7ef4-49ec-91bf-54882f313dfe" providerId="ADAL" clId="{6D754EED-65AA-4A21-B175-6769012CF487}" dt="2026-04-14T08:12:52.894" v="497" actId="20577"/>
        <pc:sldMkLst>
          <pc:docMk/>
          <pc:sldMk cId="1143583913" sldId="647"/>
        </pc:sldMkLst>
        <pc:spChg chg="mod">
          <ac:chgData name="Virve Räni" userId="161a7437-7ef4-49ec-91bf-54882f313dfe" providerId="ADAL" clId="{6D754EED-65AA-4A21-B175-6769012CF487}" dt="2026-04-14T08:11:50.324" v="428" actId="20577"/>
          <ac:spMkLst>
            <pc:docMk/>
            <pc:sldMk cId="1143583913" sldId="647"/>
            <ac:spMk id="2" creationId="{1A746728-76D6-E8E6-D46A-BE5C5BCFA966}"/>
          </ac:spMkLst>
        </pc:spChg>
        <pc:spChg chg="mod">
          <ac:chgData name="Virve Räni" userId="161a7437-7ef4-49ec-91bf-54882f313dfe" providerId="ADAL" clId="{6D754EED-65AA-4A21-B175-6769012CF487}" dt="2026-04-14T08:12:52.894" v="497" actId="20577"/>
          <ac:spMkLst>
            <pc:docMk/>
            <pc:sldMk cId="1143583913" sldId="647"/>
            <ac:spMk id="3" creationId="{04A36C9B-9CD7-7743-0A7B-85761C9ACA6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14.04.2026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Iteratiivne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protsess</a:t>
            </a:r>
            <a:r>
              <a:rPr lang="en-US">
                <a:ea typeface="Calibri"/>
                <a:cs typeface="Calibri"/>
              </a:rPr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967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14.04.2026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archlightinstitute.org/wp-content/uploads/2025/12/Crosstabs-AI-Polling-Survey-v2-20250730.pdf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riigiakadeemia.ee/course/index.php?categoryid=60" TargetMode="External"/><Relationship Id="rId2" Type="http://schemas.openxmlformats.org/officeDocument/2006/relationships/hyperlink" Target="https://sisu.ut.ee/ti/oppematerjali-avaleht/" TargetMode="Externa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emini.google.com/app" TargetMode="External"/><Relationship Id="rId2" Type="http://schemas.openxmlformats.org/officeDocument/2006/relationships/hyperlink" Target="https://chatgpt.com/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notebooklm.google.com/" TargetMode="External"/><Relationship Id="rId5" Type="http://schemas.openxmlformats.org/officeDocument/2006/relationships/hyperlink" Target="https://claude.ai/" TargetMode="External"/><Relationship Id="rId4" Type="http://schemas.openxmlformats.org/officeDocument/2006/relationships/hyperlink" Target="https://copilot.microsoft.com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t-EE" noProof="0" dirty="0">
                <a:cs typeface="Poppins SemiBold"/>
              </a:rPr>
              <a:t>Vali Andmetarkus!</a:t>
            </a:r>
            <a:endParaRPr lang="et-EE" noProof="0" dirty="0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noProof="0" dirty="0">
                <a:ea typeface="Inter"/>
              </a:rPr>
              <a:t>Virve Räni</a:t>
            </a:r>
            <a:endParaRPr lang="et-EE" noProof="0" dirty="0"/>
          </a:p>
          <a:p>
            <a:r>
              <a:rPr lang="et-EE" noProof="0" dirty="0">
                <a:ea typeface="Inter"/>
              </a:rPr>
              <a:t>virve.rani@bcs.ee</a:t>
            </a: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72D32-F63A-E758-B4AD-98B1A2FF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E7A2D-F34A-AFF4-F094-9247F2654D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XV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5E32B2B-E742-662F-CC36-DC7E268CAC3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832999610"/>
              </p:ext>
            </p:extLst>
          </p:nvPr>
        </p:nvGraphicFramePr>
        <p:xfrm>
          <a:off x="623888" y="1268413"/>
          <a:ext cx="11021261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021261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Erki Pogoretski (Telia)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Koolitus -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Tehisaru toimimise põhimõtted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Vestlusrobotiga andmeanalüüs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Vestlusrobotiga andmeanalüüs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9234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8EBB5-E66E-D684-9080-959FC5E28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CB597-CCE1-B2CB-AF5D-4898AE06731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C12984A-F918-66CF-9BF7-11C289E053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267788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154E-E89E-8B00-74C5-66A723E4B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4698-C786-6EFD-B097-B5E4A75DB8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sz="2800" b="1" noProof="0" dirty="0"/>
              <a:t>Generatiivne tehisaru – suured keelemudelid (</a:t>
            </a:r>
            <a:r>
              <a:rPr lang="et-EE" sz="2800" b="1" noProof="0" dirty="0" err="1"/>
              <a:t>LLMs</a:t>
            </a:r>
            <a:r>
              <a:rPr lang="et-EE" sz="2800" b="1" noProof="0" dirty="0"/>
              <a:t>)</a:t>
            </a:r>
            <a:endParaRPr lang="et-EE" sz="28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4179F-8918-CD83-5B3D-AF1D9C751EA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Treenitakse tekstide ja muude materjalide pinnalt.</a:t>
            </a:r>
            <a:endParaRPr lang="et-EE" sz="2400" noProof="0" dirty="0">
              <a:solidFill>
                <a:srgbClr val="121212"/>
              </a:solidFill>
              <a:latin typeface="Inter" panose="02000503000000020004" pitchFamily="2" charset="0"/>
              <a:cs typeface="Noto Serif"/>
            </a:endParaRPr>
          </a:p>
          <a:p>
            <a:pPr marL="857250" lvl="1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000" noProof="0" dirty="0">
                <a:ea typeface="Inter"/>
                <a:cs typeface="Noto Serif"/>
              </a:rPr>
              <a:t>Otsib mustreid tekstides - </a:t>
            </a:r>
            <a:r>
              <a:rPr lang="et-EE" sz="2000" noProof="0" dirty="0" err="1">
                <a:ea typeface="Inter"/>
                <a:cs typeface="Noto Serif"/>
              </a:rPr>
              <a:t>sõnadevahelisi</a:t>
            </a:r>
            <a:r>
              <a:rPr lang="et-EE" sz="2000" noProof="0" dirty="0">
                <a:ea typeface="Inter"/>
                <a:cs typeface="Noto Serif"/>
              </a:rPr>
              <a:t> seoseid mitmete treeningtsüklite käigus.</a:t>
            </a:r>
          </a:p>
          <a:p>
            <a:pPr marL="125730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t-EE" sz="2000" noProof="0" dirty="0" err="1">
                <a:ea typeface="Inter"/>
                <a:cs typeface="Noto Serif"/>
              </a:rPr>
              <a:t>Tokenization</a:t>
            </a:r>
            <a:r>
              <a:rPr lang="et-EE" sz="2000" noProof="0" dirty="0">
                <a:ea typeface="Inter"/>
                <a:cs typeface="Noto Serif"/>
              </a:rPr>
              <a:t> – tekstid jagatakse osadeks.</a:t>
            </a:r>
          </a:p>
          <a:p>
            <a:pPr marL="125730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t-EE" sz="2000" noProof="0" dirty="0" err="1">
                <a:ea typeface="Inter"/>
                <a:cs typeface="Noto Serif"/>
              </a:rPr>
              <a:t>Embedding</a:t>
            </a:r>
            <a:r>
              <a:rPr lang="et-EE" sz="2000" noProof="0" dirty="0">
                <a:ea typeface="Inter"/>
                <a:cs typeface="Noto Serif"/>
              </a:rPr>
              <a:t> – </a:t>
            </a:r>
            <a:r>
              <a:rPr lang="et-EE" sz="2000" noProof="0" dirty="0" err="1">
                <a:ea typeface="Inter"/>
                <a:cs typeface="Noto Serif"/>
              </a:rPr>
              <a:t>tokenitele</a:t>
            </a:r>
            <a:r>
              <a:rPr lang="et-EE" sz="2000" noProof="0" dirty="0">
                <a:ea typeface="Inter"/>
                <a:cs typeface="Noto Serif"/>
              </a:rPr>
              <a:t> määratakse vektor, mis määrab tema asukoha teiste </a:t>
            </a:r>
            <a:r>
              <a:rPr lang="et-EE" sz="2000" noProof="0" dirty="0" err="1">
                <a:ea typeface="Inter"/>
                <a:cs typeface="Noto Serif"/>
              </a:rPr>
              <a:t>tokenitega</a:t>
            </a:r>
            <a:r>
              <a:rPr lang="et-EE" sz="2000" noProof="0" dirty="0">
                <a:ea typeface="Inter"/>
                <a:cs typeface="Noto Serif"/>
              </a:rPr>
              <a:t> võrdluses.</a:t>
            </a:r>
          </a:p>
          <a:p>
            <a:pPr marL="857250" lvl="1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000" noProof="0" dirty="0">
                <a:ea typeface="Inter"/>
                <a:cs typeface="Noto Serif"/>
              </a:rPr>
              <a:t>Areneb vastavalt tagasisidele. (</a:t>
            </a:r>
            <a:r>
              <a:rPr lang="et-EE" sz="2000" noProof="0" dirty="0" err="1">
                <a:ea typeface="Inter"/>
                <a:cs typeface="Noto Serif"/>
              </a:rPr>
              <a:t>Reinforcement</a:t>
            </a:r>
            <a:r>
              <a:rPr lang="et-EE" sz="2000" noProof="0" dirty="0">
                <a:ea typeface="Inter"/>
                <a:cs typeface="Noto Serif"/>
              </a:rPr>
              <a:t> </a:t>
            </a:r>
            <a:r>
              <a:rPr lang="et-EE" sz="2000" noProof="0" dirty="0" err="1">
                <a:ea typeface="Inter"/>
                <a:cs typeface="Noto Serif"/>
              </a:rPr>
              <a:t>Learning</a:t>
            </a:r>
            <a:r>
              <a:rPr lang="et-EE" sz="2000" noProof="0" dirty="0">
                <a:ea typeface="Inter"/>
                <a:cs typeface="Noto Serif"/>
              </a:rPr>
              <a:t>)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noProof="0" dirty="0" err="1">
                <a:ea typeface="Inter"/>
                <a:cs typeface="Noto Serif"/>
              </a:rPr>
              <a:t>Sisendi</a:t>
            </a:r>
            <a:r>
              <a:rPr lang="et-EE" sz="2400" noProof="0" dirty="0">
                <a:ea typeface="Inter"/>
                <a:cs typeface="Noto Serif"/>
              </a:rPr>
              <a:t> </a:t>
            </a:r>
            <a:r>
              <a:rPr lang="en-US" sz="2400" noProof="0" dirty="0" err="1">
                <a:ea typeface="Inter"/>
                <a:cs typeface="Noto Serif"/>
              </a:rPr>
              <a:t>järel</a:t>
            </a:r>
            <a:r>
              <a:rPr lang="et-EE" sz="2400" noProof="0" dirty="0">
                <a:ea typeface="Inter"/>
                <a:cs typeface="Noto Serif"/>
              </a:rPr>
              <a:t> ennustatakse, milline sõna tuleb järgmisena. 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Vastuste kvaliteet oleneb treeningandmestiku kvaliteedist.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Tehisaru võib "</a:t>
            </a:r>
            <a:r>
              <a:rPr lang="et-EE" sz="2400" noProof="0" dirty="0" err="1">
                <a:ea typeface="Inter"/>
                <a:cs typeface="Noto Serif"/>
              </a:rPr>
              <a:t>hallutsineerida</a:t>
            </a:r>
            <a:r>
              <a:rPr lang="et-EE" sz="2400" noProof="0" dirty="0">
                <a:ea typeface="Inter"/>
                <a:cs typeface="Noto Serif"/>
              </a:rPr>
              <a:t>".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3647997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1DBF1-6B0C-F0AB-B6AE-072A389A27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Kuidas generatiivne tehisaru töötab?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7597CA-D61E-17DA-17B5-C9C1738A73BE}"/>
              </a:ext>
            </a:extLst>
          </p:cNvPr>
          <p:cNvSpPr txBox="1"/>
          <p:nvPr/>
        </p:nvSpPr>
        <p:spPr>
          <a:xfrm>
            <a:off x="650240" y="1188720"/>
            <a:ext cx="516128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t-EE" noProof="0" dirty="0">
                <a:ea typeface="Inter"/>
              </a:rPr>
              <a:t>Mida arvasid ameeriklased augustis 2025:</a:t>
            </a:r>
            <a:endParaRPr lang="et-EE" noProof="0" dirty="0"/>
          </a:p>
          <a:p>
            <a:pPr marL="285750" indent="-285750">
              <a:buFont typeface="Arial"/>
              <a:buChar char="•"/>
            </a:pPr>
            <a:endParaRPr lang="et-EE" noProof="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DF6099E-FFF5-3B8B-6ED0-48C668AABFB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055813" y="1836261"/>
            <a:ext cx="8077200" cy="40005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D4B374B-E0FB-F26A-AAD2-2AA0ED2D1C5C}"/>
              </a:ext>
            </a:extLst>
          </p:cNvPr>
          <p:cNvSpPr txBox="1"/>
          <p:nvPr/>
        </p:nvSpPr>
        <p:spPr>
          <a:xfrm>
            <a:off x="2692400" y="6014720"/>
            <a:ext cx="75184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t-EE" sz="1400" noProof="0" dirty="0">
                <a:ea typeface="Inter"/>
              </a:rPr>
              <a:t>Allikas:</a:t>
            </a:r>
            <a:r>
              <a:rPr lang="et-EE" sz="1400" noProof="0" dirty="0">
                <a:ea typeface="+mn-lt"/>
                <a:cs typeface="+mn-lt"/>
              </a:rPr>
              <a:t> </a:t>
            </a:r>
            <a:r>
              <a:rPr lang="et-EE" sz="1400" noProof="0" dirty="0" err="1">
                <a:ea typeface="+mn-lt"/>
                <a:cs typeface="+mn-lt"/>
                <a:hlinkClick r:id="rId3"/>
              </a:rPr>
              <a:t>Searchlight</a:t>
            </a:r>
            <a:r>
              <a:rPr lang="et-EE" sz="1400" noProof="0" dirty="0">
                <a:ea typeface="+mn-lt"/>
                <a:cs typeface="+mn-lt"/>
                <a:hlinkClick r:id="rId3"/>
              </a:rPr>
              <a:t> </a:t>
            </a:r>
            <a:r>
              <a:rPr lang="et-EE" sz="1400" noProof="0" dirty="0" err="1">
                <a:ea typeface="+mn-lt"/>
                <a:cs typeface="+mn-lt"/>
                <a:hlinkClick r:id="rId3"/>
              </a:rPr>
              <a:t>Institute</a:t>
            </a:r>
            <a:r>
              <a:rPr lang="et-EE" sz="1400" noProof="0" dirty="0">
                <a:ea typeface="+mn-lt"/>
                <a:cs typeface="+mn-lt"/>
                <a:hlinkClick r:id="rId3"/>
              </a:rPr>
              <a:t> ja Tavern Research uuring AI kohta</a:t>
            </a:r>
            <a:r>
              <a:rPr lang="et-EE" sz="1400" noProof="0" dirty="0">
                <a:ea typeface="+mn-lt"/>
                <a:cs typeface="+mn-lt"/>
              </a:rPr>
              <a:t>.</a:t>
            </a:r>
            <a:r>
              <a:rPr lang="et-EE" noProof="0" dirty="0">
                <a:ea typeface="+mn-lt"/>
                <a:cs typeface="+mn-lt"/>
              </a:rPr>
              <a:t> </a:t>
            </a:r>
            <a:endParaRPr lang="et-EE" noProof="0" dirty="0">
              <a:ea typeface="Inter"/>
            </a:endParaRPr>
          </a:p>
          <a:p>
            <a:pPr algn="r"/>
            <a:endParaRPr lang="et-EE" noProof="0" dirty="0">
              <a:solidFill>
                <a:srgbClr val="121212"/>
              </a:solidFill>
              <a:ea typeface="Inter"/>
            </a:endParaRPr>
          </a:p>
          <a:p>
            <a:endParaRPr lang="et-EE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7357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46728-76D6-E8E6-D46A-BE5C5BCFA9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Lisamaterjale</a:t>
            </a:r>
            <a:r>
              <a:rPr lang="en-US" dirty="0"/>
              <a:t> </a:t>
            </a:r>
            <a:r>
              <a:rPr lang="en-US" dirty="0" err="1"/>
              <a:t>tehisaru</a:t>
            </a:r>
            <a:r>
              <a:rPr lang="en-US" dirty="0"/>
              <a:t> </a:t>
            </a:r>
            <a:r>
              <a:rPr lang="en-US" dirty="0" err="1"/>
              <a:t>olemuse</a:t>
            </a:r>
            <a:r>
              <a:rPr lang="en-US" dirty="0"/>
              <a:t> </a:t>
            </a:r>
            <a:r>
              <a:rPr lang="en-US" dirty="0" err="1"/>
              <a:t>mõistmiseks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36C9B-9CD7-7743-0A7B-85761C9ACA6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TÜ </a:t>
            </a:r>
            <a:r>
              <a:rPr lang="en-US" sz="2400" dirty="0" err="1"/>
              <a:t>õppematerjal</a:t>
            </a:r>
            <a:r>
              <a:rPr lang="en-US" sz="2400" dirty="0"/>
              <a:t>: </a:t>
            </a:r>
            <a:r>
              <a:rPr lang="en-US" sz="2400" dirty="0">
                <a:hlinkClick r:id="rId2"/>
              </a:rPr>
              <a:t>https://sisu.ut.ee/ti/oppematerjali-avaleht/</a:t>
            </a:r>
            <a:r>
              <a:rPr lang="en-US" sz="2400" dirty="0"/>
              <a:t> </a:t>
            </a:r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Digiriigi</a:t>
            </a:r>
            <a:r>
              <a:rPr lang="en-US" sz="2400" dirty="0"/>
              <a:t> </a:t>
            </a:r>
            <a:r>
              <a:rPr lang="en-US" sz="2400" dirty="0" err="1"/>
              <a:t>Akadeemia</a:t>
            </a:r>
            <a:r>
              <a:rPr lang="en-US" sz="2400" dirty="0"/>
              <a:t> </a:t>
            </a:r>
            <a:r>
              <a:rPr lang="en-US" sz="2400" dirty="0" err="1"/>
              <a:t>kursused</a:t>
            </a:r>
            <a:r>
              <a:rPr lang="en-US" sz="2400" dirty="0"/>
              <a:t>: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hlinkClick r:id="rId3"/>
              </a:rPr>
              <a:t>https://digiriigiakadeemia.ee/course/index.php?categoryid=60</a:t>
            </a:r>
            <a:r>
              <a:rPr lang="en-US" sz="2400" dirty="0"/>
              <a:t> 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1143583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A4885-183C-7405-345F-6F039AC36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D799-FEF4-2867-2771-9F5C35BC3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levinumad vestlusrobotid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492C0-055D-8861-D035-31319A8018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 err="1">
                <a:solidFill>
                  <a:srgbClr val="121212"/>
                </a:solidFill>
                <a:latin typeface="Inter"/>
                <a:ea typeface="Inter"/>
                <a:cs typeface="Noto Serif"/>
                <a:hlinkClick r:id="rId2"/>
              </a:rPr>
              <a:t>ChatGPT</a:t>
            </a:r>
            <a:endParaRPr lang="et-EE" sz="2400" noProof="0" dirty="0"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  <a:hlinkClick r:id="rId3"/>
              </a:rPr>
              <a:t>Google </a:t>
            </a:r>
            <a:r>
              <a:rPr lang="et-EE" sz="2400" noProof="0" dirty="0" err="1">
                <a:ea typeface="Inter"/>
                <a:cs typeface="Noto Serif"/>
                <a:hlinkClick r:id="rId3"/>
              </a:rPr>
              <a:t>Gemini</a:t>
            </a:r>
            <a:r>
              <a:rPr lang="et-EE" sz="2400" noProof="0" dirty="0">
                <a:ea typeface="Inter"/>
                <a:cs typeface="Noto Serif"/>
              </a:rPr>
              <a:t> 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  <a:hlinkClick r:id="rId4"/>
              </a:rPr>
              <a:t>Microsoft </a:t>
            </a:r>
            <a:r>
              <a:rPr lang="et-EE" sz="2400" noProof="0" dirty="0" err="1">
                <a:ea typeface="Inter"/>
                <a:cs typeface="Noto Serif"/>
                <a:hlinkClick r:id="rId4"/>
              </a:rPr>
              <a:t>Copilot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  <a:hlinkClick r:id="rId5"/>
              </a:rPr>
              <a:t>Claude</a:t>
            </a:r>
            <a:endParaRPr lang="et-EE" sz="2400" noProof="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 err="1">
                <a:ea typeface="Inter"/>
                <a:cs typeface="Noto Serif"/>
                <a:hlinkClick r:id="rId6"/>
              </a:rPr>
              <a:t>NotebookLM</a:t>
            </a:r>
            <a:endParaRPr lang="et-EE" sz="2400" noProof="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t-EE" sz="2400" noProof="0" dirty="0">
                <a:ea typeface="Inter"/>
                <a:cs typeface="Noto Serif"/>
              </a:rPr>
              <a:t>Nt proovi "Show </a:t>
            </a:r>
            <a:r>
              <a:rPr lang="et-EE" sz="2400" noProof="0" dirty="0" err="1">
                <a:ea typeface="Inter"/>
                <a:cs typeface="Noto Serif"/>
              </a:rPr>
              <a:t>world</a:t>
            </a:r>
            <a:r>
              <a:rPr lang="et-EE" sz="2400" noProof="0" dirty="0">
                <a:ea typeface="Inter"/>
                <a:cs typeface="Noto Serif"/>
              </a:rPr>
              <a:t> </a:t>
            </a:r>
            <a:r>
              <a:rPr lang="et-EE" sz="2400" noProof="0" dirty="0" err="1">
                <a:ea typeface="Inter"/>
                <a:cs typeface="Noto Serif"/>
              </a:rPr>
              <a:t>population</a:t>
            </a:r>
            <a:r>
              <a:rPr lang="et-EE" sz="2400" noProof="0" dirty="0">
                <a:ea typeface="Inter"/>
                <a:cs typeface="Noto Serif"/>
              </a:rPr>
              <a:t> on </a:t>
            </a:r>
            <a:r>
              <a:rPr lang="et-EE" sz="2400" noProof="0" dirty="0" err="1">
                <a:ea typeface="Inter"/>
                <a:cs typeface="Noto Serif"/>
              </a:rPr>
              <a:t>graph</a:t>
            </a:r>
            <a:r>
              <a:rPr lang="et-EE" sz="2400" noProof="0" dirty="0">
                <a:ea typeface="Inter"/>
                <a:cs typeface="Noto Serif"/>
              </a:rPr>
              <a:t>."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574469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B96E0-0447-F416-DAB5-8BD8EEA42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A12E-8239-93DD-2B09-FE46CB68CA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levinumad kasutusvõimalused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EE41D-2DBC-64AB-6A9E-0377C470EE0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Koodi ja valemite loomine ning paluda selgitused juurde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Veateadete lahendamine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Andmemudeli loomine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Näidisandmestike loomine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Graafikute loomine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Statistiliste analüüside tegemine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Kokkuvõtete tegemine, tulemuste tõlgendamine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0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NB! Kasutamisel tuleb silmas pidada andmekaitset ja ärisaladuse hoidmist. Tavaliselt vestlusrobotid kasutavad saadud andmeid edasiseks treenimiseks.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189421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DEC0-4E0D-7B98-5997-874242016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632AA-1804-C95A-235A-B1630A75A2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eduka sisendi kirjutamine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4C29-7DB7-412C-B56A-46EC71179C1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Sisend = keelemudelile antud </a:t>
            </a:r>
            <a:r>
              <a:rPr lang="et-EE" sz="2400" noProof="0" dirty="0" err="1">
                <a:ea typeface="Inter"/>
                <a:cs typeface="Noto Serif"/>
              </a:rPr>
              <a:t>viip</a:t>
            </a:r>
            <a:endParaRPr lang="et-EE" sz="2400" noProof="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Anna võimalikult palju konteksti ning millises formaadis vastust soovid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Täpsusta, millist tarkvara kasutad, kui valemeid küsid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Iteratiivne protsess – kui kohe ei saa õiget vastust, siis täienda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402765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4613B-AA18-2E8F-A97B-F0B013DE23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Sisendi kirjutamise põhimõtted (CRAFT mudel)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70332-1D1A-2C6E-9052-C6A2A200967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1) Kontekst - taustainfo</a:t>
            </a: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2) Roll – kelle rolli tehisaru võtab, nt ametiala</a:t>
            </a: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3) Tegevus – mis on eesmärk ja oodatud tulemus</a:t>
            </a: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4) Formaat – millises formaadis vastust soovid</a:t>
            </a:r>
            <a:endParaRPr lang="et-EE" noProof="0" dirty="0">
              <a:ea typeface="Inter"/>
            </a:endParaRP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5) Sihtgrupp - kellele on tulem suunatud</a:t>
            </a:r>
            <a:endParaRPr lang="et-EE" noProof="0" dirty="0"/>
          </a:p>
          <a:p>
            <a:pPr marL="742950" lvl="1" indent="-285750">
              <a:lnSpc>
                <a:spcPct val="150000"/>
              </a:lnSpc>
            </a:pPr>
            <a:endParaRPr lang="et-EE" noProof="0" dirty="0">
              <a:solidFill>
                <a:srgbClr val="12121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6515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509EE-22F1-1315-8A2D-3282644AA9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Sisendi näide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5931E-0B21-061A-1BAA-585EFA37FA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400" noProof="0" dirty="0">
                <a:ea typeface="Inter"/>
              </a:rPr>
              <a:t>Algne: </a:t>
            </a:r>
            <a:r>
              <a:rPr lang="et-EE" sz="2400" noProof="0" dirty="0">
                <a:ea typeface="+mn-lt"/>
                <a:cs typeface="+mn-lt"/>
              </a:rPr>
              <a:t>Analüüsi andmeid.</a:t>
            </a:r>
            <a:endParaRPr lang="et-EE" sz="2400" noProof="0" dirty="0"/>
          </a:p>
          <a:p>
            <a:pPr marL="0" indent="0">
              <a:buNone/>
            </a:pPr>
            <a:endParaRPr lang="et-EE" sz="2400" noProof="0" dirty="0"/>
          </a:p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Täiendatud: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Siin on andmestik kahe pakiroboti tarneaja kohta. </a:t>
            </a:r>
            <a:r>
              <a:rPr lang="et-EE" sz="2000" i="1" noProof="0" dirty="0">
                <a:ea typeface="Inter"/>
              </a:rPr>
              <a:t>(Kontekst)</a:t>
            </a:r>
            <a:endParaRPr lang="et-EE" sz="2000" i="1" noProof="0" dirty="0"/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Sa oled seenior andmeanalüütik. </a:t>
            </a:r>
            <a:r>
              <a:rPr lang="et-EE" sz="2000" i="1" noProof="0" dirty="0">
                <a:ea typeface="Inter"/>
              </a:rPr>
              <a:t>(Roll)</a:t>
            </a:r>
            <a:endParaRPr lang="et-EE" sz="2000" i="1" noProof="0" dirty="0"/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+mn-lt"/>
                <a:cs typeface="+mn-lt"/>
              </a:rPr>
              <a:t>Võrdle erinevust vana ja uue tarkvaraga pakiroboti vahel. </a:t>
            </a:r>
            <a:r>
              <a:rPr lang="et-EE" sz="2000" i="1" noProof="0" dirty="0">
                <a:ea typeface="+mn-lt"/>
                <a:cs typeface="+mn-lt"/>
              </a:rPr>
              <a:t>(Tegevus)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+mn-lt"/>
                <a:cs typeface="+mn-lt"/>
              </a:rPr>
              <a:t>Loo </a:t>
            </a:r>
            <a:r>
              <a:rPr lang="et-EE" sz="2000" noProof="0" dirty="0" err="1">
                <a:ea typeface="+mn-lt"/>
                <a:cs typeface="+mn-lt"/>
              </a:rPr>
              <a:t>Jupyter</a:t>
            </a:r>
            <a:r>
              <a:rPr lang="et-EE" sz="2000" noProof="0" dirty="0">
                <a:ea typeface="+mn-lt"/>
                <a:cs typeface="+mn-lt"/>
              </a:rPr>
              <a:t> </a:t>
            </a:r>
            <a:r>
              <a:rPr lang="et-EE" sz="2000" noProof="0" dirty="0" err="1">
                <a:ea typeface="+mn-lt"/>
                <a:cs typeface="+mn-lt"/>
              </a:rPr>
              <a:t>Notebook</a:t>
            </a:r>
            <a:r>
              <a:rPr lang="et-EE" sz="2000" noProof="0" dirty="0">
                <a:ea typeface="+mn-lt"/>
                <a:cs typeface="+mn-lt"/>
              </a:rPr>
              <a:t> fail. </a:t>
            </a:r>
            <a:r>
              <a:rPr lang="et-EE" sz="2000" i="1" noProof="0" dirty="0">
                <a:ea typeface="+mn-lt"/>
                <a:cs typeface="+mn-lt"/>
              </a:rPr>
              <a:t>(Formaat)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+mn-lt"/>
                <a:cs typeface="+mn-lt"/>
              </a:rPr>
              <a:t>Esitlus on mõeldud tootetiimile.</a:t>
            </a:r>
            <a:r>
              <a:rPr lang="et-EE" sz="2000" i="1" noProof="0" dirty="0">
                <a:ea typeface="+mn-lt"/>
                <a:cs typeface="+mn-lt"/>
              </a:rPr>
              <a:t> (Sihtgrupp)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  <a:buFont typeface="Courier New" panose="020B0502030000000004" pitchFamily="34" charset="0"/>
              <a:buChar char="o"/>
            </a:pPr>
            <a:endParaRPr lang="et-EE" sz="2400" noProof="0" dirty="0"/>
          </a:p>
          <a:p>
            <a:pPr lvl="1">
              <a:buClr>
                <a:srgbClr val="121212"/>
              </a:buClr>
              <a:buFont typeface="Courier New" panose="020B0502030000000004" pitchFamily="34" charset="0"/>
              <a:buChar char="o"/>
            </a:pPr>
            <a:endParaRPr lang="et-EE" sz="2400" noProof="0" dirty="0"/>
          </a:p>
          <a:p>
            <a:pPr lvl="1">
              <a:buFont typeface="Courier New" panose="020B0502030000000004" pitchFamily="34" charset="0"/>
              <a:buChar char="o"/>
            </a:pPr>
            <a:endParaRPr lang="et-EE" sz="2400" noProof="0" dirty="0"/>
          </a:p>
          <a:p>
            <a:pPr lvl="1">
              <a:buFont typeface="Courier New" panose="020B0502030000000004" pitchFamily="34" charset="0"/>
              <a:buChar char="o"/>
            </a:pPr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3667732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36D3-A970-D5A5-D02E-FEE0E6B0D1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Tehisaru - personaliseerimine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6FC87-C50E-09CA-7F87-C4C23D6BFC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Saab lisada info, mida iga päringu tegemisel jooksutatakse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400" noProof="0" dirty="0">
                <a:ea typeface="Inter"/>
              </a:rPr>
              <a:t>Nt </a:t>
            </a:r>
            <a:r>
              <a:rPr lang="et-EE" sz="2400" noProof="0" dirty="0" err="1">
                <a:ea typeface="Inter"/>
              </a:rPr>
              <a:t>ChatGPT</a:t>
            </a:r>
            <a:r>
              <a:rPr lang="et-EE" sz="2400" noProof="0" dirty="0">
                <a:ea typeface="Inter"/>
              </a:rPr>
              <a:t> --&gt; kliki oma profiilil --&gt; </a:t>
            </a:r>
            <a:r>
              <a:rPr lang="et-EE" sz="2400" noProof="0" dirty="0" err="1">
                <a:ea typeface="Inter"/>
              </a:rPr>
              <a:t>Customize</a:t>
            </a:r>
            <a:r>
              <a:rPr lang="et-EE" sz="2400" noProof="0" dirty="0">
                <a:ea typeface="Inter"/>
              </a:rPr>
              <a:t> </a:t>
            </a:r>
            <a:r>
              <a:rPr lang="et-EE" sz="2400" noProof="0" dirty="0" err="1">
                <a:ea typeface="Inter"/>
              </a:rPr>
              <a:t>ChatGPT</a:t>
            </a:r>
            <a:endParaRPr lang="et-EE" sz="2400" noProof="0" dirty="0"/>
          </a:p>
        </p:txBody>
      </p:sp>
    </p:spTree>
    <p:extLst>
      <p:ext uri="{BB962C8B-B14F-4D97-AF65-F5344CB8AC3E}">
        <p14:creationId xmlns:p14="http://schemas.microsoft.com/office/powerpoint/2010/main" val="36826300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6B0F9-9A44-A96E-0A3E-14C2C20C7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FCE63-0FB0-32F6-8A25-B0877487D27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DEE2DCD-5528-0E71-8160-938192ACA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t-EE" noProof="0" dirty="0"/>
              <a:t>Lõunapaus 12:15-13:15</a:t>
            </a:r>
          </a:p>
        </p:txBody>
      </p:sp>
    </p:spTree>
    <p:extLst>
      <p:ext uri="{BB962C8B-B14F-4D97-AF65-F5344CB8AC3E}">
        <p14:creationId xmlns:p14="http://schemas.microsoft.com/office/powerpoint/2010/main" val="1494237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C7D33-8F01-1754-4E8C-82C6A6EFF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29B55-022C-CCF6-9EF2-07D4A3BCE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vestlusrobotid - praktiline harjutus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A66F8-FBDE-40E8-405E-245CA696AF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Ava  Müügiraporti Power BI </a:t>
            </a:r>
            <a:endParaRPr lang="et-EE" sz="2400" noProof="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ea typeface="Inter"/>
                <a:cs typeface="Noto Serif"/>
              </a:rPr>
              <a:t>Palu erinevatel vestlusrobotitel luua samu arvutatud tulpasid ja mõõdikuid, mida analüüsis kasutasime. Võrdle vestlusrobotite vahelisi tulemusi ning meie poolt kirjutatud valemeid. 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cs typeface="Noto Serif"/>
              </a:rPr>
              <a:t>Uuri sama </a:t>
            </a:r>
            <a:r>
              <a:rPr lang="et-EE" sz="2400" noProof="0" dirty="0" err="1">
                <a:cs typeface="Noto Serif"/>
              </a:rPr>
              <a:t>Employee</a:t>
            </a:r>
            <a:r>
              <a:rPr lang="et-EE" sz="2400" noProof="0" dirty="0">
                <a:cs typeface="Noto Serif"/>
              </a:rPr>
              <a:t> </a:t>
            </a:r>
            <a:r>
              <a:rPr lang="et-EE" sz="2400" noProof="0" dirty="0" err="1">
                <a:cs typeface="Noto Serif"/>
              </a:rPr>
              <a:t>Overview</a:t>
            </a:r>
            <a:r>
              <a:rPr lang="et-EE" sz="2400" noProof="0" dirty="0">
                <a:cs typeface="Noto Serif"/>
              </a:rPr>
              <a:t> raporti mõõdikute kohta</a:t>
            </a:r>
          </a:p>
          <a:p>
            <a:pPr marL="342900"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2641817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D065C-5832-C00B-D532-FF433879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15822-6BB3-759C-184D-73740C8BDF9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6EAEB33-E2E1-C05F-2B41-C3ECC3F9D6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6529016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393A-A8F2-67EE-DB4D-EC30357C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81A30-3F12-3F34-4B12-D2A75ABF5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Visual Studio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B2D3B-479E-EDB2-3538-B9498FA1C19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 err="1">
                <a:ea typeface="Inter"/>
                <a:cs typeface="Noto Serif"/>
              </a:rPr>
              <a:t>View</a:t>
            </a:r>
            <a:r>
              <a:rPr lang="et-EE" sz="2400" noProof="0" dirty="0">
                <a:ea typeface="Inter"/>
                <a:cs typeface="Noto Serif"/>
              </a:rPr>
              <a:t> --&gt; Chat</a:t>
            </a:r>
            <a:endParaRPr lang="et-EE" sz="2400" noProof="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ea typeface="Inter"/>
                <a:cs typeface="Noto Serif"/>
              </a:rPr>
              <a:t>Ühendus valitud vestlusrobotiga</a:t>
            </a: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ea typeface="Inter"/>
                <a:cs typeface="Noto Serif"/>
              </a:rPr>
              <a:t>Võimalik ette anda kontekst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t-EE" sz="2400" noProof="0" dirty="0">
                <a:ea typeface="Inter"/>
                <a:cs typeface="Noto Serif"/>
              </a:rPr>
              <a:t>Proovi luua SQL päringuid kirjelduse abil</a:t>
            </a:r>
            <a:endParaRPr lang="et-EE" sz="2400" noProof="0" dirty="0">
              <a:cs typeface="Noto Serif"/>
            </a:endParaRPr>
          </a:p>
          <a:p>
            <a:pPr marL="342900"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1362109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506</Words>
  <Application>Microsoft Office PowerPoint</Application>
  <PresentationFormat>Widescreen</PresentationFormat>
  <Paragraphs>113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Inter</vt:lpstr>
      <vt:lpstr>Noto Serif</vt:lpstr>
      <vt:lpstr>Courier New</vt:lpstr>
      <vt:lpstr>Arial,Sans-Serif</vt:lpstr>
      <vt:lpstr>Inter Bold</vt:lpstr>
      <vt:lpstr>Wingdings</vt:lpstr>
      <vt:lpstr>Calibri</vt:lpstr>
      <vt:lpstr>Poppins SemiBold</vt:lpstr>
      <vt:lpstr>Arial</vt:lpstr>
      <vt:lpstr>BCS</vt:lpstr>
      <vt:lpstr>Vali Andmetarkus!</vt:lpstr>
      <vt:lpstr>Päevakava - XV päev</vt:lpstr>
      <vt:lpstr>Paus 10:30-10:45</vt:lpstr>
      <vt:lpstr>Generatiivne tehisaru – suured keelemudelid (LLMs)</vt:lpstr>
      <vt:lpstr>Kuidas generatiivne tehisaru töötab?</vt:lpstr>
      <vt:lpstr>Lisamaterjale tehisaru olemuse mõistmiseks</vt:lpstr>
      <vt:lpstr>Tehisaru – levinumad vestlusrobotid </vt:lpstr>
      <vt:lpstr>Tehisaru – levinumad kasutusvõimalused </vt:lpstr>
      <vt:lpstr>Tehisaru – eduka sisendi kirjutamine </vt:lpstr>
      <vt:lpstr>Sisendi kirjutamise põhimõtted (CRAFT mudel)</vt:lpstr>
      <vt:lpstr>Sisendi näide</vt:lpstr>
      <vt:lpstr>Tehisaru - personaliseerimine</vt:lpstr>
      <vt:lpstr>Lõunapaus 12:15-13:15</vt:lpstr>
      <vt:lpstr>Tehisaru – vestlusrobotid - praktiline harjutus</vt:lpstr>
      <vt:lpstr>Paus 14:45-15:00</vt:lpstr>
      <vt:lpstr>Tehisaru – Visual Studio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221</cp:revision>
  <dcterms:created xsi:type="dcterms:W3CDTF">2021-08-27T11:35:28Z</dcterms:created>
  <dcterms:modified xsi:type="dcterms:W3CDTF">2026-04-14T08:13:26Z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