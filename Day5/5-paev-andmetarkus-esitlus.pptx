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417" r:id="rId5"/>
    <p:sldId id="481" r:id="rId6"/>
    <p:sldId id="467" r:id="rId7"/>
    <p:sldId id="465" r:id="rId8"/>
    <p:sldId id="466" r:id="rId9"/>
    <p:sldId id="468" r:id="rId10"/>
    <p:sldId id="469" r:id="rId11"/>
    <p:sldId id="488" r:id="rId12"/>
    <p:sldId id="545" r:id="rId13"/>
    <p:sldId id="547" r:id="rId14"/>
    <p:sldId id="548" r:id="rId15"/>
    <p:sldId id="546" r:id="rId16"/>
    <p:sldId id="550" r:id="rId17"/>
    <p:sldId id="549" r:id="rId18"/>
    <p:sldId id="551" r:id="rId19"/>
    <p:sldId id="464" r:id="rId20"/>
    <p:sldId id="553" r:id="rId21"/>
  </p:sldIdLst>
  <p:sldSz cx="12192000" cy="6858000"/>
  <p:notesSz cx="6858000" cy="9144000"/>
  <p:embeddedFontLst>
    <p:embeddedFont>
      <p:font typeface="Inter" panose="020B0604020202020204" charset="0"/>
      <p:regular r:id="rId24"/>
      <p:bold r:id="rId25"/>
    </p:embeddedFont>
    <p:embeddedFont>
      <p:font typeface="Inter Bold" panose="020B0604020202020204" charset="0"/>
      <p:bold r:id="rId26"/>
    </p:embeddedFont>
    <p:embeddedFont>
      <p:font typeface="Poppins SemiBold" panose="00000700000000000000" pitchFamily="2" charset="0"/>
      <p:bold r:id="rId27"/>
      <p:boldItalic r:id="rId28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7EDB0-064C-4E05-9D72-910205DF4E4E}" v="1" dt="2026-04-05T16:54:01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delSld modSld sldOrd">
      <pc:chgData name="Virve Räni" userId="161a7437-7ef4-49ec-91bf-54882f313dfe" providerId="ADAL" clId="{6D754EED-65AA-4A21-B175-6769012CF487}" dt="2026-04-05T16:54:55.393" v="180" actId="47"/>
      <pc:docMkLst>
        <pc:docMk/>
      </pc:docMkLst>
      <pc:sldChg chg="ord">
        <pc:chgData name="Virve Räni" userId="161a7437-7ef4-49ec-91bf-54882f313dfe" providerId="ADAL" clId="{6D754EED-65AA-4A21-B175-6769012CF487}" dt="2026-04-05T16:34:53.944" v="6"/>
        <pc:sldMkLst>
          <pc:docMk/>
          <pc:sldMk cId="3665876313" sldId="469"/>
        </pc:sldMkLst>
      </pc:sldChg>
      <pc:sldChg chg="modSp mod">
        <pc:chgData name="Virve Räni" userId="161a7437-7ef4-49ec-91bf-54882f313dfe" providerId="ADAL" clId="{6D754EED-65AA-4A21-B175-6769012CF487}" dt="2026-03-16T10:28:56.070" v="0" actId="20577"/>
        <pc:sldMkLst>
          <pc:docMk/>
          <pc:sldMk cId="251311532" sldId="481"/>
        </pc:sldMkLst>
        <pc:spChg chg="mod">
          <ac:chgData name="Virve Räni" userId="161a7437-7ef4-49ec-91bf-54882f313dfe" providerId="ADAL" clId="{6D754EED-65AA-4A21-B175-6769012CF487}" dt="2026-03-16T10:28:56.070" v="0" actId="20577"/>
          <ac:spMkLst>
            <pc:docMk/>
            <pc:sldMk cId="251311532" sldId="481"/>
            <ac:spMk id="2" creationId="{888FE88A-0FCF-440A-B05F-1501C2CA4241}"/>
          </ac:spMkLst>
        </pc:spChg>
      </pc:sldChg>
      <pc:sldChg chg="modSp mod">
        <pc:chgData name="Virve Räni" userId="161a7437-7ef4-49ec-91bf-54882f313dfe" providerId="ADAL" clId="{6D754EED-65AA-4A21-B175-6769012CF487}" dt="2026-04-05T16:38:45.328" v="61" actId="20577"/>
        <pc:sldMkLst>
          <pc:docMk/>
          <pc:sldMk cId="1818633253" sldId="488"/>
        </pc:sldMkLst>
        <pc:spChg chg="mod">
          <ac:chgData name="Virve Räni" userId="161a7437-7ef4-49ec-91bf-54882f313dfe" providerId="ADAL" clId="{6D754EED-65AA-4A21-B175-6769012CF487}" dt="2026-04-05T16:38:45.328" v="61" actId="20577"/>
          <ac:spMkLst>
            <pc:docMk/>
            <pc:sldMk cId="1818633253" sldId="488"/>
            <ac:spMk id="6" creationId="{EFAB63D7-8625-0273-BB8D-70F4FFAE506E}"/>
          </ac:spMkLst>
        </pc:spChg>
      </pc:sldChg>
      <pc:sldChg chg="modSp mod">
        <pc:chgData name="Virve Räni" userId="161a7437-7ef4-49ec-91bf-54882f313dfe" providerId="ADAL" clId="{6D754EED-65AA-4A21-B175-6769012CF487}" dt="2026-04-05T16:52:57.741" v="140" actId="20577"/>
        <pc:sldMkLst>
          <pc:docMk/>
          <pc:sldMk cId="1929900480" sldId="547"/>
        </pc:sldMkLst>
        <pc:spChg chg="mod">
          <ac:chgData name="Virve Räni" userId="161a7437-7ef4-49ec-91bf-54882f313dfe" providerId="ADAL" clId="{6D754EED-65AA-4A21-B175-6769012CF487}" dt="2026-04-05T16:52:57.741" v="140" actId="20577"/>
          <ac:spMkLst>
            <pc:docMk/>
            <pc:sldMk cId="1929900480" sldId="547"/>
            <ac:spMk id="6" creationId="{881D8A84-5C3E-D3EC-7BBA-46AD750AB1C1}"/>
          </ac:spMkLst>
        </pc:spChg>
      </pc:sldChg>
      <pc:sldChg chg="modSp mod">
        <pc:chgData name="Virve Räni" userId="161a7437-7ef4-49ec-91bf-54882f313dfe" providerId="ADAL" clId="{6D754EED-65AA-4A21-B175-6769012CF487}" dt="2026-04-05T16:54:06.117" v="169" actId="20577"/>
        <pc:sldMkLst>
          <pc:docMk/>
          <pc:sldMk cId="2288183761" sldId="550"/>
        </pc:sldMkLst>
        <pc:spChg chg="mod">
          <ac:chgData name="Virve Räni" userId="161a7437-7ef4-49ec-91bf-54882f313dfe" providerId="ADAL" clId="{6D754EED-65AA-4A21-B175-6769012CF487}" dt="2026-04-05T16:54:06.117" v="169" actId="20577"/>
          <ac:spMkLst>
            <pc:docMk/>
            <pc:sldMk cId="2288183761" sldId="550"/>
            <ac:spMk id="6" creationId="{5622CFD7-E0AE-CAFB-FD62-2D9E32335DFA}"/>
          </ac:spMkLst>
        </pc:spChg>
      </pc:sldChg>
      <pc:sldChg chg="del">
        <pc:chgData name="Virve Räni" userId="161a7437-7ef4-49ec-91bf-54882f313dfe" providerId="ADAL" clId="{6D754EED-65AA-4A21-B175-6769012CF487}" dt="2026-04-05T16:54:55.393" v="180" actId="47"/>
        <pc:sldMkLst>
          <pc:docMk/>
          <pc:sldMk cId="897385100" sldId="552"/>
        </pc:sldMkLst>
      </pc:sldChg>
      <pc:sldChg chg="modSp mod">
        <pc:chgData name="Virve Räni" userId="161a7437-7ef4-49ec-91bf-54882f313dfe" providerId="ADAL" clId="{6D754EED-65AA-4A21-B175-6769012CF487}" dt="2026-04-05T16:54:51.398" v="179" actId="20577"/>
        <pc:sldMkLst>
          <pc:docMk/>
          <pc:sldMk cId="3628489419" sldId="553"/>
        </pc:sldMkLst>
        <pc:spChg chg="mod">
          <ac:chgData name="Virve Räni" userId="161a7437-7ef4-49ec-91bf-54882f313dfe" providerId="ADAL" clId="{6D754EED-65AA-4A21-B175-6769012CF487}" dt="2026-04-05T16:54:51.398" v="179" actId="20577"/>
          <ac:spMkLst>
            <pc:docMk/>
            <pc:sldMk cId="3628489419" sldId="553"/>
            <ac:spMk id="6" creationId="{1E0C0BAC-6C7D-82E8-4B1F-5672297476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05.04.2026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Koodi </a:t>
            </a:r>
            <a:r>
              <a:rPr lang="en-US" err="1">
                <a:ea typeface="Calibri"/>
                <a:cs typeface="Calibri"/>
              </a:rPr>
              <a:t>kirjutamise</a:t>
            </a:r>
            <a:r>
              <a:rPr lang="en-US">
                <a:ea typeface="Calibri"/>
                <a:cs typeface="Calibri"/>
              </a:rPr>
              <a:t> head </a:t>
            </a:r>
            <a:r>
              <a:rPr lang="en-US" err="1">
                <a:ea typeface="Calibri"/>
                <a:cs typeface="Calibri"/>
              </a:rPr>
              <a:t>tavad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9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05.04.2026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bol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hackerrank.com/domains/sql" TargetMode="External"/><Relationship Id="rId4" Type="http://schemas.openxmlformats.org/officeDocument/2006/relationships/hyperlink" Target="https://www.w3schools.com/sql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beaver.io/" TargetMode="External"/><Relationship Id="rId2" Type="http://schemas.openxmlformats.org/officeDocument/2006/relationships/hyperlink" Target="https://sqliteviz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ode.visualstudio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viz.com/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57B5-07D7-02BA-E1BF-B8AD99B2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E88A-0FCF-440A-B05F-1501C2CA4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FD651E-343F-D29C-56A2-9EDD113BB2D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71727321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Andmebaasid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SQL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pärimiseks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kirjeldamiseks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SQL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1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D1D6-6D54-AD90-2CF5-8A45ABA3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2E15-1B73-3161-C798-5619BA03E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err="1"/>
              <a:t>Andmebaasid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FA2A-7EEC-CD9E-5FCE-B380E3A44B4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Andmebaas</a:t>
            </a:r>
            <a:r>
              <a:rPr lang="en-US" sz="2400" dirty="0">
                <a:ea typeface="Inter"/>
              </a:rPr>
              <a:t> = </a:t>
            </a:r>
            <a:r>
              <a:rPr lang="en-US" sz="2400" dirty="0" err="1">
                <a:ea typeface="Inter"/>
              </a:rPr>
              <a:t>masiloetav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süsteemne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kogum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Asukoht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lokaalne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kohalik</a:t>
            </a:r>
            <a:r>
              <a:rPr lang="en-US" sz="2400" dirty="0">
                <a:ea typeface="Inter"/>
              </a:rPr>
              <a:t> (on-prem) server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pilveserver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Andmed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tabelites</a:t>
            </a:r>
            <a:r>
              <a:rPr lang="en-US" sz="2000" dirty="0">
                <a:ea typeface="Inter"/>
              </a:rPr>
              <a:t> – </a:t>
            </a:r>
            <a:r>
              <a:rPr lang="en-US" sz="2000" dirty="0" err="1">
                <a:ea typeface="Inter"/>
              </a:rPr>
              <a:t>ridades</a:t>
            </a:r>
            <a:r>
              <a:rPr lang="en-US" sz="2000" dirty="0">
                <a:ea typeface="Inter"/>
              </a:rPr>
              <a:t> on </a:t>
            </a:r>
            <a:r>
              <a:rPr lang="en-US" sz="2000" dirty="0" err="1">
                <a:ea typeface="Inter"/>
              </a:rPr>
              <a:t>objektid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tulpades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objektide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atribuudid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Tabeleid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saab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omavahel</a:t>
            </a:r>
            <a:r>
              <a:rPr lang="en-US" sz="2000" dirty="0">
                <a:ea typeface="Inter"/>
              </a:rPr>
              <a:t> ID </a:t>
            </a:r>
            <a:r>
              <a:rPr lang="en-US" sz="2000" dirty="0" err="1">
                <a:ea typeface="Inter"/>
              </a:rPr>
              <a:t>tulpade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alusel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ühendada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haldamiseks</a:t>
            </a:r>
            <a:endParaRPr lang="en-US" sz="2000" dirty="0">
              <a:ea typeface="Inter"/>
            </a:endParaRPr>
          </a:p>
          <a:p>
            <a:pPr indent="-342900"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Mitte-</a:t>
            </a:r>
            <a:r>
              <a:rPr lang="en-US" sz="2400" dirty="0" err="1">
                <a:ea typeface="Inter"/>
              </a:rPr>
              <a:t>relatsiooniline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andmebaas</a:t>
            </a:r>
            <a:endParaRPr lang="en-US" sz="2400" dirty="0">
              <a:ea typeface="Inter"/>
            </a:endParaRPr>
          </a:p>
          <a:p>
            <a:pPr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Sobiv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nii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kui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mitte-struktureeritud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andmete</a:t>
            </a:r>
            <a:r>
              <a:rPr lang="en-US" sz="2000" dirty="0">
                <a:ea typeface="Inter"/>
              </a:rPr>
              <a:t> (</a:t>
            </a:r>
            <a:r>
              <a:rPr lang="en-US" sz="2000" dirty="0" err="1">
                <a:ea typeface="Inter"/>
              </a:rPr>
              <a:t>nt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pildid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videod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dokumendid</a:t>
            </a:r>
            <a:r>
              <a:rPr lang="en-US" sz="2000" dirty="0">
                <a:ea typeface="Inter"/>
              </a:rPr>
              <a:t>) </a:t>
            </a:r>
            <a:r>
              <a:rPr lang="en-US" sz="2000" dirty="0" err="1">
                <a:ea typeface="Inter"/>
              </a:rPr>
              <a:t>haldamiseks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030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4C2F-3280-BC22-2A46-C74003267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064D-7600-112B-3822-AA7BE65810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SQL – Structured Query Language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Andmebaaside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päringukeel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arendatud</a:t>
            </a:r>
            <a:r>
              <a:rPr lang="en-US" sz="2000" dirty="0">
                <a:ea typeface="Inter"/>
              </a:rPr>
              <a:t> 1980ndatel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Päring</a:t>
            </a:r>
            <a:r>
              <a:rPr lang="en-US" sz="2000" dirty="0">
                <a:ea typeface="Inter"/>
              </a:rPr>
              <a:t> - </a:t>
            </a:r>
            <a:r>
              <a:rPr lang="en-US" sz="2000" dirty="0" err="1">
                <a:ea typeface="Inter"/>
              </a:rPr>
              <a:t>pöördumine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poole</a:t>
            </a:r>
            <a:endParaRPr lang="en-US" sz="20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CRUD – Create, Read, Update, Delete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Süntaks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ingliskeelne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Erinevad</a:t>
            </a:r>
            <a:r>
              <a:rPr lang="en-US" sz="2000" dirty="0">
                <a:ea typeface="Inter"/>
              </a:rPr>
              <a:t> "</a:t>
            </a:r>
            <a:r>
              <a:rPr lang="en-US" sz="2000" dirty="0" err="1">
                <a:ea typeface="Inter"/>
              </a:rPr>
              <a:t>dialektid</a:t>
            </a:r>
            <a:r>
              <a:rPr lang="en-US" sz="2000" dirty="0">
                <a:ea typeface="Inter"/>
              </a:rPr>
              <a:t>" -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MS SQL Server, MySQL, PostgreSQL, Oracle</a:t>
            </a:r>
            <a:endParaRPr lang="en-US" sz="2000" dirty="0">
              <a:solidFill>
                <a:srgbClr val="121212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Harjutamiseks</a:t>
            </a:r>
            <a:r>
              <a:rPr lang="en-US" sz="20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+mn-lt"/>
                <a:cs typeface="+mn-lt"/>
                <a:hlinkClick r:id="rId3"/>
              </a:rPr>
              <a:t>SQLBolt</a:t>
            </a:r>
            <a:r>
              <a:rPr lang="en-US" sz="2000" dirty="0">
                <a:ea typeface="+mn-lt"/>
                <a:cs typeface="+mn-lt"/>
                <a:hlinkClick r:id="rId3"/>
              </a:rPr>
              <a:t> - Learn SQL - Introduction to SQL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4"/>
              </a:rPr>
              <a:t>https://www.w3schools.com/sql/</a:t>
            </a:r>
            <a:endParaRPr lang="en-US" sz="2000" dirty="0">
              <a:ea typeface="+mn-lt"/>
              <a:cs typeface="+mn-lt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+mn-lt"/>
                <a:cs typeface="+mn-lt"/>
                <a:hlinkClick r:id="rId5"/>
              </a:rPr>
              <a:t>https://www.hackerrank.com/domains/sql</a:t>
            </a:r>
            <a:r>
              <a:rPr lang="en-US" sz="200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54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CD2E-5A2F-C1DE-C39A-7E738490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B316-CBF9-C6C5-35FC-5D0CF6B30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SQL – </a:t>
            </a:r>
            <a:r>
              <a:rPr lang="en-US" sz="2800" err="1"/>
              <a:t>päringu</a:t>
            </a:r>
            <a:r>
              <a:rPr lang="en-US" sz="2800"/>
              <a:t> </a:t>
            </a:r>
            <a:r>
              <a:rPr lang="en-US" sz="2800" err="1"/>
              <a:t>kirjutamise</a:t>
            </a:r>
            <a:r>
              <a:rPr lang="en-US" sz="2800"/>
              <a:t> programmid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DDF1A-150B-CE15-B386-ADFA92B97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Palju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erinevaid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käsitleme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kolme</a:t>
            </a:r>
            <a:r>
              <a:rPr lang="en-US" sz="2400" dirty="0">
                <a:ea typeface="Inter"/>
              </a:rPr>
              <a:t>: </a:t>
            </a:r>
            <a:endParaRPr lang="en-US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+mn-lt"/>
                <a:cs typeface="+mn-lt"/>
              </a:rPr>
              <a:t>sqliteviz</a:t>
            </a:r>
            <a:r>
              <a:rPr lang="en-US" sz="2000" dirty="0">
                <a:ea typeface="+mn-lt"/>
                <a:cs typeface="+mn-lt"/>
              </a:rPr>
              <a:t> - </a:t>
            </a:r>
            <a:r>
              <a:rPr lang="en-US" sz="2000" dirty="0" err="1">
                <a:ea typeface="+mn-lt"/>
                <a:cs typeface="+mn-lt"/>
              </a:rPr>
              <a:t>tasuta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brauseris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kasutatav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piiratud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allikad</a:t>
            </a:r>
            <a:r>
              <a:rPr lang="en-US" sz="2000" dirty="0">
                <a:ea typeface="+mn-lt"/>
                <a:cs typeface="+mn-lt"/>
              </a:rPr>
              <a:t> – CSV, JSON, NDJSON)</a:t>
            </a:r>
            <a:endParaRPr lang="en-US" sz="2000" dirty="0">
              <a:cs typeface="+mn-lt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2"/>
              </a:rPr>
              <a:t>https://sqliteviz.com/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 err="1">
                <a:ea typeface="Inter"/>
              </a:rPr>
              <a:t>DBeaver</a:t>
            </a:r>
            <a:r>
              <a:rPr lang="en-US" sz="2000" dirty="0">
                <a:ea typeface="Inter"/>
              </a:rPr>
              <a:t> Community – </a:t>
            </a:r>
            <a:r>
              <a:rPr lang="en-US" sz="2000" dirty="0" err="1">
                <a:ea typeface="Inter"/>
              </a:rPr>
              <a:t>tasuta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haldusprogramm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vajalik</a:t>
            </a:r>
            <a:r>
              <a:rPr lang="en-US" sz="2000" dirty="0">
                <a:ea typeface="Inter"/>
              </a:rPr>
              <a:t> alla </a:t>
            </a:r>
            <a:r>
              <a:rPr lang="en-US" sz="2000" dirty="0" err="1">
                <a:ea typeface="Inter"/>
              </a:rPr>
              <a:t>laadida</a:t>
            </a:r>
            <a:endParaRPr lang="en-US" sz="2000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3"/>
              </a:rPr>
              <a:t>https://dbeaver.io/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dirty="0">
                <a:ea typeface="Inter"/>
              </a:rPr>
              <a:t>VS Code – </a:t>
            </a:r>
            <a:r>
              <a:rPr lang="en-US" sz="2000" dirty="0" err="1">
                <a:ea typeface="Inter"/>
              </a:rPr>
              <a:t>tasuta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koodihaldusprogramm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vajalik</a:t>
            </a:r>
            <a:r>
              <a:rPr lang="en-US" sz="2000" dirty="0">
                <a:ea typeface="Inter"/>
              </a:rPr>
              <a:t> alla </a:t>
            </a:r>
            <a:r>
              <a:rPr lang="en-US" sz="2000" dirty="0" err="1">
                <a:ea typeface="Inter"/>
              </a:rPr>
              <a:t>laadida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ühendub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Gitiga</a:t>
            </a:r>
            <a:endParaRPr lang="en-US" sz="2000" dirty="0"/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+mn-lt"/>
                <a:cs typeface="+mn-lt"/>
                <a:hlinkClick r:id="rId4"/>
              </a:rPr>
              <a:t>https://code.visualstudio.com/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29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5206-4288-64AF-A2BF-CFAD4DEF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1F95-8F35-B433-388E-E7B65E658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käskude</a:t>
            </a:r>
            <a:r>
              <a:rPr lang="en-US"/>
              <a:t> </a:t>
            </a:r>
            <a:r>
              <a:rPr lang="en-US" err="1"/>
              <a:t>järjekord</a:t>
            </a:r>
            <a:r>
              <a:rPr lang="en-US"/>
              <a:t> </a:t>
            </a:r>
            <a:r>
              <a:rPr lang="en-US" err="1"/>
              <a:t>päringus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36A8-561C-3297-A6A5-7DF802E3D2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B730E-273A-95C0-F7CF-AD9EC22FFA5D}"/>
              </a:ext>
            </a:extLst>
          </p:cNvPr>
          <p:cNvSpPr txBox="1"/>
          <p:nvPr/>
        </p:nvSpPr>
        <p:spPr>
          <a:xfrm>
            <a:off x="703553" y="1327957"/>
            <a:ext cx="10667632" cy="2952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SELECT </a:t>
            </a:r>
            <a:r>
              <a:rPr lang="en-US" dirty="0">
                <a:ea typeface="Inter"/>
              </a:rPr>
              <a:t>column1, column2, …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FROM </a:t>
            </a:r>
            <a:r>
              <a:rPr lang="en-US" dirty="0" err="1">
                <a:ea typeface="Inter"/>
              </a:rPr>
              <a:t>table_name</a:t>
            </a:r>
            <a:endParaRPr lang="en-US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WHERE </a:t>
            </a:r>
            <a:r>
              <a:rPr lang="en-US" dirty="0">
                <a:ea typeface="Inter"/>
              </a:rPr>
              <a:t>condition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GROUP BY</a:t>
            </a:r>
            <a:r>
              <a:rPr lang="en-US" dirty="0">
                <a:ea typeface="Inter"/>
              </a:rPr>
              <a:t> column1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HAVING</a:t>
            </a:r>
            <a:r>
              <a:rPr lang="en-US" dirty="0">
                <a:ea typeface="Inter"/>
              </a:rPr>
              <a:t> condition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ORDER BY</a:t>
            </a:r>
            <a:r>
              <a:rPr lang="en-US" dirty="0">
                <a:ea typeface="Inter"/>
              </a:rPr>
              <a:t> column1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76000"/>
                  </a:schemeClr>
                </a:solidFill>
                <a:ea typeface="Inter"/>
              </a:rPr>
              <a:t>LIMIT </a:t>
            </a:r>
            <a:r>
              <a:rPr lang="en-US" dirty="0">
                <a:ea typeface="Inter"/>
              </a:rPr>
              <a:t>number;</a:t>
            </a:r>
          </a:p>
        </p:txBody>
      </p:sp>
    </p:spTree>
    <p:extLst>
      <p:ext uri="{BB962C8B-B14F-4D97-AF65-F5344CB8AC3E}">
        <p14:creationId xmlns:p14="http://schemas.microsoft.com/office/powerpoint/2010/main" val="65236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A8FE-19F6-9C13-4D99-8744F249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9A78-8BE3-B792-DDB1-AE1AB18FA4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päringu</a:t>
            </a:r>
            <a:r>
              <a:rPr lang="en-US"/>
              <a:t> </a:t>
            </a:r>
            <a:r>
              <a:rPr lang="en-US" err="1"/>
              <a:t>teostamise</a:t>
            </a:r>
            <a:r>
              <a:rPr lang="en-US"/>
              <a:t> </a:t>
            </a:r>
            <a:r>
              <a:rPr lang="en-US" err="1"/>
              <a:t>järjekord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55C9B-B86D-AF94-D837-6292B30A45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ea typeface="Inter"/>
              </a:rPr>
              <a:t>1. FROM/JOIN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Defineerib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milliseid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tabeleid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kasutatakse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2. WHERE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Filtreerib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välja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, mis </a:t>
            </a:r>
            <a:r>
              <a:rPr lang="en-US" err="1">
                <a:ea typeface="Inter"/>
              </a:rPr>
              <a:t>ei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vasta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tingimustele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3. GROUP BY </a:t>
            </a:r>
          </a:p>
          <a:p>
            <a:pPr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Grupeerib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4. HAVING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Filtreerib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välja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grupeeritud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, mis </a:t>
            </a:r>
            <a:r>
              <a:rPr lang="en-US" err="1">
                <a:ea typeface="Inter"/>
              </a:rPr>
              <a:t>ei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vasta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tingimustele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5. SELECT 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Valib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tulbad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mida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näidata</a:t>
            </a:r>
            <a:r>
              <a:rPr lang="en-US">
                <a:ea typeface="Inter"/>
              </a:rPr>
              <a:t>.</a:t>
            </a:r>
          </a:p>
          <a:p>
            <a:pPr marL="0" indent="0">
              <a:buNone/>
            </a:pPr>
            <a:r>
              <a:rPr lang="en-US">
                <a:ea typeface="Inter"/>
              </a:rPr>
              <a:t>6. ORDER BY </a:t>
            </a:r>
          </a:p>
          <a:p>
            <a:pPr marL="800100" lvl="1">
              <a:buClr>
                <a:srgbClr val="121212"/>
              </a:buClr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Sorteerib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valitud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andmeread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Inter"/>
              </a:rPr>
              <a:t>7. LIMIT</a:t>
            </a:r>
          </a:p>
          <a:p>
            <a:pPr marL="800100" lvl="1">
              <a:buFont typeface="Wingdings" panose="020B0502030000000004" pitchFamily="34" charset="0"/>
              <a:buChar char="Ø"/>
            </a:pPr>
            <a:r>
              <a:rPr lang="en-US" err="1">
                <a:ea typeface="Inter"/>
              </a:rPr>
              <a:t>Jätab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alles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ainult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täpsustatud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arvu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ridu</a:t>
            </a:r>
            <a:r>
              <a:rPr lang="en-US">
                <a:ea typeface="Inter"/>
              </a:rPr>
              <a:t>.</a:t>
            </a:r>
            <a:endParaRPr lang="en-US"/>
          </a:p>
          <a:p>
            <a:pPr marL="800100" lvl="1">
              <a:buFont typeface="Wingdings" panose="020B0502030000000004" pitchFamily="34" charset="0"/>
              <a:buChar char="Ø"/>
            </a:pPr>
            <a:endParaRPr lang="en-US"/>
          </a:p>
          <a:p>
            <a:pPr marL="285750" indent="-285750">
              <a:buClr>
                <a:srgbClr val="121212"/>
              </a:buClr>
            </a:pPr>
            <a:r>
              <a:rPr lang="en-US" err="1">
                <a:ea typeface="Inter"/>
              </a:rPr>
              <a:t>Teostamise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järjekord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muutub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oluliseks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suuremate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päringute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puhul</a:t>
            </a:r>
            <a:r>
              <a:rPr lang="en-US">
                <a:ea typeface="Inter"/>
              </a:rPr>
              <a:t>. Mida </a:t>
            </a:r>
            <a:r>
              <a:rPr lang="en-US" err="1">
                <a:ea typeface="Inter"/>
              </a:rPr>
              <a:t>varasemas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sammus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saad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päringu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tulemusi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piirata</a:t>
            </a:r>
            <a:r>
              <a:rPr lang="en-US">
                <a:ea typeface="Inter"/>
              </a:rPr>
              <a:t>, </a:t>
            </a:r>
            <a:r>
              <a:rPr lang="en-US" err="1">
                <a:ea typeface="Inter"/>
              </a:rPr>
              <a:t>seda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optimaalsem</a:t>
            </a:r>
            <a:r>
              <a:rPr lang="en-US">
                <a:ea typeface="Inter"/>
              </a:rPr>
              <a:t> (</a:t>
            </a:r>
            <a:r>
              <a:rPr lang="en-US" err="1">
                <a:ea typeface="Inter"/>
              </a:rPr>
              <a:t>kiirem</a:t>
            </a:r>
            <a:r>
              <a:rPr lang="en-US">
                <a:ea typeface="Inter"/>
              </a:rPr>
              <a:t>) on </a:t>
            </a:r>
            <a:r>
              <a:rPr lang="en-US" err="1">
                <a:ea typeface="Inter"/>
              </a:rPr>
              <a:t>päringu</a:t>
            </a:r>
            <a:r>
              <a:rPr lang="en-US">
                <a:ea typeface="Inter"/>
              </a:rPr>
              <a:t> </a:t>
            </a:r>
            <a:r>
              <a:rPr lang="en-US" err="1">
                <a:ea typeface="Inter"/>
              </a:rPr>
              <a:t>teostus</a:t>
            </a:r>
            <a:r>
              <a:rPr lang="en-US">
                <a:ea typeface="Inter"/>
              </a:rPr>
              <a:t>.</a:t>
            </a:r>
            <a:endParaRPr lang="en-US"/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87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2250-7D37-3829-65F1-E12C06791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3968-76FB-84EE-6061-FD613CB7A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1965-180D-1AC8-1EAC-AA0D8FB255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B63D7-8625-0273-BB8D-70F4FFAE506E}"/>
              </a:ext>
            </a:extLst>
          </p:cNvPr>
          <p:cNvSpPr txBox="1"/>
          <p:nvPr/>
        </p:nvSpPr>
        <p:spPr>
          <a:xfrm>
            <a:off x="677170" y="1222424"/>
            <a:ext cx="1038621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ea typeface="Inter"/>
                <a:hlinkClick r:id="rId2"/>
              </a:rPr>
              <a:t>https://sqliteviz.com/</a:t>
            </a:r>
            <a:endParaRPr lang="en-US" sz="2000" dirty="0">
              <a:ea typeface="Int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ea typeface="Inter"/>
              </a:rPr>
              <a:t>Laeme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</a:t>
            </a:r>
            <a:r>
              <a:rPr lang="en-US" sz="2000" dirty="0">
                <a:ea typeface="Inter"/>
              </a:rPr>
              <a:t> CSV </a:t>
            </a:r>
            <a:r>
              <a:rPr lang="en-US" sz="2000" dirty="0" err="1">
                <a:ea typeface="Inter"/>
              </a:rPr>
              <a:t>failid</a:t>
            </a:r>
            <a:r>
              <a:rPr lang="en-US" sz="2000" dirty="0">
                <a:ea typeface="Inter"/>
              </a:rPr>
              <a:t>: </a:t>
            </a:r>
            <a:r>
              <a:rPr lang="en-US" sz="2000" dirty="0" err="1">
                <a:ea typeface="Inter"/>
              </a:rPr>
              <a:t>Github</a:t>
            </a:r>
            <a:r>
              <a:rPr lang="en-US" sz="2000" dirty="0">
                <a:ea typeface="Inter"/>
              </a:rPr>
              <a:t> --&gt; Day5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SalesTable</a:t>
            </a:r>
            <a:endParaRPr lang="en-US" sz="2000" dirty="0">
              <a:ea typeface="Inter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SalesRepTable</a:t>
            </a:r>
            <a:endParaRPr lang="en-US" sz="2000" dirty="0">
              <a:ea typeface="Inter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BudgetSalesRep</a:t>
            </a:r>
            <a:endParaRPr lang="en-US" sz="2000" dirty="0">
              <a:ea typeface="Inter"/>
            </a:endParaRPr>
          </a:p>
          <a:p>
            <a:pPr marL="285750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 err="1">
                <a:ea typeface="Inter"/>
              </a:rPr>
              <a:t>Salvestame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andmebaasi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enda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arvutisse</a:t>
            </a:r>
            <a:endParaRPr lang="en-US" sz="2000" dirty="0">
              <a:ea typeface="Inter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>
                <a:ea typeface="Inter"/>
              </a:rPr>
              <a:t>Export database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ea typeface="Inter"/>
              </a:rPr>
              <a:t>GitHubi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ülesannete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failid</a:t>
            </a:r>
            <a:r>
              <a:rPr lang="en-US" sz="2000" dirty="0">
                <a:ea typeface="Inter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>
                <a:ea typeface="Inter"/>
              </a:rPr>
              <a:t>Day5 --&gt; 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sql_ulesanded_1.txt</a:t>
            </a:r>
          </a:p>
          <a:p>
            <a:endParaRPr lang="en-US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1863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8894-EA7E-D031-E39B-D15A9A1AC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7B3F8-1072-F92A-474F-F8B757A392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59C4DD-AD06-746E-A9D2-C5E114417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31614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F17EF-948F-440F-9776-D47D6378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7675-D5E2-4284-152D-B43170B2B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3DF0-7EC7-0A70-4125-F5DB0D9859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D8A84-5C3E-D3EC-7BBA-46AD750AB1C1}"/>
              </a:ext>
            </a:extLst>
          </p:cNvPr>
          <p:cNvSpPr txBox="1"/>
          <p:nvPr/>
        </p:nvSpPr>
        <p:spPr>
          <a:xfrm>
            <a:off x="677170" y="1222424"/>
            <a:ext cx="1038621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Lahendame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koos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esimesed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neli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ülesannet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: sql_ulesanded_2.txt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Edasi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lahendage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iseseisvalt</a:t>
            </a:r>
            <a:endParaRPr lang="en-US" sz="2000" dirty="0">
              <a:solidFill>
                <a:srgbClr val="121212"/>
              </a:solidFill>
              <a:ea typeface="+mn-lt"/>
              <a:cs typeface="+mn-lt"/>
            </a:endParaRPr>
          </a:p>
          <a:p>
            <a:endParaRPr lang="en-US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29900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6BEE-9A76-72C4-375A-62C991CD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CD10-5621-E068-9167-25ADABC92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põhikäsud</a:t>
            </a:r>
            <a:r>
              <a:rPr lang="en-US"/>
              <a:t> - </a:t>
            </a:r>
            <a:r>
              <a:rPr lang="en-US" err="1"/>
              <a:t>vaatame</a:t>
            </a:r>
            <a:r>
              <a:rPr lang="en-US"/>
              <a:t> </a:t>
            </a:r>
            <a:r>
              <a:rPr lang="en-US" err="1"/>
              <a:t>koos</a:t>
            </a:r>
            <a:r>
              <a:rPr lang="en-US"/>
              <a:t> </a:t>
            </a:r>
            <a:r>
              <a:rPr lang="en-US" err="1"/>
              <a:t>lahendused</a:t>
            </a:r>
            <a:r>
              <a:rPr lang="en-US"/>
              <a:t> </a:t>
            </a:r>
            <a:r>
              <a:rPr lang="en-US" err="1"/>
              <a:t>üle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5D3A3-A166-EB4A-E787-94B4118BFE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0170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9E23-325B-FBA2-1EF5-41153F1F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721C-D277-0541-FE4C-57FDB56A06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979AC4-FC3A-C148-1B50-62D394967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76147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9A9-D04A-103B-54F8-01C27A2EF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2F55-01EB-38B4-B089-9D487AC4F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kirjeldav</a:t>
            </a:r>
            <a:r>
              <a:rPr lang="en-US"/>
              <a:t> </a:t>
            </a:r>
            <a:r>
              <a:rPr lang="en-US" err="1"/>
              <a:t>statistika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6978-9EE3-A1AE-8812-49901C2E5A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2CFD7-E0AE-CAFB-FD62-2D9E32335DFA}"/>
              </a:ext>
            </a:extLst>
          </p:cNvPr>
          <p:cNvSpPr txBox="1"/>
          <p:nvPr/>
        </p:nvSpPr>
        <p:spPr>
          <a:xfrm>
            <a:off x="677170" y="1222424"/>
            <a:ext cx="103862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Koos: sql_ulesanded_3.txt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Iseseisvalt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: sql_ulesanded_3_iseseisev.txt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000" dirty="0">
              <a:solidFill>
                <a:srgbClr val="121212"/>
              </a:solidFill>
              <a:ea typeface="+mn-lt"/>
              <a:cs typeface="+mn-lt"/>
            </a:endParaRPr>
          </a:p>
          <a:p>
            <a:endParaRPr lang="en-US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88183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7356-7B64-F84B-96D7-F43FEC3BE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2502-5CCC-91CC-DC4B-06F9FE717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 </a:t>
            </a:r>
            <a:r>
              <a:rPr lang="en-US" err="1"/>
              <a:t>kirjeldav</a:t>
            </a:r>
            <a:r>
              <a:rPr lang="en-US"/>
              <a:t> </a:t>
            </a:r>
            <a:r>
              <a:rPr lang="en-US" err="1"/>
              <a:t>statstika</a:t>
            </a:r>
            <a:r>
              <a:rPr lang="en-US"/>
              <a:t> - </a:t>
            </a:r>
            <a:r>
              <a:rPr lang="en-US" err="1"/>
              <a:t>vaatame</a:t>
            </a:r>
            <a:r>
              <a:rPr lang="en-US"/>
              <a:t> </a:t>
            </a:r>
            <a:r>
              <a:rPr lang="en-US" err="1"/>
              <a:t>koos</a:t>
            </a:r>
            <a:r>
              <a:rPr lang="en-US"/>
              <a:t> </a:t>
            </a:r>
            <a:r>
              <a:rPr lang="en-US" err="1"/>
              <a:t>lahendused</a:t>
            </a:r>
            <a:r>
              <a:rPr lang="en-US"/>
              <a:t> </a:t>
            </a:r>
            <a:r>
              <a:rPr lang="en-US" err="1"/>
              <a:t>üle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0BE55-1891-6FE5-965D-BD5310DDFC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97087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D298-D9EB-E866-8230-698261C8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08EF-5EC7-F557-D61C-4B678F32E3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258257-FE23-E665-46B1-A3F5D0C0F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65763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6864-A05B-EF9F-B85B-7225F6FAD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5BF0C907-9C51-2298-A293-3FA385474F5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370181" y="1024182"/>
            <a:ext cx="3946694" cy="512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2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1A17-FC75-9EBB-18D3-5421C51E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C8A0-7075-F5E7-FB08-54655B51F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E06F-28ED-8FB3-6B5E-CD776866B6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/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C0BAC-6C7D-82E8-4B1F-5672297476A1}"/>
              </a:ext>
            </a:extLst>
          </p:cNvPr>
          <p:cNvSpPr txBox="1"/>
          <p:nvPr/>
        </p:nvSpPr>
        <p:spPr>
          <a:xfrm>
            <a:off x="677170" y="1222424"/>
            <a:ext cx="103862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Teeme </a:t>
            </a:r>
            <a:r>
              <a:rPr lang="en-US" sz="2000" dirty="0" err="1">
                <a:solidFill>
                  <a:srgbClr val="121212"/>
                </a:solidFill>
                <a:ea typeface="+mn-lt"/>
                <a:cs typeface="+mn-lt"/>
              </a:rPr>
              <a:t>koos</a:t>
            </a:r>
            <a:r>
              <a:rPr lang="en-US" sz="2000" dirty="0">
                <a:solidFill>
                  <a:srgbClr val="121212"/>
                </a:solidFill>
                <a:ea typeface="+mn-lt"/>
                <a:cs typeface="+mn-lt"/>
              </a:rPr>
              <a:t>: sql_ulesanded_4.txt</a:t>
            </a:r>
          </a:p>
          <a:p>
            <a:endParaRPr lang="en-US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28489419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527</Words>
  <Application>Microsoft Office PowerPoint</Application>
  <PresentationFormat>Widescreen</PresentationFormat>
  <Paragraphs>91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Poppins SemiBold</vt:lpstr>
      <vt:lpstr>Courier New</vt:lpstr>
      <vt:lpstr>Inter Bold</vt:lpstr>
      <vt:lpstr>Wingdings</vt:lpstr>
      <vt:lpstr>Inter</vt:lpstr>
      <vt:lpstr>Calibri</vt:lpstr>
      <vt:lpstr>Arial</vt:lpstr>
      <vt:lpstr>BCS</vt:lpstr>
      <vt:lpstr>Vali Andmetarkus!</vt:lpstr>
      <vt:lpstr>Päevakava - V päev</vt:lpstr>
      <vt:lpstr>Andmebaasid</vt:lpstr>
      <vt:lpstr>SQL </vt:lpstr>
      <vt:lpstr>SQL – päringu kirjutamise programmid</vt:lpstr>
      <vt:lpstr>SQL –  käskude järjekord päringus</vt:lpstr>
      <vt:lpstr>SQL –  päringu teostamise järjekord</vt:lpstr>
      <vt:lpstr>SQL –  põhikäsud</vt:lpstr>
      <vt:lpstr>Paus 10:30-10:45</vt:lpstr>
      <vt:lpstr>SQL –  põhikäsud</vt:lpstr>
      <vt:lpstr>SQL –  põhikäsud - vaatame koos lahendused üle</vt:lpstr>
      <vt:lpstr>Lõunapaus 12:15-13:15</vt:lpstr>
      <vt:lpstr>SQL –  kirjeldav statistika</vt:lpstr>
      <vt:lpstr>SQL –   kirjeldav statstika - vaatame koos lahendused üle</vt:lpstr>
      <vt:lpstr>Paus 14:45-15:00</vt:lpstr>
      <vt:lpstr>SQL – tabelite ühendamine</vt:lpstr>
      <vt:lpstr>SQL –  tabelite ühendamine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35</cp:revision>
  <dcterms:created xsi:type="dcterms:W3CDTF">2021-08-27T11:35:28Z</dcterms:created>
  <dcterms:modified xsi:type="dcterms:W3CDTF">2026-04-05T16:54:59Z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