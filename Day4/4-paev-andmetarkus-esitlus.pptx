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417" r:id="rId5"/>
    <p:sldId id="544" r:id="rId6"/>
    <p:sldId id="589" r:id="rId7"/>
    <p:sldId id="590" r:id="rId8"/>
    <p:sldId id="591" r:id="rId9"/>
    <p:sldId id="592" r:id="rId10"/>
    <p:sldId id="594" r:id="rId11"/>
    <p:sldId id="604" r:id="rId12"/>
    <p:sldId id="595" r:id="rId13"/>
    <p:sldId id="593" r:id="rId14"/>
    <p:sldId id="596" r:id="rId15"/>
    <p:sldId id="598" r:id="rId16"/>
    <p:sldId id="599" r:id="rId17"/>
    <p:sldId id="600" r:id="rId18"/>
    <p:sldId id="601" r:id="rId19"/>
    <p:sldId id="602" r:id="rId20"/>
  </p:sldIdLst>
  <p:sldSz cx="12192000" cy="6858000"/>
  <p:notesSz cx="6858000" cy="9144000"/>
  <p:embeddedFontLs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Inter" panose="020B0604020202020204" charset="0"/>
      <p:regular r:id="rId27"/>
      <p:bold r:id="rId28"/>
    </p:embeddedFont>
    <p:embeddedFont>
      <p:font typeface="Inter Bold" panose="020B0604020202020204" charset="0"/>
      <p:bold r:id="rId29"/>
    </p:embeddedFont>
    <p:embeddedFont>
      <p:font typeface="Poppins SemiBold" panose="00000700000000000000" pitchFamily="2" charset="0"/>
      <p:bold r:id="rId30"/>
      <p:boldItalic r:id="rId31"/>
    </p:embeddedFont>
  </p:embeddedFontLst>
  <p:defaultTextStyle>
    <a:defPPr>
      <a:defRPr lang="en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B2D"/>
    <a:srgbClr val="B78885"/>
    <a:srgbClr val="178687"/>
    <a:srgbClr val="278484"/>
    <a:srgbClr val="FEF5F0"/>
    <a:srgbClr val="FEFAEE"/>
    <a:srgbClr val="113F73"/>
    <a:srgbClr val="007ECA"/>
    <a:srgbClr val="95B1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rve Räni" userId="161a7437-7ef4-49ec-91bf-54882f313dfe" providerId="ADAL" clId="{6D754EED-65AA-4A21-B175-6769012CF487}"/>
    <pc:docChg chg="delSld modSld">
      <pc:chgData name="Virve Räni" userId="161a7437-7ef4-49ec-91bf-54882f313dfe" providerId="ADAL" clId="{6D754EED-65AA-4A21-B175-6769012CF487}" dt="2026-03-16T10:29:09.482" v="1" actId="20577"/>
      <pc:docMkLst>
        <pc:docMk/>
      </pc:docMkLst>
      <pc:sldChg chg="modSp mod">
        <pc:chgData name="Virve Räni" userId="161a7437-7ef4-49ec-91bf-54882f313dfe" providerId="ADAL" clId="{6D754EED-65AA-4A21-B175-6769012CF487}" dt="2026-03-16T10:29:09.482" v="1" actId="20577"/>
        <pc:sldMkLst>
          <pc:docMk/>
          <pc:sldMk cId="3041716889" sldId="544"/>
        </pc:sldMkLst>
        <pc:spChg chg="mod">
          <ac:chgData name="Virve Räni" userId="161a7437-7ef4-49ec-91bf-54882f313dfe" providerId="ADAL" clId="{6D754EED-65AA-4A21-B175-6769012CF487}" dt="2026-03-16T10:29:09.482" v="1" actId="20577"/>
          <ac:spMkLst>
            <pc:docMk/>
            <pc:sldMk cId="3041716889" sldId="544"/>
            <ac:spMk id="2" creationId="{9B155BDE-11A9-1070-B66F-ACDB952A54F5}"/>
          </ac:spMkLst>
        </pc:spChg>
      </pc:sldChg>
      <pc:sldChg chg="del">
        <pc:chgData name="Virve Räni" userId="161a7437-7ef4-49ec-91bf-54882f313dfe" providerId="ADAL" clId="{6D754EED-65AA-4A21-B175-6769012CF487}" dt="2026-03-16T10:28:10.325" v="0" actId="47"/>
        <pc:sldMkLst>
          <pc:docMk/>
          <pc:sldMk cId="2014094008" sldId="60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8B2033-DCEB-4EE5-8D74-06B1A107D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05E87-9E14-405A-8EC3-7560300E98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AD6E-DEDD-49A0-A4BE-7A081A9112D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941CC-E8C9-4FDE-B9E2-B4C258E0C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0A66F-906D-4597-B704-A85E8A2989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20B76-795F-4136-B2E6-506229A97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10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9C1A6-4321-41FA-B001-4140F0E2457F}" type="datetimeFigureOut">
              <a:t>16.03.2026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99514-027B-49BD-8B49-5054CA40EC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7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130EE5B-F23B-E4DB-13FE-697ED7C6C0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41994"/>
            <a:ext cx="6462712" cy="2694956"/>
          </a:xfrm>
        </p:spPr>
        <p:txBody>
          <a:bodyPr anchor="t" anchorCtr="0">
            <a:noAutofit/>
          </a:bodyPr>
          <a:lstStyle>
            <a:lvl1pPr algn="l">
              <a:lnSpc>
                <a:spcPct val="95000"/>
              </a:lnSpc>
              <a:defRPr sz="6200" b="0"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B97D0E-73EB-BAD4-3CFB-2138F7744F0C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AE936BE-AA0B-4172-C4F1-90132CA6197C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bg1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EEF418A-33E3-0868-30D5-750D58C8D19F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027C4A-BCFD-A430-6EC6-BF9B9906B3A2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7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783386E9-4AC9-AC05-D73C-5748D8B66D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226222-9CC4-151E-1D0E-E7E11278D1CA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7AEF9D-2EDF-226F-7EF8-9900253B468B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tx2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E8340A1-A4C3-B4A8-903B-E6AD1C96E552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7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51259C3-5465-7C2C-BA4A-EF08245C1BE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4600" y="0"/>
            <a:ext cx="4597400" cy="6858000"/>
          </a:xfrm>
          <a:custGeom>
            <a:avLst/>
            <a:gdLst>
              <a:gd name="connsiteX0" fmla="*/ 1535049 w 4597400"/>
              <a:gd name="connsiteY0" fmla="*/ 0 h 6858000"/>
              <a:gd name="connsiteX1" fmla="*/ 4597400 w 4597400"/>
              <a:gd name="connsiteY1" fmla="*/ 0 h 6858000"/>
              <a:gd name="connsiteX2" fmla="*/ 4597400 w 4597400"/>
              <a:gd name="connsiteY2" fmla="*/ 6858000 h 6858000"/>
              <a:gd name="connsiteX3" fmla="*/ 1535049 w 4597400"/>
              <a:gd name="connsiteY3" fmla="*/ 6858000 h 6858000"/>
              <a:gd name="connsiteX4" fmla="*/ 0 w 4597400"/>
              <a:gd name="connsiteY4" fmla="*/ 3429000 h 6858000"/>
              <a:gd name="connsiteX5" fmla="*/ 1535049 w 45974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7400" h="6858000">
                <a:moveTo>
                  <a:pt x="1535049" y="0"/>
                </a:moveTo>
                <a:lnTo>
                  <a:pt x="4597400" y="0"/>
                </a:lnTo>
                <a:lnTo>
                  <a:pt x="4597400" y="6858000"/>
                </a:lnTo>
                <a:lnTo>
                  <a:pt x="1535049" y="6858000"/>
                </a:lnTo>
                <a:cubicBezTo>
                  <a:pt x="593027" y="6016117"/>
                  <a:pt x="0" y="4791837"/>
                  <a:pt x="0" y="3429000"/>
                </a:cubicBezTo>
                <a:cubicBezTo>
                  <a:pt x="0" y="2066163"/>
                  <a:pt x="593027" y="841883"/>
                  <a:pt x="153504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6616AE3-7059-CA28-4049-1FD2D926C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6048" y="841994"/>
            <a:ext cx="2302064" cy="92753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593005B9-0C6A-A613-72D7-DAD05049A6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4"/>
            <a:ext cx="8208962" cy="2484436"/>
          </a:xfrm>
        </p:spPr>
        <p:txBody>
          <a:bodyPr anchor="t" anchorCtr="0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94E7AC-F3D3-4E49-AF79-E2577E5DB17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7" y="3536951"/>
            <a:ext cx="8208961" cy="2197099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4FF64E-8497-A211-A371-1EB95CEA8720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E36BEB-E564-BDC5-2D0E-683B7463D71B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A31E304-8E0C-1BA3-DA8A-B2FA8A2B3396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795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0B63FBE-00C9-95E0-891B-2B4DF7E644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536950"/>
            <a:ext cx="8208962" cy="2197100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1A6316-FA00-F7B0-625F-5C5C70FE690C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94281D-AB6E-C8DE-96BB-CD897F804E48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1B54EF8-DDA0-DB1B-14AF-6A9C645C1C71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bg1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02959C4-500F-ED38-1509-871D5B4B659B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452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9A7D0D-AD55-4BB5-927F-67EB9F19F8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51A01D-54B1-4CD7-8EA9-62E0D922E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165258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CAD510-2AAC-48E8-A46D-A29F5F9F0F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087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_T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479570"/>
            <a:ext cx="5364163" cy="554181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3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3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D1EF65-6FC4-E89A-FE48-A37D18ADC94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C974D7-D7DF-712E-FC1A-80D95C80879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7590D4B-E844-7F04-93D3-6756624DE990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05141D-209F-2213-31A6-104F82A16275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62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 noChangeAspect="1"/>
          </p:cNvSpPr>
          <p:nvPr>
            <p:ph type="media" sz="quarter" idx="10" hasCustomPrompt="1"/>
          </p:nvPr>
        </p:nvSpPr>
        <p:spPr>
          <a:xfrm>
            <a:off x="623888" y="1273729"/>
            <a:ext cx="8440283" cy="4747659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68D58F-8AA8-FB7F-EF48-F29430C08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EC4F1CB-CF46-70C8-F053-0FA68D45842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89144" y="1268413"/>
            <a:ext cx="2275794" cy="4747659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1600"/>
            </a:lvl1pPr>
            <a:lvl2pPr marL="457200" indent="0">
              <a:lnSpc>
                <a:spcPct val="110000"/>
              </a:lnSpc>
              <a:buNone/>
              <a:defRPr sz="1600"/>
            </a:lvl2pPr>
            <a:lvl3pPr marL="914400" indent="0">
              <a:lnSpc>
                <a:spcPct val="110000"/>
              </a:lnSpc>
              <a:buNone/>
              <a:defRPr sz="1600"/>
            </a:lvl3pPr>
            <a:lvl4pPr marL="1371600" indent="0">
              <a:lnSpc>
                <a:spcPct val="110000"/>
              </a:lnSpc>
              <a:buNone/>
              <a:defRPr sz="1600"/>
            </a:lvl4pPr>
            <a:lvl5pPr marL="1828800" indent="0">
              <a:lnSpc>
                <a:spcPct val="110000"/>
              </a:lnSpc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r>
              <a:rPr lang="en-US" err="1"/>
              <a:t>contet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_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1999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151920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colum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70B30A-1A11-111C-7375-C4E28C8B78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3950" y="1268412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624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igh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3949" y="1268413"/>
            <a:ext cx="5364163" cy="2052637"/>
          </a:xfrm>
        </p:spPr>
        <p:txBody>
          <a:bodyPr anchor="b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3536951"/>
            <a:ext cx="5364162" cy="2276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1C530DF0-5615-D097-6790-1E5B0817F179}"/>
              </a:ext>
            </a:extLst>
          </p:cNvPr>
          <p:cNvSpPr/>
          <p:nvPr userDrawn="1"/>
        </p:nvSpPr>
        <p:spPr>
          <a:xfrm>
            <a:off x="610509" y="832419"/>
            <a:ext cx="5202462" cy="5202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8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lang="en-US" dirty="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F55AF90-CA6C-9E9E-5C3A-7308548107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218"/>
            <a:ext cx="5364162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0644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00644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559187-4E33-B7B4-8D15-856E22A8AD26}"/>
              </a:ext>
            </a:extLst>
          </p:cNvPr>
          <p:cNvCxnSpPr>
            <a:cxnSpLocks/>
          </p:cNvCxnSpPr>
          <p:nvPr userDrawn="1"/>
        </p:nvCxnSpPr>
        <p:spPr>
          <a:xfrm>
            <a:off x="5988050" y="6414621"/>
            <a:ext cx="41656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E2C47E56-EDA9-6104-5D9F-C924F8780C79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DC9CA37-0D36-8191-BBE8-0EBA7F837CA9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BCB4D6-D14A-E657-80A8-ADEE68384148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7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96033E-16B2-F7F6-089E-CB47C4A72E46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5580062" cy="205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C816E65-AE13-D020-EC0E-E5FCD3F9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2FFEC68-013B-C052-8EF2-43EC0E75A6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6396621"/>
            <a:ext cx="3949138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648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Autho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5386" y="4643022"/>
            <a:ext cx="6547755" cy="1236142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3FFCB1E3-6430-7B36-3E4A-D0BCB7E229BA}"/>
              </a:ext>
            </a:extLst>
          </p:cNvPr>
          <p:cNvSpPr/>
          <p:nvPr userDrawn="1"/>
        </p:nvSpPr>
        <p:spPr>
          <a:xfrm rot="10800000">
            <a:off x="623888" y="836612"/>
            <a:ext cx="1723308" cy="1378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1"/>
                </a:moveTo>
                <a:lnTo>
                  <a:pt x="0" y="21600"/>
                </a:lnTo>
                <a:lnTo>
                  <a:pt x="8640" y="21600"/>
                </a:lnTo>
                <a:lnTo>
                  <a:pt x="8640" y="10801"/>
                </a:lnTo>
                <a:lnTo>
                  <a:pt x="4320" y="10801"/>
                </a:lnTo>
                <a:cubicBezTo>
                  <a:pt x="4320" y="10801"/>
                  <a:pt x="4320" y="5401"/>
                  <a:pt x="8640" y="5401"/>
                </a:cubicBezTo>
                <a:lnTo>
                  <a:pt x="8640" y="0"/>
                </a:lnTo>
                <a:cubicBezTo>
                  <a:pt x="8640" y="0"/>
                  <a:pt x="0" y="0"/>
                  <a:pt x="0" y="10801"/>
                </a:cubicBezTo>
                <a:close/>
                <a:moveTo>
                  <a:pt x="21600" y="5401"/>
                </a:moveTo>
                <a:lnTo>
                  <a:pt x="21600" y="0"/>
                </a:lnTo>
                <a:cubicBezTo>
                  <a:pt x="21600" y="0"/>
                  <a:pt x="12960" y="0"/>
                  <a:pt x="12960" y="10801"/>
                </a:cubicBezTo>
                <a:lnTo>
                  <a:pt x="12960" y="21600"/>
                </a:lnTo>
                <a:lnTo>
                  <a:pt x="21600" y="21600"/>
                </a:lnTo>
                <a:lnTo>
                  <a:pt x="21600" y="10801"/>
                </a:lnTo>
                <a:lnTo>
                  <a:pt x="17280" y="10801"/>
                </a:lnTo>
                <a:cubicBezTo>
                  <a:pt x="17280" y="10801"/>
                  <a:pt x="17280" y="5401"/>
                  <a:pt x="21600" y="540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 cap="none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5829" y="1268413"/>
            <a:ext cx="9630569" cy="3114900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8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“Quote”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397722-9BD2-656F-AB8C-84A3608F65D9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8C9B42-2591-A853-1CFF-B2BEEAA36BA1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1175848-9909-5007-545C-1F2ADABDCADF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38E77D-FF10-DFD7-06B6-D5E95101DE44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40">
            <a:extLst>
              <a:ext uri="{FF2B5EF4-FFF2-40B4-BE49-F238E27FC236}">
                <a16:creationId xmlns:a16="http://schemas.microsoft.com/office/drawing/2014/main" id="{8E73DA40-056E-A0CA-9CF7-3C98514681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5829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9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_Slide_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 slide</a:t>
            </a:r>
          </a:p>
        </p:txBody>
      </p:sp>
      <p:sp>
        <p:nvSpPr>
          <p:cNvPr id="14" name="Picture Placeholder 40">
            <a:extLst>
              <a:ext uri="{FF2B5EF4-FFF2-40B4-BE49-F238E27FC236}">
                <a16:creationId xmlns:a16="http://schemas.microsoft.com/office/drawing/2014/main" id="{B822B543-F1AB-CFE7-EFFD-248F586968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7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2BC2FA-0D30-5C2F-5931-62B0B5A62B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3037" y="4800606"/>
            <a:ext cx="6789813" cy="93344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6EF1FF-751D-4E83-81CA-AC460BA1FF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E7884FD-17EE-C642-8912-0A2B6DE88B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4802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2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74EC-2D5E-C21A-9C6E-B40D3F70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E198-26FE-CDB4-0E6E-95B8B272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F5057-B3F3-2A40-9B41-F7887DE3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0A40-73C8-4048-8140-49F5D65BB431}" type="datetimeFigureOut">
              <a:rPr lang="et-EE" smtClean="0"/>
              <a:t>16.03.2026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DFE4-4A97-5B73-A1FA-A4E96048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87FC-FCC5-92FF-B08A-8FAE7F80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0E80D-6AD2-4F09-8BE9-BBDC507698A9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8095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A3B80-CD6D-DB45-84E3-24CAFB7A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836613"/>
            <a:ext cx="10944225" cy="1178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DABE-FC7B-C144-96F1-E13398B7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2015411"/>
            <a:ext cx="10944225" cy="40059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76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2" r:id="rId3"/>
    <p:sldLayoutId id="2147483662" r:id="rId4"/>
    <p:sldLayoutId id="2147483661" r:id="rId5"/>
    <p:sldLayoutId id="2147483664" r:id="rId6"/>
    <p:sldLayoutId id="2147483673" r:id="rId7"/>
    <p:sldLayoutId id="2147483658" r:id="rId8"/>
    <p:sldLayoutId id="2147483674" r:id="rId9"/>
    <p:sldLayoutId id="2147483675" r:id="rId10"/>
    <p:sldLayoutId id="2147483670" r:id="rId11"/>
    <p:sldLayoutId id="2147483676" r:id="rId12"/>
    <p:sldLayoutId id="2147483666" r:id="rId13"/>
    <p:sldLayoutId id="2147483665" r:id="rId14"/>
    <p:sldLayoutId id="2147483669" r:id="rId15"/>
    <p:sldLayoutId id="2147483668" r:id="rId16"/>
    <p:sldLayoutId id="2147483655" r:id="rId17"/>
    <p:sldLayoutId id="214748367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spc="-150">
          <a:solidFill>
            <a:schemeClr val="tx1"/>
          </a:solidFill>
          <a:latin typeface="+mj-lt"/>
          <a:ea typeface="Inter Semi Bold" panose="02000503000000020004" pitchFamily="2" charset="0"/>
          <a:cs typeface="Inter Semi Bold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buClr>
          <a:schemeClr val="tx1"/>
        </a:buClr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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092" userDrawn="1">
          <p15:clr>
            <a:srgbClr val="F26B43"/>
          </p15:clr>
        </p15:guide>
        <p15:guide id="4" orient="horz" pos="2228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527" userDrawn="1">
          <p15:clr>
            <a:srgbClr val="F26B43"/>
          </p15:clr>
        </p15:guide>
        <p15:guide id="8" pos="393" userDrawn="1">
          <p15:clr>
            <a:srgbClr val="F26B43"/>
          </p15:clr>
        </p15:guide>
        <p15:guide id="9" pos="2048" userDrawn="1">
          <p15:clr>
            <a:srgbClr val="F26B43"/>
          </p15:clr>
        </p15:guide>
        <p15:guide id="10" pos="2116" userDrawn="1">
          <p15:clr>
            <a:srgbClr val="F26B43"/>
          </p15:clr>
        </p15:guide>
        <p15:guide id="11" pos="2184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5496" userDrawn="1">
          <p15:clr>
            <a:srgbClr val="F26B43"/>
          </p15:clr>
        </p15:guide>
        <p15:guide id="15" pos="5564" userDrawn="1">
          <p15:clr>
            <a:srgbClr val="F26B43"/>
          </p15:clr>
        </p15:guide>
        <p15:guide id="16" pos="5632" userDrawn="1">
          <p15:clr>
            <a:srgbClr val="F26B43"/>
          </p15:clr>
        </p15:guide>
        <p15:guide id="17" pos="7287" userDrawn="1">
          <p15:clr>
            <a:srgbClr val="F26B43"/>
          </p15:clr>
        </p15:guide>
        <p15:guide id="18" orient="horz" pos="3612" userDrawn="1">
          <p15:clr>
            <a:srgbClr val="F26B43"/>
          </p15:clr>
        </p15:guide>
        <p15:guide id="19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82D4282-6F49-4A70-83AA-7E8F5DD5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6255884" cy="4897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cs typeface="Poppins SemiBold"/>
              </a:rPr>
              <a:t>Vali </a:t>
            </a:r>
            <a:r>
              <a:rPr lang="en-US" err="1">
                <a:cs typeface="Poppins SemiBold"/>
              </a:rPr>
              <a:t>Andmetarkus</a:t>
            </a:r>
            <a:r>
              <a:rPr lang="en-US">
                <a:cs typeface="Poppins SemiBold"/>
              </a:rPr>
              <a:t>!</a:t>
            </a:r>
            <a:endParaRPr lang="en-US"/>
          </a:p>
        </p:txBody>
      </p:sp>
      <p:pic>
        <p:nvPicPr>
          <p:cNvPr id="3" name="Picture Placeholder 11" descr="A person sitting at a table&#10;&#10;AI-generated content may be incorrect.">
            <a:extLst>
              <a:ext uri="{FF2B5EF4-FFF2-40B4-BE49-F238E27FC236}">
                <a16:creationId xmlns:a16="http://schemas.microsoft.com/office/drawing/2014/main" id="{59426EB3-96A0-6F7B-BD8A-B89C052D49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482457" y="3084343"/>
            <a:ext cx="1765059" cy="1765059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496B8E7-2B01-285F-88ED-B3ADE66A3D31}"/>
              </a:ext>
            </a:extLst>
          </p:cNvPr>
          <p:cNvSpPr txBox="1">
            <a:spLocks/>
          </p:cNvSpPr>
          <p:nvPr/>
        </p:nvSpPr>
        <p:spPr>
          <a:xfrm>
            <a:off x="2645677" y="3645338"/>
            <a:ext cx="6897763" cy="9334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7429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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Inter"/>
              </a:rPr>
              <a:t>Virve </a:t>
            </a:r>
            <a:r>
              <a:rPr lang="en-US" err="1">
                <a:ea typeface="Inter"/>
              </a:rPr>
              <a:t>Räni</a:t>
            </a:r>
            <a:endParaRPr lang="en-US" err="1"/>
          </a:p>
          <a:p>
            <a:r>
              <a:rPr lang="en-US">
                <a:ea typeface="Inter"/>
              </a:rPr>
              <a:t>virve.rani@bcs.ee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9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A19A6-DCE9-EA22-C881-DEB1096AA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55BDE-11A9-1070-B66F-ACDB952A54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 err="1">
                <a:ea typeface="+mj-lt"/>
                <a:cs typeface="+mj-lt"/>
              </a:rPr>
              <a:t>Päevakava</a:t>
            </a:r>
            <a:r>
              <a:rPr lang="en-US" sz="3600" b="1" dirty="0">
                <a:ea typeface="+mj-lt"/>
                <a:cs typeface="+mj-lt"/>
              </a:rPr>
              <a:t> - IV </a:t>
            </a:r>
            <a:r>
              <a:rPr lang="en-US" sz="3600" b="1" dirty="0" err="1">
                <a:ea typeface="+mj-lt"/>
                <a:cs typeface="+mj-lt"/>
              </a:rPr>
              <a:t>päev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654F4C5-8A9F-F004-8F6C-428D0A8B4731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033188374"/>
              </p:ext>
            </p:extLst>
          </p:nvPr>
        </p:nvGraphicFramePr>
        <p:xfrm>
          <a:off x="623888" y="1268413"/>
          <a:ext cx="10941050" cy="409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41050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09:00 – 10:30 – Koolitus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Personaliosakonna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andmestik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Aktiivsete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töötajate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ülevaade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</a:t>
                      </a:r>
                      <a:r>
                        <a:rPr lang="en-US" sz="2400" b="0" i="0" u="none" strike="noStrike" noProof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endParaRPr lang="en-US" b="0" i="0" u="none" strike="noStrike" noProof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Lahkunud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töötajate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ülevaade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 – Paus </a:t>
                      </a:r>
                      <a:endParaRPr lang="en-US" b="0" i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Koolitus -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Rahulolu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küsitluse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tulemused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716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8DC20-E201-D5F2-3273-1BA2B51C6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2E522-8E04-2952-58EF-F17BB863F8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>
                <a:ea typeface="+mj-lt"/>
                <a:cs typeface="+mj-lt"/>
              </a:rPr>
              <a:t>Personaliosakond</a:t>
            </a:r>
            <a:r>
              <a:rPr lang="en-US" sz="3600" b="1">
                <a:ea typeface="+mj-lt"/>
                <a:cs typeface="+mj-lt"/>
              </a:rPr>
              <a:t> – </a:t>
            </a:r>
            <a:r>
              <a:rPr lang="en-US" sz="3600" b="1" err="1">
                <a:ea typeface="+mj-lt"/>
                <a:cs typeface="+mj-lt"/>
              </a:rPr>
              <a:t>probleemi</a:t>
            </a:r>
            <a:r>
              <a:rPr lang="en-US" sz="3600" b="1">
                <a:ea typeface="+mj-lt"/>
                <a:cs typeface="+mj-lt"/>
              </a:rPr>
              <a:t> </a:t>
            </a:r>
            <a:r>
              <a:rPr lang="en-US" sz="3600" b="1" err="1">
                <a:ea typeface="+mj-lt"/>
                <a:cs typeface="+mj-lt"/>
              </a:rPr>
              <a:t>püstitus</a:t>
            </a:r>
            <a:endParaRPr lang="en-US" sz="3600" b="1" err="1">
              <a:ea typeface="Inter Bold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54E90-61EC-06AA-D6ED-1B1A7B0E04B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Kui </a:t>
            </a:r>
            <a:r>
              <a:rPr lang="en-US" sz="2400" dirty="0" err="1">
                <a:ea typeface="Inter"/>
              </a:rPr>
              <a:t>palju</a:t>
            </a:r>
            <a:r>
              <a:rPr lang="en-US" sz="2400" dirty="0">
                <a:ea typeface="Inter"/>
              </a:rPr>
              <a:t> on </a:t>
            </a:r>
            <a:r>
              <a:rPr lang="en-US" sz="2400" dirty="0" err="1">
                <a:ea typeface="Inter"/>
              </a:rPr>
              <a:t>aktiivseid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töötajaid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aja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lõikes</a:t>
            </a:r>
            <a:r>
              <a:rPr lang="en-US" sz="2400" dirty="0">
                <a:ea typeface="Inter"/>
              </a:rPr>
              <a:t>? 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Töötajate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arv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osakondade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kaupa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aja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lõikes</a:t>
            </a:r>
            <a:r>
              <a:rPr lang="en-US" sz="2400" dirty="0">
                <a:ea typeface="Inter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Töötajate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arv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staaži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gruppide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kaupa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aja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lõikes</a:t>
            </a:r>
            <a:r>
              <a:rPr lang="en-US" sz="2400" dirty="0">
                <a:ea typeface="Inter"/>
              </a:rPr>
              <a:t>?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Kui </a:t>
            </a:r>
            <a:r>
              <a:rPr lang="en-US" sz="2400" dirty="0" err="1">
                <a:ea typeface="Inter"/>
              </a:rPr>
              <a:t>palju</a:t>
            </a:r>
            <a:r>
              <a:rPr lang="en-US" sz="2400" dirty="0">
                <a:ea typeface="Inter"/>
              </a:rPr>
              <a:t> on </a:t>
            </a:r>
            <a:r>
              <a:rPr lang="en-US" sz="2400" dirty="0" err="1">
                <a:ea typeface="Inter"/>
              </a:rPr>
              <a:t>lahkunud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töötajaid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omal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algatusel</a:t>
            </a:r>
            <a:r>
              <a:rPr lang="en-US" sz="2400" dirty="0">
                <a:ea typeface="Inter"/>
              </a:rPr>
              <a:t> ja </a:t>
            </a:r>
            <a:r>
              <a:rPr lang="en-US" sz="2400" dirty="0" err="1">
                <a:ea typeface="Inter"/>
              </a:rPr>
              <a:t>ettevõtte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algatusel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aja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lõikes</a:t>
            </a:r>
            <a:r>
              <a:rPr lang="en-US" sz="2400" dirty="0">
                <a:ea typeface="Inter"/>
              </a:rPr>
              <a:t>? 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Kuidas</a:t>
            </a:r>
            <a:r>
              <a:rPr lang="en-US" sz="2400" dirty="0">
                <a:ea typeface="Inter"/>
              </a:rPr>
              <a:t> on </a:t>
            </a:r>
            <a:r>
              <a:rPr lang="en-US" sz="2400" dirty="0" err="1">
                <a:ea typeface="Inter"/>
              </a:rPr>
              <a:t>töötajate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rahulolu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aja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lõikes</a:t>
            </a:r>
            <a:r>
              <a:rPr lang="en-US" sz="2400" dirty="0">
                <a:ea typeface="Inter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69106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B99CE-1848-5A31-1906-07FCEE7A5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92D4E-361F-7000-4B5D-6F2065AE58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>
                <a:ea typeface="+mj-lt"/>
                <a:cs typeface="+mj-lt"/>
              </a:rPr>
              <a:t>Personaliosakond</a:t>
            </a:r>
            <a:r>
              <a:rPr lang="en-US" sz="3600" b="1">
                <a:ea typeface="+mj-lt"/>
                <a:cs typeface="+mj-lt"/>
              </a:rPr>
              <a:t> – andmestik </a:t>
            </a:r>
            <a:endParaRPr lang="en-US" sz="3600" b="1">
              <a:ea typeface="Inter Bold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98CB17-1EB8-3F89-A7E4-ED297E3825C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628650" indent="-342900">
              <a:lnSpc>
                <a:spcPct val="150000"/>
              </a:lnSpc>
              <a:buClr>
                <a:srgbClr val="121212"/>
              </a:buClr>
            </a:pPr>
            <a:r>
              <a:rPr lang="en-US" sz="2000">
                <a:ea typeface="Inter"/>
              </a:rPr>
              <a:t>Lae </a:t>
            </a:r>
            <a:r>
              <a:rPr lang="en-US" sz="2000" err="1">
                <a:ea typeface="Inter"/>
              </a:rPr>
              <a:t>alla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alliktabel</a:t>
            </a:r>
            <a:r>
              <a:rPr lang="en-US" sz="2000">
                <a:ea typeface="Inter"/>
              </a:rPr>
              <a:t>: Day5 --&gt; </a:t>
            </a:r>
            <a:r>
              <a:rPr lang="en-US" sz="2000" err="1">
                <a:ea typeface="Inter"/>
              </a:rPr>
              <a:t>HR_dataset</a:t>
            </a:r>
            <a:endParaRPr lang="en-US" sz="2000"/>
          </a:p>
          <a:p>
            <a:pPr marL="514350">
              <a:lnSpc>
                <a:spcPct val="150000"/>
              </a:lnSpc>
              <a:buClr>
                <a:srgbClr val="121212"/>
              </a:buClr>
            </a:pPr>
            <a:r>
              <a:rPr lang="en-US" sz="2000">
                <a:ea typeface="Inter"/>
              </a:rPr>
              <a:t>Lae </a:t>
            </a:r>
            <a:r>
              <a:rPr lang="en-US" sz="2000" err="1">
                <a:ea typeface="Inter"/>
              </a:rPr>
              <a:t>üles</a:t>
            </a:r>
            <a:r>
              <a:rPr lang="en-US" sz="2000">
                <a:ea typeface="Inter"/>
              </a:rPr>
              <a:t> Power BI-</a:t>
            </a:r>
            <a:r>
              <a:rPr lang="en-US" sz="2000" err="1">
                <a:ea typeface="Inter"/>
              </a:rPr>
              <a:t>sse</a:t>
            </a:r>
            <a:endParaRPr lang="en-US" sz="2000" err="1"/>
          </a:p>
          <a:p>
            <a:pPr marL="514350">
              <a:lnSpc>
                <a:spcPct val="150000"/>
              </a:lnSpc>
              <a:buClr>
                <a:srgbClr val="121212"/>
              </a:buClr>
            </a:pPr>
            <a:r>
              <a:rPr lang="en-US" sz="2000" err="1">
                <a:ea typeface="Inter"/>
              </a:rPr>
              <a:t>Vaata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üle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tulbad</a:t>
            </a:r>
            <a:r>
              <a:rPr lang="en-US" sz="2000">
                <a:ea typeface="Inter"/>
              </a:rPr>
              <a:t> ja </a:t>
            </a:r>
            <a:r>
              <a:rPr lang="en-US" sz="2000" err="1">
                <a:ea typeface="Inter"/>
              </a:rPr>
              <a:t>vormistus</a:t>
            </a:r>
            <a:endParaRPr lang="en-US" sz="2000" err="1"/>
          </a:p>
          <a:p>
            <a:pPr marL="514350">
              <a:lnSpc>
                <a:spcPct val="150000"/>
              </a:lnSpc>
              <a:buClr>
                <a:srgbClr val="121212"/>
              </a:buClr>
            </a:pPr>
            <a:r>
              <a:rPr lang="en-US" sz="2000">
                <a:ea typeface="Inter"/>
              </a:rPr>
              <a:t>Mis </a:t>
            </a:r>
            <a:r>
              <a:rPr lang="en-US" sz="2000" err="1">
                <a:ea typeface="Inter"/>
              </a:rPr>
              <a:t>dimensioone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vaja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oleks</a:t>
            </a:r>
            <a:r>
              <a:rPr lang="en-US" sz="2000">
                <a:ea typeface="Inter"/>
              </a:rPr>
              <a:t>?</a:t>
            </a:r>
            <a:endParaRPr lang="en-US" sz="2000"/>
          </a:p>
          <a:p>
            <a:pPr marL="1028700" lvl="1" indent="-2286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err="1">
                <a:ea typeface="Inter"/>
              </a:rPr>
              <a:t>Kalendritabel</a:t>
            </a:r>
            <a:endParaRPr lang="en-US" sz="2000" err="1"/>
          </a:p>
          <a:p>
            <a:pPr marL="1771650" indent="-342900">
              <a:lnSpc>
                <a:spcPct val="150000"/>
              </a:lnSpc>
              <a:buClr>
                <a:srgbClr val="121212"/>
              </a:buClr>
            </a:pP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New table</a:t>
            </a:r>
          </a:p>
          <a:p>
            <a:pPr marL="1771650" indent="-342900">
              <a:lnSpc>
                <a:spcPct val="150000"/>
              </a:lnSpc>
              <a:buClr>
                <a:srgbClr val="121212"/>
              </a:buClr>
            </a:pPr>
            <a:r>
              <a:rPr lang="en-US" sz="2000" err="1">
                <a:solidFill>
                  <a:srgbClr val="121212"/>
                </a:solidFill>
                <a:ea typeface="+mn-lt"/>
                <a:cs typeface="+mn-lt"/>
              </a:rPr>
              <a:t>DateTable</a:t>
            </a: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 = CALENDAR ( MIN('</a:t>
            </a:r>
            <a:r>
              <a:rPr lang="en-US" sz="2000" err="1">
                <a:solidFill>
                  <a:srgbClr val="121212"/>
                </a:solidFill>
                <a:ea typeface="+mn-lt"/>
                <a:cs typeface="+mn-lt"/>
              </a:rPr>
              <a:t>HR_dataset</a:t>
            </a: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'[Hire Date]), TODAY() )</a:t>
            </a:r>
          </a:p>
          <a:p>
            <a:pPr marL="142875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endParaRPr lang="en-US" sz="2000">
              <a:solidFill>
                <a:srgbClr val="121212"/>
              </a:solidFill>
              <a:latin typeface="Inter"/>
            </a:endParaRPr>
          </a:p>
          <a:p>
            <a:pPr marL="142875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endParaRPr lang="en-US" sz="2000"/>
          </a:p>
          <a:p>
            <a:pPr marL="514350">
              <a:lnSpc>
                <a:spcPct val="150000"/>
              </a:lnSpc>
              <a:buClr>
                <a:srgbClr val="121212"/>
              </a:buClr>
            </a:pPr>
            <a:endParaRPr lang="en-US" sz="2000"/>
          </a:p>
          <a:p>
            <a:pPr marL="514350">
              <a:lnSpc>
                <a:spcPct val="150000"/>
              </a:lnSpc>
              <a:buClr>
                <a:srgbClr val="121212"/>
              </a:buClr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185195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EC416-9C7F-78C5-E121-51A8E8A01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A4349-5E7B-586C-2DC9-996869E4FD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>
                <a:ea typeface="+mj-lt"/>
                <a:cs typeface="+mj-lt"/>
              </a:rPr>
              <a:t>Töötajate</a:t>
            </a:r>
            <a:r>
              <a:rPr lang="en-US" sz="3600" b="1">
                <a:ea typeface="+mj-lt"/>
                <a:cs typeface="+mj-lt"/>
              </a:rPr>
              <a:t> </a:t>
            </a:r>
            <a:r>
              <a:rPr lang="en-US" sz="3600" b="1" err="1">
                <a:ea typeface="+mj-lt"/>
                <a:cs typeface="+mj-lt"/>
              </a:rPr>
              <a:t>arv</a:t>
            </a:r>
            <a:r>
              <a:rPr lang="en-US" sz="3600" b="1">
                <a:ea typeface="+mj-lt"/>
                <a:cs typeface="+mj-lt"/>
              </a:rPr>
              <a:t> </a:t>
            </a:r>
            <a:r>
              <a:rPr lang="en-US" sz="3600" b="1" err="1">
                <a:ea typeface="+mj-lt"/>
                <a:cs typeface="+mj-lt"/>
              </a:rPr>
              <a:t>aja</a:t>
            </a:r>
            <a:r>
              <a:rPr lang="en-US" sz="3600" b="1">
                <a:ea typeface="+mj-lt"/>
                <a:cs typeface="+mj-lt"/>
              </a:rPr>
              <a:t>  </a:t>
            </a:r>
            <a:r>
              <a:rPr lang="en-US" sz="3600" b="1" err="1">
                <a:ea typeface="+mj-lt"/>
                <a:cs typeface="+mj-lt"/>
              </a:rPr>
              <a:t>lõikes</a:t>
            </a:r>
            <a:endParaRPr lang="en-US" err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857962-58CB-7E44-74C7-8FC02CB315A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628650" indent="-342900">
              <a:lnSpc>
                <a:spcPct val="100000"/>
              </a:lnSpc>
              <a:buClr>
                <a:srgbClr val="121212"/>
              </a:buClr>
            </a:pPr>
            <a:r>
              <a:rPr lang="en-US" sz="2000" err="1">
                <a:solidFill>
                  <a:srgbClr val="121212"/>
                </a:solidFill>
                <a:ea typeface="+mn-lt"/>
                <a:cs typeface="+mn-lt"/>
              </a:rPr>
              <a:t>Olemas</a:t>
            </a: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121212"/>
                </a:solidFill>
                <a:ea typeface="+mn-lt"/>
                <a:cs typeface="+mn-lt"/>
              </a:rPr>
              <a:t>liitumise</a:t>
            </a: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121212"/>
                </a:solidFill>
                <a:ea typeface="+mn-lt"/>
                <a:cs typeface="+mn-lt"/>
              </a:rPr>
              <a:t>kuupäev</a:t>
            </a: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 ja </a:t>
            </a:r>
            <a:r>
              <a:rPr lang="en-US" sz="2000" err="1">
                <a:solidFill>
                  <a:srgbClr val="121212"/>
                </a:solidFill>
                <a:ea typeface="+mn-lt"/>
                <a:cs typeface="+mn-lt"/>
              </a:rPr>
              <a:t>lahkumise</a:t>
            </a: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121212"/>
                </a:solidFill>
                <a:ea typeface="+mn-lt"/>
                <a:cs typeface="+mn-lt"/>
              </a:rPr>
              <a:t>kuupäev</a:t>
            </a: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 - </a:t>
            </a:r>
            <a:r>
              <a:rPr lang="en-US" sz="2000" err="1">
                <a:solidFill>
                  <a:srgbClr val="121212"/>
                </a:solidFill>
                <a:ea typeface="+mn-lt"/>
                <a:cs typeface="+mn-lt"/>
              </a:rPr>
              <a:t>kuidas</a:t>
            </a: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121212"/>
                </a:solidFill>
                <a:ea typeface="+mn-lt"/>
                <a:cs typeface="+mn-lt"/>
              </a:rPr>
              <a:t>leida</a:t>
            </a: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121212"/>
                </a:solidFill>
                <a:ea typeface="+mn-lt"/>
                <a:cs typeface="+mn-lt"/>
              </a:rPr>
              <a:t>töötajate</a:t>
            </a: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121212"/>
                </a:solidFill>
                <a:ea typeface="+mn-lt"/>
                <a:cs typeface="+mn-lt"/>
              </a:rPr>
              <a:t>arv</a:t>
            </a: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121212"/>
                </a:solidFill>
                <a:ea typeface="+mn-lt"/>
                <a:cs typeface="+mn-lt"/>
              </a:rPr>
              <a:t>ajas</a:t>
            </a: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?</a:t>
            </a:r>
            <a:endParaRPr lang="en-US"/>
          </a:p>
          <a:p>
            <a:pPr marL="628650" indent="-342900">
              <a:lnSpc>
                <a:spcPct val="150000"/>
              </a:lnSpc>
              <a:buClr>
                <a:srgbClr val="121212"/>
              </a:buClr>
            </a:pPr>
            <a:r>
              <a:rPr lang="en-US" sz="2000" err="1">
                <a:solidFill>
                  <a:srgbClr val="121212"/>
                </a:solidFill>
                <a:latin typeface="Inter"/>
                <a:ea typeface="Inter"/>
              </a:rPr>
              <a:t>Mõõdiku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</a:rPr>
              <a:t> </a:t>
            </a:r>
            <a:r>
              <a:rPr lang="en-US" sz="2000" err="1">
                <a:solidFill>
                  <a:srgbClr val="121212"/>
                </a:solidFill>
                <a:latin typeface="Inter"/>
                <a:ea typeface="Inter"/>
              </a:rPr>
              <a:t>loogika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</a:rPr>
              <a:t>: </a:t>
            </a:r>
            <a:endParaRPr lang="en-US" sz="2000">
              <a:solidFill>
                <a:srgbClr val="121212"/>
              </a:solidFill>
              <a:latin typeface="Inter"/>
            </a:endParaRPr>
          </a:p>
          <a:p>
            <a:pPr marL="1143000" lvl="1">
              <a:lnSpc>
                <a:spcPct val="150000"/>
              </a:lnSpc>
            </a:pPr>
            <a:r>
              <a:rPr lang="en-US" sz="2000" err="1">
                <a:ea typeface="Inter"/>
              </a:rPr>
              <a:t>Viimane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kuupäev</a:t>
            </a:r>
            <a:r>
              <a:rPr lang="en-US" sz="2000">
                <a:ea typeface="Inter"/>
              </a:rPr>
              <a:t> ja </a:t>
            </a:r>
            <a:r>
              <a:rPr lang="en-US" sz="2000" err="1">
                <a:ea typeface="Inter"/>
              </a:rPr>
              <a:t>ridade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arv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liitumiskuupäeva</a:t>
            </a:r>
            <a:r>
              <a:rPr lang="en-US" sz="2000">
                <a:ea typeface="Inter"/>
              </a:rPr>
              <a:t> ja </a:t>
            </a:r>
            <a:r>
              <a:rPr lang="en-US" sz="2000" err="1">
                <a:ea typeface="Inter"/>
              </a:rPr>
              <a:t>lahkumiskuupäeva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vahel</a:t>
            </a:r>
            <a:endParaRPr lang="en-US" sz="2000" err="1"/>
          </a:p>
          <a:p>
            <a:pPr marL="628650" indent="-342900">
              <a:lnSpc>
                <a:spcPct val="150000"/>
              </a:lnSpc>
              <a:buClr>
                <a:srgbClr val="121212"/>
              </a:buClr>
            </a:pPr>
            <a:r>
              <a:rPr lang="en-US" sz="2000" err="1">
                <a:ea typeface="Inter"/>
              </a:rPr>
              <a:t>Mõõdik</a:t>
            </a:r>
            <a:r>
              <a:rPr lang="en-US" sz="2000">
                <a:ea typeface="Inter"/>
              </a:rPr>
              <a:t>:</a:t>
            </a:r>
            <a:endParaRPr lang="en-US" sz="2000"/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   Active Employees = </a:t>
            </a:r>
            <a:endParaRPr lang="en-US">
              <a:solidFill>
                <a:srgbClr val="000000"/>
              </a:solidFill>
              <a:latin typeface="Consolas"/>
            </a:endParaRPr>
          </a:p>
          <a:p>
            <a:pPr marL="0" indent="0">
              <a:buClr>
                <a:srgbClr val="121212"/>
              </a:buClr>
              <a:buNone/>
            </a:pPr>
            <a:r>
              <a:rPr lang="en-US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   VAR</a:t>
            </a:r>
            <a:r>
              <a:rPr lang="en-US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008080"/>
                </a:solidFill>
                <a:latin typeface="Consolas"/>
                <a:ea typeface="+mn-lt"/>
                <a:cs typeface="+mn-lt"/>
              </a:rPr>
              <a:t>LastVisibleDate</a:t>
            </a:r>
            <a:r>
              <a:rPr lang="en-US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= </a:t>
            </a:r>
            <a:r>
              <a:rPr lang="en-US">
                <a:solidFill>
                  <a:srgbClr val="3165BB"/>
                </a:solidFill>
                <a:latin typeface="Consolas"/>
                <a:ea typeface="+mn-lt"/>
                <a:cs typeface="+mn-lt"/>
              </a:rPr>
              <a:t>MAX</a:t>
            </a:r>
            <a:r>
              <a:rPr lang="en-US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( </a:t>
            </a:r>
            <a:r>
              <a:rPr lang="en-US">
                <a:solidFill>
                  <a:srgbClr val="001080"/>
                </a:solidFill>
                <a:latin typeface="Consolas"/>
                <a:ea typeface="+mn-lt"/>
                <a:cs typeface="+mn-lt"/>
              </a:rPr>
              <a:t>'</a:t>
            </a:r>
            <a:r>
              <a:rPr lang="en-US" err="1">
                <a:solidFill>
                  <a:srgbClr val="001080"/>
                </a:solidFill>
                <a:latin typeface="Consolas"/>
                <a:ea typeface="+mn-lt"/>
                <a:cs typeface="+mn-lt"/>
              </a:rPr>
              <a:t>DateTable</a:t>
            </a:r>
            <a:r>
              <a:rPr lang="en-US">
                <a:solidFill>
                  <a:srgbClr val="001080"/>
                </a:solidFill>
                <a:latin typeface="Consolas"/>
                <a:ea typeface="+mn-lt"/>
                <a:cs typeface="+mn-lt"/>
              </a:rPr>
              <a:t>'[Date]</a:t>
            </a:r>
            <a:r>
              <a:rPr lang="en-US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)</a:t>
            </a:r>
            <a:endParaRPr lang="en-US"/>
          </a:p>
          <a:p>
            <a:pPr marL="0" indent="0">
              <a:buClr>
                <a:srgbClr val="121212"/>
              </a:buClr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  RETURN</a:t>
            </a:r>
            <a:endParaRPr lang="en-US"/>
          </a:p>
          <a:p>
            <a:pPr marL="0" indent="0">
              <a:buClr>
                <a:srgbClr val="121212"/>
              </a:buClr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    </a:t>
            </a:r>
            <a:r>
              <a:rPr lang="en-US">
                <a:solidFill>
                  <a:srgbClr val="3165BB"/>
                </a:solidFill>
                <a:latin typeface="Consolas"/>
                <a:ea typeface="+mn-lt"/>
                <a:cs typeface="+mn-lt"/>
              </a:rPr>
              <a:t>CALCULATE</a:t>
            </a:r>
            <a:r>
              <a:rPr lang="en-US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(</a:t>
            </a:r>
            <a:endParaRPr lang="en-US"/>
          </a:p>
          <a:p>
            <a:pPr marL="0" indent="0">
              <a:buClr>
                <a:srgbClr val="121212"/>
              </a:buClr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        </a:t>
            </a:r>
            <a:r>
              <a:rPr lang="en-US">
                <a:solidFill>
                  <a:srgbClr val="3165BB"/>
                </a:solidFill>
                <a:latin typeface="Consolas"/>
                <a:ea typeface="+mn-lt"/>
                <a:cs typeface="+mn-lt"/>
              </a:rPr>
              <a:t>COUNTROWS</a:t>
            </a:r>
            <a:r>
              <a:rPr lang="en-US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( </a:t>
            </a:r>
            <a:r>
              <a:rPr lang="en-US">
                <a:solidFill>
                  <a:srgbClr val="001080"/>
                </a:solidFill>
                <a:latin typeface="Consolas"/>
                <a:ea typeface="+mn-lt"/>
                <a:cs typeface="+mn-lt"/>
              </a:rPr>
              <a:t>'</a:t>
            </a:r>
            <a:r>
              <a:rPr lang="en-US" err="1">
                <a:solidFill>
                  <a:srgbClr val="001080"/>
                </a:solidFill>
                <a:latin typeface="Consolas"/>
                <a:ea typeface="+mn-lt"/>
                <a:cs typeface="+mn-lt"/>
              </a:rPr>
              <a:t>HR_dataset</a:t>
            </a:r>
            <a:r>
              <a:rPr lang="en-US">
                <a:solidFill>
                  <a:srgbClr val="001080"/>
                </a:solidFill>
                <a:latin typeface="Consolas"/>
                <a:ea typeface="+mn-lt"/>
                <a:cs typeface="+mn-lt"/>
              </a:rPr>
              <a:t>'</a:t>
            </a:r>
            <a:r>
              <a:rPr lang="en-US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),</a:t>
            </a:r>
            <a:endParaRPr lang="en-US"/>
          </a:p>
          <a:p>
            <a:pPr marL="0" indent="0">
              <a:buClr>
                <a:srgbClr val="121212"/>
              </a:buClr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        </a:t>
            </a:r>
            <a:r>
              <a:rPr lang="en-US">
                <a:solidFill>
                  <a:srgbClr val="001080"/>
                </a:solidFill>
                <a:latin typeface="Consolas"/>
                <a:ea typeface="+mn-lt"/>
                <a:cs typeface="+mn-lt"/>
              </a:rPr>
              <a:t>'</a:t>
            </a:r>
            <a:r>
              <a:rPr lang="en-US" err="1">
                <a:solidFill>
                  <a:srgbClr val="001080"/>
                </a:solidFill>
                <a:latin typeface="Consolas"/>
                <a:ea typeface="+mn-lt"/>
                <a:cs typeface="+mn-lt"/>
              </a:rPr>
              <a:t>HR_dataset</a:t>
            </a:r>
            <a:r>
              <a:rPr lang="en-US">
                <a:solidFill>
                  <a:srgbClr val="001080"/>
                </a:solidFill>
                <a:latin typeface="Consolas"/>
                <a:ea typeface="+mn-lt"/>
                <a:cs typeface="+mn-lt"/>
              </a:rPr>
              <a:t>'[Hire Date]</a:t>
            </a:r>
            <a:r>
              <a:rPr lang="en-US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&lt;= </a:t>
            </a:r>
            <a:r>
              <a:rPr lang="en-US" err="1">
                <a:solidFill>
                  <a:srgbClr val="008080"/>
                </a:solidFill>
                <a:latin typeface="Consolas"/>
                <a:ea typeface="+mn-lt"/>
                <a:cs typeface="+mn-lt"/>
              </a:rPr>
              <a:t>LastVisibleDate</a:t>
            </a:r>
            <a:r>
              <a:rPr lang="en-US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,</a:t>
            </a:r>
            <a:endParaRPr lang="en-US"/>
          </a:p>
          <a:p>
            <a:pPr marL="0" indent="0">
              <a:buClr>
                <a:srgbClr val="121212"/>
              </a:buClr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        ( </a:t>
            </a:r>
            <a:r>
              <a:rPr lang="en-US">
                <a:solidFill>
                  <a:srgbClr val="001080"/>
                </a:solidFill>
                <a:latin typeface="Consolas"/>
                <a:ea typeface="+mn-lt"/>
                <a:cs typeface="+mn-lt"/>
              </a:rPr>
              <a:t>'</a:t>
            </a:r>
            <a:r>
              <a:rPr lang="en-US" err="1">
                <a:solidFill>
                  <a:srgbClr val="001080"/>
                </a:solidFill>
                <a:latin typeface="Consolas"/>
                <a:ea typeface="+mn-lt"/>
                <a:cs typeface="+mn-lt"/>
              </a:rPr>
              <a:t>HR_dataset</a:t>
            </a:r>
            <a:r>
              <a:rPr lang="en-US">
                <a:solidFill>
                  <a:srgbClr val="001080"/>
                </a:solidFill>
                <a:latin typeface="Consolas"/>
                <a:ea typeface="+mn-lt"/>
                <a:cs typeface="+mn-lt"/>
              </a:rPr>
              <a:t>'[Leave Date]</a:t>
            </a:r>
            <a:r>
              <a:rPr lang="en-US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&gt;= </a:t>
            </a:r>
            <a:r>
              <a:rPr lang="en-US" err="1">
                <a:solidFill>
                  <a:srgbClr val="008080"/>
                </a:solidFill>
                <a:latin typeface="Consolas"/>
                <a:ea typeface="+mn-lt"/>
                <a:cs typeface="+mn-lt"/>
              </a:rPr>
              <a:t>LastVisibleDate</a:t>
            </a:r>
            <a:r>
              <a:rPr lang="en-US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|| </a:t>
            </a:r>
            <a:r>
              <a:rPr lang="en-US">
                <a:solidFill>
                  <a:srgbClr val="3165BB"/>
                </a:solidFill>
                <a:latin typeface="Consolas"/>
                <a:ea typeface="+mn-lt"/>
                <a:cs typeface="+mn-lt"/>
              </a:rPr>
              <a:t>ISBLANK</a:t>
            </a:r>
            <a:r>
              <a:rPr lang="en-US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( </a:t>
            </a:r>
            <a:r>
              <a:rPr lang="en-US">
                <a:solidFill>
                  <a:srgbClr val="001080"/>
                </a:solidFill>
                <a:latin typeface="Consolas"/>
                <a:ea typeface="+mn-lt"/>
                <a:cs typeface="+mn-lt"/>
              </a:rPr>
              <a:t>'</a:t>
            </a:r>
            <a:r>
              <a:rPr lang="en-US" err="1">
                <a:solidFill>
                  <a:srgbClr val="001080"/>
                </a:solidFill>
                <a:latin typeface="Consolas"/>
                <a:ea typeface="+mn-lt"/>
                <a:cs typeface="+mn-lt"/>
              </a:rPr>
              <a:t>HR_dataset</a:t>
            </a:r>
            <a:r>
              <a:rPr lang="en-US">
                <a:solidFill>
                  <a:srgbClr val="001080"/>
                </a:solidFill>
                <a:latin typeface="Consolas"/>
                <a:ea typeface="+mn-lt"/>
                <a:cs typeface="+mn-lt"/>
              </a:rPr>
              <a:t>'[Leave Date]</a:t>
            </a:r>
            <a:r>
              <a:rPr lang="en-US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) )</a:t>
            </a:r>
            <a:endParaRPr lang="en-US"/>
          </a:p>
          <a:p>
            <a:pPr marL="0" indent="0">
              <a:buClr>
                <a:srgbClr val="121212"/>
              </a:buClr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    )</a:t>
            </a:r>
            <a:br>
              <a:rPr lang="en-US"/>
            </a:br>
            <a:endParaRPr lang="en-US"/>
          </a:p>
          <a:p>
            <a:pPr marL="1143000" lvl="1">
              <a:lnSpc>
                <a:spcPct val="150000"/>
              </a:lnSpc>
              <a:buClr>
                <a:srgbClr val="121212"/>
              </a:buClr>
            </a:pPr>
            <a:endParaRPr lang="en-US" sz="2000"/>
          </a:p>
          <a:p>
            <a:pPr marL="628650" indent="-342900">
              <a:lnSpc>
                <a:spcPct val="150000"/>
              </a:lnSpc>
              <a:buClr>
                <a:srgbClr val="121212"/>
              </a:buClr>
            </a:pPr>
            <a:endParaRPr lang="en-US" sz="2000"/>
          </a:p>
          <a:p>
            <a:pPr marL="142875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endParaRPr lang="en-US" sz="2000"/>
          </a:p>
          <a:p>
            <a:pPr marL="142875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endParaRPr lang="en-US" sz="2000"/>
          </a:p>
          <a:p>
            <a:pPr marL="514350">
              <a:lnSpc>
                <a:spcPct val="150000"/>
              </a:lnSpc>
              <a:buClr>
                <a:srgbClr val="121212"/>
              </a:buClr>
            </a:pPr>
            <a:endParaRPr lang="en-US" sz="2000"/>
          </a:p>
          <a:p>
            <a:pPr marL="514350">
              <a:lnSpc>
                <a:spcPct val="150000"/>
              </a:lnSpc>
              <a:buClr>
                <a:srgbClr val="121212"/>
              </a:buClr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59484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1FB46-CD7F-56F2-1278-63CD2BBA6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E7AFC-7430-F378-C0C9-AB6FB63011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b="1" err="1">
                <a:ea typeface="+mj-lt"/>
                <a:cs typeface="+mj-lt"/>
              </a:rPr>
              <a:t>Aktiivsete</a:t>
            </a:r>
            <a:r>
              <a:rPr lang="en-US" sz="2800" b="1">
                <a:ea typeface="+mj-lt"/>
                <a:cs typeface="+mj-lt"/>
              </a:rPr>
              <a:t> </a:t>
            </a:r>
            <a:r>
              <a:rPr lang="en-US" sz="2800" b="1" err="1">
                <a:ea typeface="+mj-lt"/>
                <a:cs typeface="+mj-lt"/>
              </a:rPr>
              <a:t>töötajate</a:t>
            </a:r>
            <a:r>
              <a:rPr lang="en-US" sz="2800" b="1">
                <a:ea typeface="+mj-lt"/>
                <a:cs typeface="+mj-lt"/>
              </a:rPr>
              <a:t> </a:t>
            </a:r>
            <a:r>
              <a:rPr lang="en-US" sz="2800" b="1" err="1">
                <a:ea typeface="+mj-lt"/>
                <a:cs typeface="+mj-lt"/>
              </a:rPr>
              <a:t>arv</a:t>
            </a:r>
            <a:r>
              <a:rPr lang="en-US" sz="2800" b="1">
                <a:ea typeface="+mj-lt"/>
                <a:cs typeface="+mj-lt"/>
              </a:rPr>
              <a:t> </a:t>
            </a:r>
            <a:r>
              <a:rPr lang="en-US" sz="2800" b="1" err="1">
                <a:ea typeface="+mj-lt"/>
                <a:cs typeface="+mj-lt"/>
              </a:rPr>
              <a:t>osakondade</a:t>
            </a:r>
            <a:r>
              <a:rPr lang="en-US" sz="2800" b="1">
                <a:ea typeface="+mj-lt"/>
                <a:cs typeface="+mj-lt"/>
              </a:rPr>
              <a:t> ja </a:t>
            </a:r>
            <a:r>
              <a:rPr lang="en-US" sz="2800" b="1" err="1">
                <a:ea typeface="+mj-lt"/>
                <a:cs typeface="+mj-lt"/>
              </a:rPr>
              <a:t>aja</a:t>
            </a:r>
            <a:r>
              <a:rPr lang="en-US" sz="2800" b="1">
                <a:ea typeface="+mj-lt"/>
                <a:cs typeface="+mj-lt"/>
              </a:rPr>
              <a:t> </a:t>
            </a:r>
            <a:r>
              <a:rPr lang="en-US" sz="2800" b="1" err="1">
                <a:ea typeface="+mj-lt"/>
                <a:cs typeface="+mj-lt"/>
              </a:rPr>
              <a:t>lõikes</a:t>
            </a:r>
            <a:endParaRPr lang="en-US" sz="2800" b="1" err="1">
              <a:ea typeface="Inter Bold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5D6F38-6BB9-6CCB-6FC0-EEFF0379C1D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628650" indent="-342900">
              <a:lnSpc>
                <a:spcPct val="100000"/>
              </a:lnSpc>
              <a:buClr>
                <a:srgbClr val="121212"/>
              </a:buClr>
            </a:pPr>
            <a:r>
              <a:rPr lang="en-US" sz="2000">
                <a:ea typeface="Inter"/>
              </a:rPr>
              <a:t>Risttabel</a:t>
            </a:r>
            <a:br>
              <a:rPr lang="en-US"/>
            </a:br>
            <a:endParaRPr lang="en-US"/>
          </a:p>
          <a:p>
            <a:pPr marL="1143000" lvl="1">
              <a:lnSpc>
                <a:spcPct val="150000"/>
              </a:lnSpc>
              <a:buClr>
                <a:srgbClr val="121212"/>
              </a:buClr>
            </a:pPr>
            <a:endParaRPr lang="en-US" sz="2000"/>
          </a:p>
          <a:p>
            <a:pPr marL="628650" indent="-342900">
              <a:lnSpc>
                <a:spcPct val="150000"/>
              </a:lnSpc>
              <a:buClr>
                <a:srgbClr val="121212"/>
              </a:buClr>
            </a:pPr>
            <a:endParaRPr lang="en-US" sz="2000"/>
          </a:p>
          <a:p>
            <a:pPr marL="142875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endParaRPr lang="en-US" sz="2000"/>
          </a:p>
          <a:p>
            <a:pPr marL="142875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endParaRPr lang="en-US" sz="2000"/>
          </a:p>
          <a:p>
            <a:pPr marL="514350">
              <a:lnSpc>
                <a:spcPct val="150000"/>
              </a:lnSpc>
              <a:buClr>
                <a:srgbClr val="121212"/>
              </a:buClr>
            </a:pPr>
            <a:endParaRPr lang="en-US" sz="2000"/>
          </a:p>
          <a:p>
            <a:pPr marL="514350">
              <a:lnSpc>
                <a:spcPct val="150000"/>
              </a:lnSpc>
              <a:buClr>
                <a:srgbClr val="121212"/>
              </a:buClr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573875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8607C-1CBD-609C-2DD5-82DEC1A10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0C9F6-9B44-EC39-A8A4-BF3AAD8C53E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5F01C13-8AF6-57EC-09E9-26FFC7C07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10:30-10:45</a:t>
            </a:r>
          </a:p>
        </p:txBody>
      </p:sp>
    </p:spTree>
    <p:extLst>
      <p:ext uri="{BB962C8B-B14F-4D97-AF65-F5344CB8AC3E}">
        <p14:creationId xmlns:p14="http://schemas.microsoft.com/office/powerpoint/2010/main" val="1847990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29400-AEB4-F66A-F62F-405D92BF53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Staažigruppide</a:t>
            </a:r>
            <a:r>
              <a:rPr lang="en-US" dirty="0"/>
              <a:t> </a:t>
            </a:r>
            <a:r>
              <a:rPr lang="en-US" dirty="0" err="1"/>
              <a:t>kaupa</a:t>
            </a:r>
            <a:r>
              <a:rPr lang="en-US" dirty="0"/>
              <a:t> </a:t>
            </a:r>
            <a:r>
              <a:rPr lang="en-US" dirty="0" err="1"/>
              <a:t>aja</a:t>
            </a:r>
            <a:r>
              <a:rPr lang="en-US" dirty="0"/>
              <a:t> </a:t>
            </a:r>
            <a:r>
              <a:rPr lang="en-US" dirty="0" err="1"/>
              <a:t>lõikes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107CC-9703-F975-7E21-724DACD02F5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2800" dirty="0" err="1"/>
              <a:t>Tahame</a:t>
            </a:r>
            <a:r>
              <a:rPr lang="en-US" sz="2800" dirty="0"/>
              <a:t> </a:t>
            </a:r>
            <a:r>
              <a:rPr lang="en-US" sz="2800" dirty="0" err="1"/>
              <a:t>näha</a:t>
            </a:r>
            <a:r>
              <a:rPr lang="en-US" sz="2800" dirty="0"/>
              <a:t> </a:t>
            </a:r>
            <a:r>
              <a:rPr lang="en-US" sz="2800" dirty="0" err="1"/>
              <a:t>aja</a:t>
            </a:r>
            <a:r>
              <a:rPr lang="en-US" sz="2800" dirty="0"/>
              <a:t> </a:t>
            </a:r>
            <a:r>
              <a:rPr lang="en-US" sz="2800" dirty="0" err="1"/>
              <a:t>lõikes</a:t>
            </a:r>
            <a:r>
              <a:rPr lang="en-US" sz="2800" dirty="0"/>
              <a:t>, </a:t>
            </a:r>
            <a:r>
              <a:rPr lang="en-US" sz="2800" dirty="0" err="1"/>
              <a:t>kui</a:t>
            </a:r>
            <a:r>
              <a:rPr lang="en-US" sz="2800" dirty="0"/>
              <a:t> </a:t>
            </a:r>
            <a:r>
              <a:rPr lang="en-US" sz="2800" dirty="0" err="1"/>
              <a:t>palju</a:t>
            </a:r>
            <a:r>
              <a:rPr lang="en-US" sz="2800" dirty="0"/>
              <a:t> on </a:t>
            </a:r>
            <a:r>
              <a:rPr lang="en-US" sz="2800" dirty="0" err="1"/>
              <a:t>eri</a:t>
            </a:r>
            <a:r>
              <a:rPr lang="en-US" sz="2800" dirty="0"/>
              <a:t> </a:t>
            </a:r>
            <a:r>
              <a:rPr lang="en-US" sz="2800" dirty="0" err="1"/>
              <a:t>staažiga</a:t>
            </a:r>
            <a:r>
              <a:rPr lang="en-US" sz="2800" dirty="0"/>
              <a:t> </a:t>
            </a:r>
            <a:r>
              <a:rPr lang="en-US" sz="2800" dirty="0" err="1"/>
              <a:t>töötajaid</a:t>
            </a:r>
            <a:r>
              <a:rPr lang="en-US" sz="2800" dirty="0"/>
              <a:t>. </a:t>
            </a:r>
          </a:p>
          <a:p>
            <a:r>
              <a:rPr lang="en-US" sz="2800" dirty="0" err="1"/>
              <a:t>Grupid</a:t>
            </a:r>
            <a:r>
              <a:rPr lang="en-US" sz="2800" dirty="0"/>
              <a:t>: </a:t>
            </a:r>
          </a:p>
          <a:p>
            <a:pPr lvl="1"/>
            <a:r>
              <a:rPr lang="en-US" sz="2800" dirty="0"/>
              <a:t>&lt; 1 </a:t>
            </a:r>
            <a:r>
              <a:rPr lang="en-US" sz="2800" dirty="0" err="1"/>
              <a:t>aasta</a:t>
            </a:r>
            <a:endParaRPr lang="en-US" sz="2800" dirty="0"/>
          </a:p>
          <a:p>
            <a:pPr lvl="1"/>
            <a:r>
              <a:rPr lang="en-US" sz="2800" dirty="0"/>
              <a:t>1-3 </a:t>
            </a:r>
            <a:r>
              <a:rPr lang="en-US" sz="2800" dirty="0" err="1"/>
              <a:t>aastat</a:t>
            </a:r>
            <a:endParaRPr lang="en-US" sz="2800" dirty="0"/>
          </a:p>
          <a:p>
            <a:pPr lvl="1"/>
            <a:r>
              <a:rPr lang="en-US" sz="2800" dirty="0"/>
              <a:t>3-5 </a:t>
            </a:r>
            <a:r>
              <a:rPr lang="en-US" sz="2800" dirty="0" err="1"/>
              <a:t>aastat</a:t>
            </a:r>
            <a:r>
              <a:rPr lang="en-US" sz="2800" dirty="0"/>
              <a:t> </a:t>
            </a:r>
          </a:p>
          <a:p>
            <a:pPr lvl="1"/>
            <a:r>
              <a:rPr lang="en-US" sz="2800" dirty="0"/>
              <a:t>5+ </a:t>
            </a:r>
            <a:r>
              <a:rPr lang="en-US" sz="2800" dirty="0" err="1"/>
              <a:t>aastat</a:t>
            </a:r>
            <a:endParaRPr lang="et-EE" sz="2800" dirty="0"/>
          </a:p>
        </p:txBody>
      </p:sp>
    </p:spTree>
    <p:extLst>
      <p:ext uri="{BB962C8B-B14F-4D97-AF65-F5344CB8AC3E}">
        <p14:creationId xmlns:p14="http://schemas.microsoft.com/office/powerpoint/2010/main" val="1361550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79BF8-350A-ADDE-E073-2D078F29D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57113-50DA-68D2-E5DE-147E8B6381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b="1" dirty="0">
                <a:ea typeface="+mj-lt"/>
                <a:cs typeface="+mj-lt"/>
              </a:rPr>
              <a:t>Vaja </a:t>
            </a:r>
            <a:r>
              <a:rPr lang="en-US" sz="2800" b="1" dirty="0" err="1">
                <a:ea typeface="+mj-lt"/>
                <a:cs typeface="+mj-lt"/>
              </a:rPr>
              <a:t>tabel</a:t>
            </a:r>
            <a:r>
              <a:rPr lang="en-US" sz="2800" b="1" dirty="0">
                <a:ea typeface="+mj-lt"/>
                <a:cs typeface="+mj-lt"/>
              </a:rPr>
              <a:t> </a:t>
            </a:r>
            <a:r>
              <a:rPr lang="en-US" sz="2800" b="1" dirty="0" err="1">
                <a:ea typeface="+mj-lt"/>
                <a:cs typeface="+mj-lt"/>
              </a:rPr>
              <a:t>grupi</a:t>
            </a:r>
            <a:r>
              <a:rPr lang="en-US" sz="2800" b="1" dirty="0">
                <a:ea typeface="+mj-lt"/>
                <a:cs typeface="+mj-lt"/>
              </a:rPr>
              <a:t> </a:t>
            </a:r>
            <a:r>
              <a:rPr lang="en-US" sz="2800" b="1" dirty="0" err="1">
                <a:ea typeface="+mj-lt"/>
                <a:cs typeface="+mj-lt"/>
              </a:rPr>
              <a:t>väärtustega</a:t>
            </a:r>
            <a:endParaRPr lang="en-US" sz="2800" b="1" dirty="0">
              <a:ea typeface="Inter Bold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2E3252-9EE5-796F-1929-624EBDF780A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2801" y="1268413"/>
            <a:ext cx="11419534" cy="4465637"/>
          </a:xfrm>
        </p:spPr>
        <p:txBody>
          <a:bodyPr/>
          <a:lstStyle/>
          <a:p>
            <a:pPr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Inter"/>
              </a:rPr>
              <a:t>Tenure Groups Table = </a:t>
            </a:r>
            <a:endParaRPr lang="en-US"/>
          </a:p>
          <a:p>
            <a:pPr>
              <a:buNone/>
            </a:pPr>
            <a:r>
              <a:rPr lang="en-US">
                <a:solidFill>
                  <a:srgbClr val="0000FF"/>
                </a:solidFill>
                <a:latin typeface="Consolas"/>
                <a:ea typeface="Inter"/>
              </a:rPr>
              <a:t>DATATABLE</a:t>
            </a:r>
            <a:r>
              <a:rPr lang="en-US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endParaRPr lang="en-US"/>
          </a:p>
          <a:p>
            <a:pPr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Inter"/>
              </a:rPr>
              <a:t>    </a:t>
            </a:r>
            <a:r>
              <a:rPr lang="en-US">
                <a:solidFill>
                  <a:srgbClr val="A31515"/>
                </a:solidFill>
                <a:latin typeface="Consolas"/>
                <a:ea typeface="Inter"/>
              </a:rPr>
              <a:t>"Tenure Group"</a:t>
            </a:r>
            <a:r>
              <a:rPr lang="en-US">
                <a:solidFill>
                  <a:srgbClr val="000000"/>
                </a:solidFill>
                <a:latin typeface="Consolas"/>
                <a:ea typeface="Inter"/>
              </a:rPr>
              <a:t>, </a:t>
            </a:r>
            <a:r>
              <a:rPr lang="en-US">
                <a:solidFill>
                  <a:srgbClr val="3165BB"/>
                </a:solidFill>
                <a:latin typeface="Consolas"/>
                <a:ea typeface="Inter"/>
              </a:rPr>
              <a:t>STRING</a:t>
            </a:r>
            <a:r>
              <a:rPr lang="en-US">
                <a:solidFill>
                  <a:srgbClr val="000000"/>
                </a:solidFill>
                <a:latin typeface="Consolas"/>
                <a:ea typeface="Inter"/>
              </a:rPr>
              <a:t>,</a:t>
            </a:r>
            <a:endParaRPr lang="en-US"/>
          </a:p>
          <a:p>
            <a:pPr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Inter"/>
              </a:rPr>
              <a:t>    {</a:t>
            </a:r>
            <a:endParaRPr lang="en-US"/>
          </a:p>
          <a:p>
            <a:pPr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Inter"/>
              </a:rPr>
              <a:t>        {</a:t>
            </a:r>
            <a:r>
              <a:rPr lang="en-US">
                <a:solidFill>
                  <a:srgbClr val="A31515"/>
                </a:solidFill>
                <a:latin typeface="Consolas"/>
                <a:ea typeface="Inter"/>
              </a:rPr>
              <a:t>"0-1 Years"</a:t>
            </a:r>
            <a:r>
              <a:rPr lang="en-US">
                <a:solidFill>
                  <a:srgbClr val="000000"/>
                </a:solidFill>
                <a:latin typeface="Consolas"/>
                <a:ea typeface="Inter"/>
              </a:rPr>
              <a:t>},</a:t>
            </a:r>
            <a:endParaRPr lang="en-US"/>
          </a:p>
          <a:p>
            <a:pPr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Inter"/>
              </a:rPr>
              <a:t>        {</a:t>
            </a:r>
            <a:r>
              <a:rPr lang="en-US">
                <a:solidFill>
                  <a:srgbClr val="A31515"/>
                </a:solidFill>
                <a:latin typeface="Consolas"/>
                <a:ea typeface="Inter"/>
              </a:rPr>
              <a:t>"1-3 Years"</a:t>
            </a:r>
            <a:r>
              <a:rPr lang="en-US">
                <a:solidFill>
                  <a:srgbClr val="000000"/>
                </a:solidFill>
                <a:latin typeface="Consolas"/>
                <a:ea typeface="Inter"/>
              </a:rPr>
              <a:t>},</a:t>
            </a:r>
            <a:endParaRPr lang="en-US"/>
          </a:p>
          <a:p>
            <a:pPr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Inter"/>
              </a:rPr>
              <a:t>        {</a:t>
            </a:r>
            <a:r>
              <a:rPr lang="en-US">
                <a:solidFill>
                  <a:srgbClr val="A31515"/>
                </a:solidFill>
                <a:latin typeface="Consolas"/>
                <a:ea typeface="Inter"/>
              </a:rPr>
              <a:t>"3-5 Years"</a:t>
            </a:r>
            <a:r>
              <a:rPr lang="en-US">
                <a:solidFill>
                  <a:srgbClr val="000000"/>
                </a:solidFill>
                <a:latin typeface="Consolas"/>
                <a:ea typeface="Inter"/>
              </a:rPr>
              <a:t>},</a:t>
            </a:r>
            <a:endParaRPr lang="en-US"/>
          </a:p>
          <a:p>
            <a:pPr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Inter"/>
              </a:rPr>
              <a:t>        {</a:t>
            </a:r>
            <a:r>
              <a:rPr lang="en-US">
                <a:solidFill>
                  <a:srgbClr val="A31515"/>
                </a:solidFill>
                <a:latin typeface="Consolas"/>
                <a:ea typeface="Inter"/>
              </a:rPr>
              <a:t>"5+ Years"</a:t>
            </a:r>
            <a:r>
              <a:rPr lang="en-US">
                <a:solidFill>
                  <a:srgbClr val="000000"/>
                </a:solidFill>
                <a:latin typeface="Consolas"/>
                <a:ea typeface="Inter"/>
              </a:rPr>
              <a:t>}</a:t>
            </a:r>
            <a:endParaRPr lang="en-US"/>
          </a:p>
          <a:p>
            <a:pPr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Inter"/>
              </a:rPr>
              <a:t>    }</a:t>
            </a:r>
            <a:endParaRPr lang="en-US"/>
          </a:p>
          <a:p>
            <a:pPr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Inter"/>
              </a:rPr>
              <a:t>)</a:t>
            </a:r>
            <a:endParaRPr lang="en-US"/>
          </a:p>
          <a:p>
            <a:pPr marL="28575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Inter"/>
              </a:rPr>
              <a:t>)</a:t>
            </a:r>
            <a:br>
              <a:rPr lang="en-US"/>
            </a:br>
            <a:endParaRPr lang="en-US"/>
          </a:p>
          <a:p>
            <a:pPr marL="1143000" lvl="1">
              <a:lnSpc>
                <a:spcPct val="150000"/>
              </a:lnSpc>
              <a:buClr>
                <a:srgbClr val="121212"/>
              </a:buClr>
            </a:pPr>
            <a:endParaRPr lang="en-US" sz="2000"/>
          </a:p>
          <a:p>
            <a:pPr marL="628650" indent="-342900">
              <a:lnSpc>
                <a:spcPct val="150000"/>
              </a:lnSpc>
              <a:buClr>
                <a:srgbClr val="121212"/>
              </a:buClr>
            </a:pPr>
            <a:endParaRPr lang="en-US" sz="2000"/>
          </a:p>
          <a:p>
            <a:pPr marL="142875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endParaRPr lang="en-US" sz="2000"/>
          </a:p>
          <a:p>
            <a:pPr marL="142875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endParaRPr lang="en-US" sz="2000"/>
          </a:p>
          <a:p>
            <a:pPr marL="514350">
              <a:lnSpc>
                <a:spcPct val="150000"/>
              </a:lnSpc>
              <a:buClr>
                <a:srgbClr val="121212"/>
              </a:buClr>
            </a:pPr>
            <a:endParaRPr lang="en-US" sz="2000"/>
          </a:p>
          <a:p>
            <a:pPr marL="514350">
              <a:lnSpc>
                <a:spcPct val="150000"/>
              </a:lnSpc>
              <a:buClr>
                <a:srgbClr val="121212"/>
              </a:buClr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20229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77F8-C292-6A84-8298-1B0A4F172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5B6B0-A819-9D53-F541-0427E36D1C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b="1" err="1">
                <a:ea typeface="+mj-lt"/>
                <a:cs typeface="+mj-lt"/>
              </a:rPr>
              <a:t>Aktiivsete</a:t>
            </a:r>
            <a:r>
              <a:rPr lang="en-US" sz="2800" b="1">
                <a:ea typeface="+mj-lt"/>
                <a:cs typeface="+mj-lt"/>
              </a:rPr>
              <a:t> </a:t>
            </a:r>
            <a:r>
              <a:rPr lang="en-US" sz="2800" b="1" err="1">
                <a:ea typeface="+mj-lt"/>
                <a:cs typeface="+mj-lt"/>
              </a:rPr>
              <a:t>töötajate</a:t>
            </a:r>
            <a:r>
              <a:rPr lang="en-US" sz="2800" b="1">
                <a:ea typeface="+mj-lt"/>
                <a:cs typeface="+mj-lt"/>
              </a:rPr>
              <a:t> </a:t>
            </a:r>
            <a:r>
              <a:rPr lang="en-US" sz="2800" b="1" err="1">
                <a:ea typeface="+mj-lt"/>
                <a:cs typeface="+mj-lt"/>
              </a:rPr>
              <a:t>arv</a:t>
            </a:r>
            <a:r>
              <a:rPr lang="en-US" sz="2800" b="1">
                <a:ea typeface="+mj-lt"/>
                <a:cs typeface="+mj-lt"/>
              </a:rPr>
              <a:t> </a:t>
            </a:r>
            <a:r>
              <a:rPr lang="en-US" sz="2800" b="1" err="1">
                <a:ea typeface="+mj-lt"/>
                <a:cs typeface="+mj-lt"/>
              </a:rPr>
              <a:t>staaži</a:t>
            </a:r>
            <a:r>
              <a:rPr lang="en-US" sz="2800" b="1">
                <a:ea typeface="+mj-lt"/>
                <a:cs typeface="+mj-lt"/>
              </a:rPr>
              <a:t> ja </a:t>
            </a:r>
            <a:r>
              <a:rPr lang="en-US" sz="2800" b="1" err="1">
                <a:ea typeface="+mj-lt"/>
                <a:cs typeface="+mj-lt"/>
              </a:rPr>
              <a:t>aja</a:t>
            </a:r>
            <a:r>
              <a:rPr lang="en-US" sz="2800" b="1">
                <a:ea typeface="+mj-lt"/>
                <a:cs typeface="+mj-lt"/>
              </a:rPr>
              <a:t> lõikes</a:t>
            </a:r>
            <a:endParaRPr lang="en-US" sz="2800" b="1" err="1">
              <a:ea typeface="Inter Bold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C94A45-CC06-8374-FACC-46D1558E557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07" y="1268413"/>
            <a:ext cx="11950928" cy="4465637"/>
          </a:xfrm>
        </p:spPr>
        <p:txBody>
          <a:bodyPr/>
          <a:lstStyle/>
          <a:p>
            <a:pPr marL="28575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Tenure Group Count = </a:t>
            </a:r>
            <a:endParaRPr lang="en-US" sz="1200" dirty="0">
              <a:ea typeface="Inter"/>
            </a:endParaRP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  <a:latin typeface="Consolas"/>
                <a:ea typeface="Inter"/>
              </a:rPr>
              <a:t>VAR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 </a:t>
            </a:r>
            <a:r>
              <a:rPr lang="en-US" sz="1200" dirty="0" err="1">
                <a:solidFill>
                  <a:srgbClr val="008080"/>
                </a:solidFill>
                <a:latin typeface="Consolas"/>
                <a:ea typeface="Inter"/>
              </a:rPr>
              <a:t>EndDate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 = </a:t>
            </a:r>
            <a:r>
              <a:rPr lang="en-US" sz="1200" dirty="0">
                <a:solidFill>
                  <a:srgbClr val="3165BB"/>
                </a:solidFill>
                <a:latin typeface="Consolas"/>
                <a:ea typeface="Inter"/>
              </a:rPr>
              <a:t>LASTDATE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r>
              <a:rPr lang="en-US" sz="1200" dirty="0">
                <a:solidFill>
                  <a:srgbClr val="001080"/>
                </a:solidFill>
                <a:latin typeface="Consolas"/>
                <a:ea typeface="Inter"/>
              </a:rPr>
              <a:t>'</a:t>
            </a:r>
            <a:r>
              <a:rPr lang="en-US" sz="1200" dirty="0" err="1">
                <a:solidFill>
                  <a:srgbClr val="001080"/>
                </a:solidFill>
                <a:latin typeface="Consolas"/>
                <a:ea typeface="Inter"/>
              </a:rPr>
              <a:t>DateTable</a:t>
            </a:r>
            <a:r>
              <a:rPr lang="en-US" sz="1200" dirty="0">
                <a:solidFill>
                  <a:srgbClr val="001080"/>
                </a:solidFill>
                <a:latin typeface="Consolas"/>
                <a:ea typeface="Inter"/>
              </a:rPr>
              <a:t>'[Date]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)</a:t>
            </a:r>
            <a:endParaRPr lang="en-US" sz="1200" dirty="0">
              <a:ea typeface="Inter"/>
            </a:endParaRP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  <a:latin typeface="Consolas"/>
                <a:ea typeface="Inter"/>
              </a:rPr>
              <a:t>VAR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 </a:t>
            </a:r>
            <a:r>
              <a:rPr lang="en-US" sz="1200" dirty="0" err="1">
                <a:solidFill>
                  <a:srgbClr val="008080"/>
                </a:solidFill>
                <a:latin typeface="Consolas"/>
                <a:ea typeface="Inter"/>
              </a:rPr>
              <a:t>TenureGroups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 =</a:t>
            </a:r>
            <a:endParaRPr lang="en-US" sz="1200" dirty="0">
              <a:ea typeface="Inter"/>
            </a:endParaRPr>
          </a:p>
          <a:p>
            <a:pPr marL="457200" lvl="1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  </a:t>
            </a:r>
            <a:r>
              <a:rPr lang="en-US" sz="1200" dirty="0">
                <a:solidFill>
                  <a:srgbClr val="3165BB"/>
                </a:solidFill>
                <a:latin typeface="Consolas"/>
                <a:ea typeface="Inter"/>
              </a:rPr>
              <a:t>ADDCOLUMNS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endParaRPr lang="en-US" sz="1200" dirty="0">
              <a:ea typeface="Inter"/>
            </a:endParaRPr>
          </a:p>
          <a:p>
            <a:pPr marL="457200" lvl="1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        </a:t>
            </a:r>
            <a:r>
              <a:rPr lang="en-US" sz="1200" dirty="0">
                <a:solidFill>
                  <a:srgbClr val="3165BB"/>
                </a:solidFill>
                <a:latin typeface="Consolas"/>
                <a:ea typeface="Inter"/>
              </a:rPr>
              <a:t>FILTER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r>
              <a:rPr lang="en-US" sz="1200" dirty="0">
                <a:solidFill>
                  <a:srgbClr val="001080"/>
                </a:solidFill>
                <a:latin typeface="Consolas"/>
                <a:ea typeface="Inter"/>
              </a:rPr>
              <a:t>'</a:t>
            </a:r>
            <a:r>
              <a:rPr lang="en-US" sz="1200" dirty="0" err="1">
                <a:solidFill>
                  <a:srgbClr val="001080"/>
                </a:solidFill>
                <a:latin typeface="Consolas"/>
                <a:ea typeface="Inter"/>
              </a:rPr>
              <a:t>HR_dataset</a:t>
            </a:r>
            <a:r>
              <a:rPr lang="en-US" sz="1200" dirty="0">
                <a:solidFill>
                  <a:srgbClr val="001080"/>
                </a:solidFill>
                <a:latin typeface="Consolas"/>
                <a:ea typeface="Inter"/>
              </a:rPr>
              <a:t>'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,</a:t>
            </a:r>
            <a:endParaRPr lang="en-US" sz="1200" dirty="0">
              <a:ea typeface="Inter"/>
            </a:endParaRPr>
          </a:p>
          <a:p>
            <a:pPr marL="457200" lvl="1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            </a:t>
            </a:r>
            <a:r>
              <a:rPr lang="en-US" sz="1200" dirty="0">
                <a:solidFill>
                  <a:srgbClr val="001080"/>
                </a:solidFill>
                <a:latin typeface="Consolas"/>
                <a:ea typeface="Inter"/>
              </a:rPr>
              <a:t>'</a:t>
            </a:r>
            <a:r>
              <a:rPr lang="en-US" sz="1200" dirty="0" err="1">
                <a:solidFill>
                  <a:srgbClr val="001080"/>
                </a:solidFill>
                <a:latin typeface="Consolas"/>
                <a:ea typeface="Inter"/>
              </a:rPr>
              <a:t>HR_dataset</a:t>
            </a:r>
            <a:r>
              <a:rPr lang="en-US" sz="1200" dirty="0">
                <a:solidFill>
                  <a:srgbClr val="001080"/>
                </a:solidFill>
                <a:latin typeface="Consolas"/>
                <a:ea typeface="Inter"/>
              </a:rPr>
              <a:t>'[Hire Date]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 &lt;= </a:t>
            </a:r>
            <a:r>
              <a:rPr lang="en-US" sz="1200" dirty="0" err="1">
                <a:solidFill>
                  <a:srgbClr val="008080"/>
                </a:solidFill>
                <a:latin typeface="Consolas"/>
                <a:ea typeface="Inter"/>
              </a:rPr>
              <a:t>EndDate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 &amp;&amp;</a:t>
            </a:r>
            <a:endParaRPr lang="en-US" sz="1200" dirty="0">
              <a:ea typeface="Inter"/>
            </a:endParaRPr>
          </a:p>
          <a:p>
            <a:pPr marL="457200" lvl="1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            (</a:t>
            </a:r>
            <a:r>
              <a:rPr lang="en-US" sz="1200" dirty="0">
                <a:solidFill>
                  <a:srgbClr val="3165BB"/>
                </a:solidFill>
                <a:latin typeface="Consolas"/>
                <a:ea typeface="Inter"/>
              </a:rPr>
              <a:t>ISBLANK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r>
              <a:rPr lang="en-US" sz="1200" dirty="0">
                <a:solidFill>
                  <a:srgbClr val="001080"/>
                </a:solidFill>
                <a:latin typeface="Consolas"/>
                <a:ea typeface="Inter"/>
              </a:rPr>
              <a:t>'</a:t>
            </a:r>
            <a:r>
              <a:rPr lang="en-US" sz="1200" dirty="0" err="1">
                <a:solidFill>
                  <a:srgbClr val="001080"/>
                </a:solidFill>
                <a:latin typeface="Consolas"/>
                <a:ea typeface="Inter"/>
              </a:rPr>
              <a:t>HR_dataset</a:t>
            </a:r>
            <a:r>
              <a:rPr lang="en-US" sz="1200" dirty="0">
                <a:solidFill>
                  <a:srgbClr val="001080"/>
                </a:solidFill>
                <a:latin typeface="Consolas"/>
                <a:ea typeface="Inter"/>
              </a:rPr>
              <a:t>'[Leave Date]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) || </a:t>
            </a:r>
            <a:r>
              <a:rPr lang="en-US" sz="1200" dirty="0">
                <a:solidFill>
                  <a:srgbClr val="001080"/>
                </a:solidFill>
                <a:latin typeface="Consolas"/>
                <a:ea typeface="Inter"/>
              </a:rPr>
              <a:t>'</a:t>
            </a:r>
            <a:r>
              <a:rPr lang="en-US" sz="1200" dirty="0" err="1">
                <a:solidFill>
                  <a:srgbClr val="001080"/>
                </a:solidFill>
                <a:latin typeface="Consolas"/>
                <a:ea typeface="Inter"/>
              </a:rPr>
              <a:t>HR_dataset</a:t>
            </a:r>
            <a:r>
              <a:rPr lang="en-US" sz="1200" dirty="0">
                <a:solidFill>
                  <a:srgbClr val="001080"/>
                </a:solidFill>
                <a:latin typeface="Consolas"/>
                <a:ea typeface="Inter"/>
              </a:rPr>
              <a:t>'[Leave Date]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 &gt; </a:t>
            </a:r>
            <a:r>
              <a:rPr lang="en-US" sz="1200" dirty="0" err="1">
                <a:solidFill>
                  <a:srgbClr val="008080"/>
                </a:solidFill>
                <a:latin typeface="Consolas"/>
                <a:ea typeface="Inter"/>
              </a:rPr>
              <a:t>EndDate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)</a:t>
            </a:r>
            <a:endParaRPr lang="en-US" sz="1200" dirty="0">
              <a:ea typeface="Inter"/>
            </a:endParaRPr>
          </a:p>
          <a:p>
            <a:pPr marL="457200" lvl="1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        ),</a:t>
            </a:r>
            <a:endParaRPr lang="en-US" sz="1200" dirty="0">
              <a:ea typeface="Inter"/>
            </a:endParaRPr>
          </a:p>
          <a:p>
            <a:pPr marL="457200" lvl="1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        </a:t>
            </a:r>
            <a:r>
              <a:rPr lang="en-US" sz="1200" dirty="0">
                <a:solidFill>
                  <a:srgbClr val="A31515"/>
                </a:solidFill>
                <a:latin typeface="Consolas"/>
                <a:ea typeface="Inter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onsolas"/>
                <a:ea typeface="Inter"/>
              </a:rPr>
              <a:t>TenureCategory</a:t>
            </a:r>
            <a:r>
              <a:rPr lang="en-US" sz="1200" dirty="0">
                <a:solidFill>
                  <a:srgbClr val="A31515"/>
                </a:solidFill>
                <a:latin typeface="Consolas"/>
                <a:ea typeface="Inter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,</a:t>
            </a:r>
            <a:endParaRPr lang="en-US" sz="1200" dirty="0">
              <a:ea typeface="Inter"/>
            </a:endParaRPr>
          </a:p>
          <a:p>
            <a:pPr marL="457200" lvl="1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        </a:t>
            </a:r>
            <a:r>
              <a:rPr lang="en-US" sz="1200" dirty="0">
                <a:solidFill>
                  <a:srgbClr val="3165BB"/>
                </a:solidFill>
                <a:latin typeface="Consolas"/>
                <a:ea typeface="Inter"/>
              </a:rPr>
              <a:t>SWITCH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endParaRPr lang="en-US" sz="1200" dirty="0">
              <a:ea typeface="Inter"/>
            </a:endParaRPr>
          </a:p>
          <a:p>
            <a:pPr marL="457200" lvl="1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            </a:t>
            </a:r>
            <a:r>
              <a:rPr lang="en-US" sz="1200" dirty="0">
                <a:solidFill>
                  <a:srgbClr val="3165BB"/>
                </a:solidFill>
                <a:latin typeface="Consolas"/>
                <a:ea typeface="Inter"/>
              </a:rPr>
              <a:t>TRUE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(),</a:t>
            </a:r>
            <a:endParaRPr lang="en-US" sz="1200" dirty="0">
              <a:ea typeface="Inter"/>
            </a:endParaRPr>
          </a:p>
          <a:p>
            <a:pPr marL="457200" lvl="1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            </a:t>
            </a:r>
            <a:r>
              <a:rPr lang="en-US" sz="1200" dirty="0">
                <a:solidFill>
                  <a:srgbClr val="3165BB"/>
                </a:solidFill>
                <a:latin typeface="Consolas"/>
                <a:ea typeface="Inter"/>
              </a:rPr>
              <a:t>DATEDIFF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r>
              <a:rPr lang="en-US" sz="1200" dirty="0">
                <a:solidFill>
                  <a:srgbClr val="001080"/>
                </a:solidFill>
                <a:latin typeface="Consolas"/>
                <a:ea typeface="Inter"/>
              </a:rPr>
              <a:t>'</a:t>
            </a:r>
            <a:r>
              <a:rPr lang="en-US" sz="1200" dirty="0" err="1">
                <a:solidFill>
                  <a:srgbClr val="001080"/>
                </a:solidFill>
                <a:latin typeface="Consolas"/>
                <a:ea typeface="Inter"/>
              </a:rPr>
              <a:t>HR_dataset</a:t>
            </a:r>
            <a:r>
              <a:rPr lang="en-US" sz="1200" dirty="0">
                <a:solidFill>
                  <a:srgbClr val="001080"/>
                </a:solidFill>
                <a:latin typeface="Consolas"/>
                <a:ea typeface="Inter"/>
              </a:rPr>
              <a:t>'[Hire Date]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, </a:t>
            </a:r>
            <a:r>
              <a:rPr lang="en-US" sz="1200" dirty="0" err="1">
                <a:solidFill>
                  <a:srgbClr val="008080"/>
                </a:solidFill>
                <a:latin typeface="Consolas"/>
                <a:ea typeface="Inter"/>
              </a:rPr>
              <a:t>EndDate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, </a:t>
            </a:r>
            <a:r>
              <a:rPr lang="en-US" sz="1200" dirty="0">
                <a:solidFill>
                  <a:srgbClr val="3165BB"/>
                </a:solidFill>
                <a:latin typeface="Consolas"/>
                <a:ea typeface="Inter"/>
              </a:rPr>
              <a:t>YEAR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) &lt; </a:t>
            </a:r>
            <a:r>
              <a:rPr lang="en-US" sz="1200" dirty="0">
                <a:solidFill>
                  <a:srgbClr val="098658"/>
                </a:solidFill>
                <a:latin typeface="Consolas"/>
                <a:ea typeface="Inter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/>
                <a:ea typeface="Inter"/>
              </a:rPr>
              <a:t>"0-1 Years"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,</a:t>
            </a:r>
            <a:endParaRPr lang="en-US" sz="1200" dirty="0">
              <a:ea typeface="Inter"/>
            </a:endParaRPr>
          </a:p>
          <a:p>
            <a:pPr marL="457200" lvl="1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            </a:t>
            </a:r>
            <a:r>
              <a:rPr lang="en-US" sz="1200" dirty="0">
                <a:solidFill>
                  <a:srgbClr val="3165BB"/>
                </a:solidFill>
                <a:latin typeface="Consolas"/>
                <a:ea typeface="Inter"/>
              </a:rPr>
              <a:t>DATEDIFF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r>
              <a:rPr lang="en-US" sz="1200" dirty="0">
                <a:solidFill>
                  <a:srgbClr val="001080"/>
                </a:solidFill>
                <a:latin typeface="Consolas"/>
                <a:ea typeface="Inter"/>
              </a:rPr>
              <a:t>'</a:t>
            </a:r>
            <a:r>
              <a:rPr lang="en-US" sz="1200" dirty="0" err="1">
                <a:solidFill>
                  <a:srgbClr val="001080"/>
                </a:solidFill>
                <a:latin typeface="Consolas"/>
                <a:ea typeface="Inter"/>
              </a:rPr>
              <a:t>HR_dataset</a:t>
            </a:r>
            <a:r>
              <a:rPr lang="en-US" sz="1200" dirty="0">
                <a:solidFill>
                  <a:srgbClr val="001080"/>
                </a:solidFill>
                <a:latin typeface="Consolas"/>
                <a:ea typeface="Inter"/>
              </a:rPr>
              <a:t>'[Hire Date]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, </a:t>
            </a:r>
            <a:r>
              <a:rPr lang="en-US" sz="1200" dirty="0" err="1">
                <a:solidFill>
                  <a:srgbClr val="008080"/>
                </a:solidFill>
                <a:latin typeface="Consolas"/>
                <a:ea typeface="Inter"/>
              </a:rPr>
              <a:t>EndDate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, </a:t>
            </a:r>
            <a:r>
              <a:rPr lang="en-US" sz="1200" dirty="0">
                <a:solidFill>
                  <a:srgbClr val="3165BB"/>
                </a:solidFill>
                <a:latin typeface="Consolas"/>
                <a:ea typeface="Inter"/>
              </a:rPr>
              <a:t>YEAR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) &gt;= </a:t>
            </a:r>
            <a:r>
              <a:rPr lang="en-US" sz="1200" dirty="0">
                <a:solidFill>
                  <a:srgbClr val="098658"/>
                </a:solidFill>
                <a:latin typeface="Consolas"/>
                <a:ea typeface="Inter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 &amp;&amp; </a:t>
            </a:r>
            <a:r>
              <a:rPr lang="en-US" sz="1200" dirty="0">
                <a:solidFill>
                  <a:srgbClr val="3165BB"/>
                </a:solidFill>
                <a:latin typeface="Consolas"/>
                <a:ea typeface="Inter"/>
              </a:rPr>
              <a:t>DATEDIFF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r>
              <a:rPr lang="en-US" sz="1200" dirty="0">
                <a:solidFill>
                  <a:srgbClr val="001080"/>
                </a:solidFill>
                <a:latin typeface="Consolas"/>
                <a:ea typeface="Inter"/>
              </a:rPr>
              <a:t>'</a:t>
            </a:r>
            <a:r>
              <a:rPr lang="en-US" sz="1200" dirty="0" err="1">
                <a:solidFill>
                  <a:srgbClr val="001080"/>
                </a:solidFill>
                <a:latin typeface="Consolas"/>
                <a:ea typeface="Inter"/>
              </a:rPr>
              <a:t>HR_dataset</a:t>
            </a:r>
            <a:r>
              <a:rPr lang="en-US" sz="1200" dirty="0">
                <a:solidFill>
                  <a:srgbClr val="001080"/>
                </a:solidFill>
                <a:latin typeface="Consolas"/>
                <a:ea typeface="Inter"/>
              </a:rPr>
              <a:t>'[Hire Date]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, </a:t>
            </a:r>
            <a:r>
              <a:rPr lang="en-US" sz="1200" dirty="0" err="1">
                <a:solidFill>
                  <a:srgbClr val="008080"/>
                </a:solidFill>
                <a:latin typeface="Consolas"/>
                <a:ea typeface="Inter"/>
              </a:rPr>
              <a:t>EndDate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, </a:t>
            </a:r>
            <a:r>
              <a:rPr lang="en-US" sz="1200" dirty="0">
                <a:solidFill>
                  <a:srgbClr val="3165BB"/>
                </a:solidFill>
                <a:latin typeface="Consolas"/>
                <a:ea typeface="Inter"/>
              </a:rPr>
              <a:t>YEAR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) &lt; </a:t>
            </a:r>
            <a:r>
              <a:rPr lang="en-US" sz="1200" dirty="0">
                <a:solidFill>
                  <a:srgbClr val="098658"/>
                </a:solidFill>
                <a:latin typeface="Consolas"/>
                <a:ea typeface="Inter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/>
                <a:ea typeface="Inter"/>
              </a:rPr>
              <a:t>"1-3 Years"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,</a:t>
            </a:r>
            <a:endParaRPr lang="en-US" sz="1200" dirty="0">
              <a:ea typeface="Inter"/>
            </a:endParaRPr>
          </a:p>
          <a:p>
            <a:pPr marL="457200" lvl="1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            </a:t>
            </a:r>
            <a:r>
              <a:rPr lang="en-US" sz="1200" dirty="0">
                <a:solidFill>
                  <a:srgbClr val="3165BB"/>
                </a:solidFill>
                <a:latin typeface="Consolas"/>
                <a:ea typeface="Inter"/>
              </a:rPr>
              <a:t>DATEDIFF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r>
              <a:rPr lang="en-US" sz="1200" dirty="0">
                <a:solidFill>
                  <a:srgbClr val="001080"/>
                </a:solidFill>
                <a:latin typeface="Consolas"/>
                <a:ea typeface="Inter"/>
              </a:rPr>
              <a:t>'</a:t>
            </a:r>
            <a:r>
              <a:rPr lang="en-US" sz="1200" dirty="0" err="1">
                <a:solidFill>
                  <a:srgbClr val="001080"/>
                </a:solidFill>
                <a:latin typeface="Consolas"/>
                <a:ea typeface="Inter"/>
              </a:rPr>
              <a:t>HR_dataset</a:t>
            </a:r>
            <a:r>
              <a:rPr lang="en-US" sz="1200" dirty="0">
                <a:solidFill>
                  <a:srgbClr val="001080"/>
                </a:solidFill>
                <a:latin typeface="Consolas"/>
                <a:ea typeface="Inter"/>
              </a:rPr>
              <a:t>'[Hire Date]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, </a:t>
            </a:r>
            <a:r>
              <a:rPr lang="en-US" sz="1200" dirty="0" err="1">
                <a:solidFill>
                  <a:srgbClr val="008080"/>
                </a:solidFill>
                <a:latin typeface="Consolas"/>
                <a:ea typeface="Inter"/>
              </a:rPr>
              <a:t>EndDate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, </a:t>
            </a:r>
            <a:r>
              <a:rPr lang="en-US" sz="1200" dirty="0">
                <a:solidFill>
                  <a:srgbClr val="3165BB"/>
                </a:solidFill>
                <a:latin typeface="Consolas"/>
                <a:ea typeface="Inter"/>
              </a:rPr>
              <a:t>YEAR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) &gt;= </a:t>
            </a:r>
            <a:r>
              <a:rPr lang="en-US" sz="1200" dirty="0">
                <a:solidFill>
                  <a:srgbClr val="098658"/>
                </a:solidFill>
                <a:latin typeface="Consolas"/>
                <a:ea typeface="Inter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 &amp;&amp; </a:t>
            </a:r>
            <a:r>
              <a:rPr lang="en-US" sz="1200" dirty="0">
                <a:solidFill>
                  <a:srgbClr val="3165BB"/>
                </a:solidFill>
                <a:latin typeface="Consolas"/>
                <a:ea typeface="Inter"/>
              </a:rPr>
              <a:t>DATEDIFF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r>
              <a:rPr lang="en-US" sz="1200" dirty="0">
                <a:solidFill>
                  <a:srgbClr val="001080"/>
                </a:solidFill>
                <a:latin typeface="Consolas"/>
                <a:ea typeface="Inter"/>
              </a:rPr>
              <a:t>'</a:t>
            </a:r>
            <a:r>
              <a:rPr lang="en-US" sz="1200" dirty="0" err="1">
                <a:solidFill>
                  <a:srgbClr val="001080"/>
                </a:solidFill>
                <a:latin typeface="Consolas"/>
                <a:ea typeface="Inter"/>
              </a:rPr>
              <a:t>HR_dataset</a:t>
            </a:r>
            <a:r>
              <a:rPr lang="en-US" sz="1200" dirty="0">
                <a:solidFill>
                  <a:srgbClr val="001080"/>
                </a:solidFill>
                <a:latin typeface="Consolas"/>
                <a:ea typeface="Inter"/>
              </a:rPr>
              <a:t>'[Hire Date]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, </a:t>
            </a:r>
            <a:r>
              <a:rPr lang="en-US" sz="1200" dirty="0" err="1">
                <a:solidFill>
                  <a:srgbClr val="008080"/>
                </a:solidFill>
                <a:latin typeface="Consolas"/>
                <a:ea typeface="Inter"/>
              </a:rPr>
              <a:t>EndDate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, </a:t>
            </a:r>
            <a:r>
              <a:rPr lang="en-US" sz="1200" dirty="0">
                <a:solidFill>
                  <a:srgbClr val="3165BB"/>
                </a:solidFill>
                <a:latin typeface="Consolas"/>
                <a:ea typeface="Inter"/>
              </a:rPr>
              <a:t>YEAR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) &lt; </a:t>
            </a:r>
            <a:r>
              <a:rPr lang="en-US" sz="1200" dirty="0">
                <a:solidFill>
                  <a:srgbClr val="098658"/>
                </a:solidFill>
                <a:latin typeface="Consolas"/>
                <a:ea typeface="Inter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/>
                <a:ea typeface="Inter"/>
              </a:rPr>
              <a:t>"3-5 Years"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,</a:t>
            </a:r>
            <a:endParaRPr lang="en-US" sz="1200" dirty="0">
              <a:ea typeface="Inter"/>
            </a:endParaRPr>
          </a:p>
          <a:p>
            <a:pPr marL="457200" lvl="1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            </a:t>
            </a:r>
            <a:r>
              <a:rPr lang="en-US" sz="1200" dirty="0">
                <a:solidFill>
                  <a:srgbClr val="3165BB"/>
                </a:solidFill>
                <a:latin typeface="Consolas"/>
                <a:ea typeface="Inter"/>
              </a:rPr>
              <a:t>DATEDIFF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r>
              <a:rPr lang="en-US" sz="1200" dirty="0">
                <a:solidFill>
                  <a:srgbClr val="001080"/>
                </a:solidFill>
                <a:latin typeface="Consolas"/>
                <a:ea typeface="Inter"/>
              </a:rPr>
              <a:t>'</a:t>
            </a:r>
            <a:r>
              <a:rPr lang="en-US" sz="1200" dirty="0" err="1">
                <a:solidFill>
                  <a:srgbClr val="001080"/>
                </a:solidFill>
                <a:latin typeface="Consolas"/>
                <a:ea typeface="Inter"/>
              </a:rPr>
              <a:t>HR_dataset</a:t>
            </a:r>
            <a:r>
              <a:rPr lang="en-US" sz="1200" dirty="0">
                <a:solidFill>
                  <a:srgbClr val="001080"/>
                </a:solidFill>
                <a:latin typeface="Consolas"/>
                <a:ea typeface="Inter"/>
              </a:rPr>
              <a:t>'[Hire Date]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, </a:t>
            </a:r>
            <a:r>
              <a:rPr lang="en-US" sz="1200" dirty="0" err="1">
                <a:solidFill>
                  <a:srgbClr val="008080"/>
                </a:solidFill>
                <a:latin typeface="Consolas"/>
                <a:ea typeface="Inter"/>
              </a:rPr>
              <a:t>EndDate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, </a:t>
            </a:r>
            <a:r>
              <a:rPr lang="en-US" sz="1200" dirty="0">
                <a:solidFill>
                  <a:srgbClr val="3165BB"/>
                </a:solidFill>
                <a:latin typeface="Consolas"/>
                <a:ea typeface="Inter"/>
              </a:rPr>
              <a:t>YEAR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) &gt;= </a:t>
            </a:r>
            <a:r>
              <a:rPr lang="en-US" sz="1200" dirty="0">
                <a:solidFill>
                  <a:srgbClr val="098658"/>
                </a:solidFill>
                <a:latin typeface="Consolas"/>
                <a:ea typeface="Inter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/>
                <a:ea typeface="Inter"/>
              </a:rPr>
              <a:t>"5+ Years"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,</a:t>
            </a:r>
            <a:endParaRPr lang="en-US" sz="1200" dirty="0">
              <a:ea typeface="Inter"/>
            </a:endParaRPr>
          </a:p>
          <a:p>
            <a:pPr marL="457200" lvl="1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            </a:t>
            </a:r>
            <a:r>
              <a:rPr lang="en-US" sz="1200" dirty="0">
                <a:solidFill>
                  <a:srgbClr val="A31515"/>
                </a:solidFill>
                <a:latin typeface="Consolas"/>
                <a:ea typeface="Inter"/>
              </a:rPr>
              <a:t>"Unknown"</a:t>
            </a:r>
            <a:endParaRPr lang="en-US" sz="1200" dirty="0">
              <a:ea typeface="Inter"/>
            </a:endParaRPr>
          </a:p>
          <a:p>
            <a:pPr marL="457200" lvl="1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        )</a:t>
            </a:r>
            <a:endParaRPr lang="en-US" sz="1200" dirty="0">
              <a:ea typeface="Inter"/>
            </a:endParaRPr>
          </a:p>
          <a:p>
            <a:pPr marL="457200" lvl="1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    )</a:t>
            </a:r>
            <a:endParaRPr lang="en-US" sz="1200" dirty="0">
              <a:ea typeface="Inter"/>
            </a:endParaRP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  <a:latin typeface="Consolas"/>
                <a:ea typeface="Inter"/>
              </a:rPr>
              <a:t>RETURN</a:t>
            </a:r>
            <a:endParaRPr lang="en-US" sz="1200" dirty="0">
              <a:ea typeface="Inter"/>
            </a:endParaRPr>
          </a:p>
          <a:p>
            <a:pPr marL="457200" lvl="1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    </a:t>
            </a:r>
            <a:r>
              <a:rPr lang="en-US" sz="1200" dirty="0">
                <a:solidFill>
                  <a:srgbClr val="3165BB"/>
                </a:solidFill>
                <a:latin typeface="Consolas"/>
                <a:ea typeface="Inter"/>
              </a:rPr>
              <a:t>COUNTROWS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endParaRPr lang="en-US" sz="1200" dirty="0">
              <a:ea typeface="Inter"/>
            </a:endParaRPr>
          </a:p>
          <a:p>
            <a:pPr marL="457200" lvl="1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        </a:t>
            </a:r>
            <a:r>
              <a:rPr lang="en-US" sz="1200" dirty="0">
                <a:solidFill>
                  <a:srgbClr val="3165BB"/>
                </a:solidFill>
                <a:latin typeface="Consolas"/>
                <a:ea typeface="Inter"/>
              </a:rPr>
              <a:t>FILTER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endParaRPr lang="en-US" sz="1200" dirty="0">
              <a:ea typeface="Inter"/>
            </a:endParaRPr>
          </a:p>
          <a:p>
            <a:pPr marL="457200" lvl="1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            </a:t>
            </a:r>
            <a:r>
              <a:rPr lang="en-US" sz="1200" dirty="0" err="1">
                <a:solidFill>
                  <a:srgbClr val="008080"/>
                </a:solidFill>
                <a:latin typeface="Consolas"/>
                <a:ea typeface="Inter"/>
              </a:rPr>
              <a:t>TenureGroups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,</a:t>
            </a:r>
            <a:endParaRPr lang="en-US" sz="1200" dirty="0">
              <a:ea typeface="Inter"/>
            </a:endParaRPr>
          </a:p>
          <a:p>
            <a:pPr marL="457200" lvl="1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            </a:t>
            </a:r>
            <a:r>
              <a:rPr lang="en-US" sz="1200" dirty="0">
                <a:solidFill>
                  <a:srgbClr val="001080"/>
                </a:solidFill>
                <a:latin typeface="Consolas"/>
                <a:ea typeface="Inter"/>
              </a:rPr>
              <a:t>[</a:t>
            </a:r>
            <a:r>
              <a:rPr lang="en-US" sz="1200" dirty="0" err="1">
                <a:solidFill>
                  <a:srgbClr val="001080"/>
                </a:solidFill>
                <a:latin typeface="Consolas"/>
                <a:ea typeface="Inter"/>
              </a:rPr>
              <a:t>TenureCategory</a:t>
            </a:r>
            <a:r>
              <a:rPr lang="en-US" sz="1200" dirty="0">
                <a:solidFill>
                  <a:srgbClr val="001080"/>
                </a:solidFill>
                <a:latin typeface="Consolas"/>
                <a:ea typeface="Inter"/>
              </a:rPr>
              <a:t>]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 = </a:t>
            </a:r>
            <a:r>
              <a:rPr lang="en-US" sz="1200" dirty="0">
                <a:solidFill>
                  <a:srgbClr val="3165BB"/>
                </a:solidFill>
                <a:latin typeface="Consolas"/>
                <a:ea typeface="Inter"/>
              </a:rPr>
              <a:t>SELECTEDVALUE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r>
              <a:rPr lang="en-US" sz="1200" dirty="0">
                <a:solidFill>
                  <a:srgbClr val="001080"/>
                </a:solidFill>
                <a:latin typeface="Consolas"/>
                <a:ea typeface="Inter"/>
              </a:rPr>
              <a:t>'Tenure Groups Table'[Tenure Group]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Inter"/>
              </a:rPr>
              <a:t>)))</a:t>
            </a:r>
            <a:br>
              <a:rPr lang="en-US" dirty="0"/>
            </a:br>
            <a:endParaRPr lang="en-US" dirty="0"/>
          </a:p>
          <a:p>
            <a:pPr marL="1143000" lvl="1">
              <a:lnSpc>
                <a:spcPct val="150000"/>
              </a:lnSpc>
              <a:buClr>
                <a:srgbClr val="121212"/>
              </a:buClr>
            </a:pPr>
            <a:endParaRPr lang="en-US" sz="2000" dirty="0"/>
          </a:p>
          <a:p>
            <a:pPr marL="628650" indent="-342900">
              <a:lnSpc>
                <a:spcPct val="150000"/>
              </a:lnSpc>
              <a:buClr>
                <a:srgbClr val="121212"/>
              </a:buClr>
            </a:pPr>
            <a:endParaRPr lang="en-US" sz="2000" dirty="0"/>
          </a:p>
          <a:p>
            <a:pPr marL="142875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endParaRPr lang="en-US" sz="2000" dirty="0"/>
          </a:p>
          <a:p>
            <a:pPr marL="142875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endParaRPr lang="en-US" sz="2000" dirty="0"/>
          </a:p>
          <a:p>
            <a:pPr marL="514350">
              <a:lnSpc>
                <a:spcPct val="150000"/>
              </a:lnSpc>
              <a:buClr>
                <a:srgbClr val="121212"/>
              </a:buClr>
            </a:pPr>
            <a:endParaRPr lang="en-US" sz="2000" dirty="0"/>
          </a:p>
          <a:p>
            <a:pPr marL="514350">
              <a:lnSpc>
                <a:spcPct val="150000"/>
              </a:lnSpc>
              <a:buClr>
                <a:srgbClr val="121212"/>
              </a:buClr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43309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B48D9-37EF-87B3-9301-28F1C629B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33F06-2AB6-79CC-EB7E-1D6901803E1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63B8A8A-8989-55BB-98A0-1F64CFD870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336" y="2675333"/>
            <a:ext cx="6575007" cy="357043"/>
          </a:xfrm>
        </p:spPr>
        <p:txBody>
          <a:bodyPr/>
          <a:lstStyle/>
          <a:p>
            <a:r>
              <a:rPr lang="en-US" err="1"/>
              <a:t>Lõunapaus</a:t>
            </a:r>
            <a:r>
              <a:rPr lang="en-US"/>
              <a:t> 12:15-13:15</a:t>
            </a:r>
          </a:p>
        </p:txBody>
      </p:sp>
    </p:spTree>
    <p:extLst>
      <p:ext uri="{BB962C8B-B14F-4D97-AF65-F5344CB8AC3E}">
        <p14:creationId xmlns:p14="http://schemas.microsoft.com/office/powerpoint/2010/main" val="587349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741D2-600B-2E5C-3C40-39420DA9A9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b="1" err="1">
                <a:ea typeface="+mj-lt"/>
                <a:cs typeface="+mj-lt"/>
              </a:rPr>
              <a:t>Lahkunud</a:t>
            </a:r>
            <a:r>
              <a:rPr lang="en-US" sz="2800" b="1">
                <a:ea typeface="+mj-lt"/>
                <a:cs typeface="+mj-lt"/>
              </a:rPr>
              <a:t> </a:t>
            </a:r>
            <a:r>
              <a:rPr lang="en-US" sz="2800" b="1" err="1">
                <a:ea typeface="+mj-lt"/>
                <a:cs typeface="+mj-lt"/>
              </a:rPr>
              <a:t>töötajate</a:t>
            </a:r>
            <a:r>
              <a:rPr lang="en-US" sz="2800" b="1">
                <a:ea typeface="+mj-lt"/>
                <a:cs typeface="+mj-lt"/>
              </a:rPr>
              <a:t> </a:t>
            </a:r>
            <a:r>
              <a:rPr lang="en-US" sz="2800" b="1" err="1">
                <a:ea typeface="+mj-lt"/>
                <a:cs typeface="+mj-lt"/>
              </a:rPr>
              <a:t>arv</a:t>
            </a:r>
            <a:r>
              <a:rPr lang="en-US" sz="2800" b="1">
                <a:ea typeface="+mj-lt"/>
                <a:cs typeface="+mj-lt"/>
              </a:rPr>
              <a:t> </a:t>
            </a:r>
            <a:r>
              <a:rPr lang="en-US" sz="2800" b="1" err="1">
                <a:ea typeface="+mj-lt"/>
                <a:cs typeface="+mj-lt"/>
              </a:rPr>
              <a:t>lahkumise</a:t>
            </a:r>
            <a:r>
              <a:rPr lang="en-US" sz="2800" b="1">
                <a:ea typeface="+mj-lt"/>
                <a:cs typeface="+mj-lt"/>
              </a:rPr>
              <a:t> </a:t>
            </a:r>
            <a:r>
              <a:rPr lang="en-US" sz="2800" b="1" err="1">
                <a:ea typeface="+mj-lt"/>
                <a:cs typeface="+mj-lt"/>
              </a:rPr>
              <a:t>põhjuse</a:t>
            </a:r>
            <a:r>
              <a:rPr lang="en-US" sz="2800" b="1">
                <a:ea typeface="+mj-lt"/>
                <a:cs typeface="+mj-lt"/>
              </a:rPr>
              <a:t> </a:t>
            </a:r>
            <a:r>
              <a:rPr lang="en-US" sz="2800" b="1" err="1">
                <a:ea typeface="+mj-lt"/>
                <a:cs typeface="+mj-lt"/>
              </a:rPr>
              <a:t>kaupa</a:t>
            </a:r>
            <a:endParaRPr lang="en-US" sz="2800" err="1">
              <a:solidFill>
                <a:srgbClr val="000000"/>
              </a:solidFill>
              <a:ea typeface="+mj-lt"/>
              <a:cs typeface="+mj-lt"/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6B835-68AB-ECF1-B70B-EDF27B0BEB5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lnSpc>
                <a:spcPct val="100000"/>
              </a:lnSpc>
              <a:buFont typeface="Arial,Sans-Serif" panose="020B0502030000000004" pitchFamily="34" charset="0"/>
              <a:buChar char="•"/>
            </a:pPr>
            <a:r>
              <a:rPr lang="en-US" sz="1800" err="1">
                <a:ea typeface="Inter"/>
              </a:rPr>
              <a:t>Mõõdik</a:t>
            </a:r>
            <a:r>
              <a:rPr lang="en-US" sz="1800">
                <a:ea typeface="Inter"/>
              </a:rPr>
              <a:t>: </a:t>
            </a:r>
          </a:p>
          <a:p>
            <a:pPr>
              <a:lnSpc>
                <a:spcPct val="100000"/>
              </a:lnSpc>
            </a:pPr>
            <a:endParaRPr lang="en-US" sz="1800"/>
          </a:p>
          <a:p>
            <a:pPr marL="0" indent="0">
              <a:lnSpc>
                <a:spcPct val="10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Inter"/>
              </a:rPr>
              <a:t>  Left Employees = </a:t>
            </a:r>
            <a:endParaRPr lang="en-US" sz="2000">
              <a:latin typeface="Consolas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>
                <a:solidFill>
                  <a:srgbClr val="3165BB"/>
                </a:solidFill>
                <a:latin typeface="Consolas"/>
              </a:rPr>
              <a:t>CALCULATE</a:t>
            </a:r>
            <a:r>
              <a:rPr lang="en-US" sz="2000">
                <a:solidFill>
                  <a:srgbClr val="000000"/>
                </a:solidFill>
                <a:latin typeface="Consolas"/>
              </a:rPr>
              <a:t>(</a:t>
            </a:r>
            <a:endParaRPr lang="en-US" sz="2000">
              <a:latin typeface="Consolas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Inter"/>
              </a:rPr>
              <a:t>    </a:t>
            </a:r>
            <a:r>
              <a:rPr lang="en-US" sz="2000">
                <a:solidFill>
                  <a:srgbClr val="3165BB"/>
                </a:solidFill>
                <a:latin typeface="Consolas"/>
                <a:ea typeface="Inter"/>
              </a:rPr>
              <a:t>COUNTROWS</a:t>
            </a:r>
            <a:r>
              <a:rPr lang="en-US" sz="200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Inter"/>
              </a:rPr>
              <a:t>'</a:t>
            </a:r>
            <a:r>
              <a:rPr lang="en-US" sz="2000" err="1">
                <a:solidFill>
                  <a:srgbClr val="001080"/>
                </a:solidFill>
                <a:latin typeface="Consolas"/>
                <a:ea typeface="Inter"/>
              </a:rPr>
              <a:t>HR_dataset</a:t>
            </a:r>
            <a:r>
              <a:rPr lang="en-US" sz="2000">
                <a:solidFill>
                  <a:srgbClr val="001080"/>
                </a:solidFill>
                <a:latin typeface="Consolas"/>
                <a:ea typeface="Inter"/>
              </a:rPr>
              <a:t>'</a:t>
            </a:r>
            <a:r>
              <a:rPr lang="en-US" sz="2000">
                <a:solidFill>
                  <a:srgbClr val="000000"/>
                </a:solidFill>
                <a:latin typeface="Consolas"/>
                <a:ea typeface="Inter"/>
              </a:rPr>
              <a:t>),</a:t>
            </a:r>
            <a:endParaRPr lang="en-US" sz="2000">
              <a:latin typeface="Consolas"/>
              <a:ea typeface="Inter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Inter"/>
              </a:rPr>
              <a:t>    </a:t>
            </a:r>
            <a:r>
              <a:rPr lang="en-US" sz="2000">
                <a:solidFill>
                  <a:srgbClr val="001080"/>
                </a:solidFill>
                <a:latin typeface="Consolas"/>
                <a:ea typeface="Inter"/>
              </a:rPr>
              <a:t>'</a:t>
            </a:r>
            <a:r>
              <a:rPr lang="en-US" sz="2000" err="1">
                <a:solidFill>
                  <a:srgbClr val="001080"/>
                </a:solidFill>
                <a:latin typeface="Consolas"/>
                <a:ea typeface="Inter"/>
              </a:rPr>
              <a:t>HR_dataset</a:t>
            </a:r>
            <a:r>
              <a:rPr lang="en-US" sz="2000">
                <a:solidFill>
                  <a:srgbClr val="001080"/>
                </a:solidFill>
                <a:latin typeface="Consolas"/>
                <a:ea typeface="Inter"/>
              </a:rPr>
              <a:t>'[Leave Date]</a:t>
            </a:r>
            <a:r>
              <a:rPr lang="en-US" sz="2000">
                <a:solidFill>
                  <a:srgbClr val="000000"/>
                </a:solidFill>
                <a:latin typeface="Consolas"/>
                <a:ea typeface="Inter"/>
              </a:rPr>
              <a:t> &gt;= </a:t>
            </a:r>
            <a:r>
              <a:rPr lang="en-US" sz="2000">
                <a:solidFill>
                  <a:srgbClr val="3165BB"/>
                </a:solidFill>
                <a:latin typeface="Consolas"/>
                <a:ea typeface="Inter"/>
              </a:rPr>
              <a:t>MIN</a:t>
            </a:r>
            <a:r>
              <a:rPr lang="en-US" sz="200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Inter"/>
              </a:rPr>
              <a:t>'</a:t>
            </a:r>
            <a:r>
              <a:rPr lang="en-US" sz="2000" err="1">
                <a:solidFill>
                  <a:srgbClr val="001080"/>
                </a:solidFill>
                <a:latin typeface="Consolas"/>
                <a:ea typeface="Inter"/>
              </a:rPr>
              <a:t>DateTable</a:t>
            </a:r>
            <a:r>
              <a:rPr lang="en-US" sz="2000">
                <a:solidFill>
                  <a:srgbClr val="001080"/>
                </a:solidFill>
                <a:latin typeface="Consolas"/>
                <a:ea typeface="Inter"/>
              </a:rPr>
              <a:t>'[Date]</a:t>
            </a:r>
            <a:r>
              <a:rPr lang="en-US" sz="2000">
                <a:solidFill>
                  <a:srgbClr val="000000"/>
                </a:solidFill>
                <a:latin typeface="Consolas"/>
                <a:ea typeface="Inter"/>
              </a:rPr>
              <a:t>),</a:t>
            </a:r>
            <a:endParaRPr lang="en-US" sz="2000">
              <a:latin typeface="Consolas"/>
              <a:ea typeface="Inter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Inter"/>
              </a:rPr>
              <a:t>    </a:t>
            </a:r>
            <a:r>
              <a:rPr lang="en-US" sz="2000">
                <a:solidFill>
                  <a:srgbClr val="001080"/>
                </a:solidFill>
                <a:latin typeface="Consolas"/>
                <a:ea typeface="Inter"/>
              </a:rPr>
              <a:t>'</a:t>
            </a:r>
            <a:r>
              <a:rPr lang="en-US" sz="2000" err="1">
                <a:solidFill>
                  <a:srgbClr val="001080"/>
                </a:solidFill>
                <a:latin typeface="Consolas"/>
                <a:ea typeface="Inter"/>
              </a:rPr>
              <a:t>HR_dataset</a:t>
            </a:r>
            <a:r>
              <a:rPr lang="en-US" sz="2000">
                <a:solidFill>
                  <a:srgbClr val="001080"/>
                </a:solidFill>
                <a:latin typeface="Consolas"/>
                <a:ea typeface="Inter"/>
              </a:rPr>
              <a:t>'[Leave Date]</a:t>
            </a:r>
            <a:r>
              <a:rPr lang="en-US" sz="2000">
                <a:solidFill>
                  <a:srgbClr val="000000"/>
                </a:solidFill>
                <a:latin typeface="Consolas"/>
                <a:ea typeface="Inter"/>
              </a:rPr>
              <a:t> &lt;= </a:t>
            </a:r>
            <a:r>
              <a:rPr lang="en-US" sz="2000">
                <a:solidFill>
                  <a:srgbClr val="3165BB"/>
                </a:solidFill>
                <a:latin typeface="Consolas"/>
                <a:ea typeface="Inter"/>
              </a:rPr>
              <a:t>MAX</a:t>
            </a:r>
            <a:r>
              <a:rPr lang="en-US" sz="200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Inter"/>
              </a:rPr>
              <a:t>'</a:t>
            </a:r>
            <a:r>
              <a:rPr lang="en-US" sz="2000" err="1">
                <a:solidFill>
                  <a:srgbClr val="001080"/>
                </a:solidFill>
                <a:latin typeface="Consolas"/>
                <a:ea typeface="Inter"/>
              </a:rPr>
              <a:t>DateTable</a:t>
            </a:r>
            <a:r>
              <a:rPr lang="en-US" sz="2000">
                <a:solidFill>
                  <a:srgbClr val="001080"/>
                </a:solidFill>
                <a:latin typeface="Consolas"/>
                <a:ea typeface="Inter"/>
              </a:rPr>
              <a:t>'[Date]</a:t>
            </a:r>
            <a:r>
              <a:rPr lang="en-US" sz="2000">
                <a:solidFill>
                  <a:srgbClr val="000000"/>
                </a:solidFill>
                <a:latin typeface="Consolas"/>
                <a:ea typeface="Inter"/>
              </a:rPr>
              <a:t>), </a:t>
            </a:r>
            <a:endParaRPr lang="en-US" sz="2000">
              <a:latin typeface="Consolas"/>
              <a:ea typeface="Inter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Inter"/>
              </a:rPr>
              <a:t>    </a:t>
            </a:r>
            <a:r>
              <a:rPr lang="en-US" sz="2000">
                <a:solidFill>
                  <a:srgbClr val="0000FF"/>
                </a:solidFill>
                <a:latin typeface="Consolas"/>
                <a:ea typeface="Inter"/>
              </a:rPr>
              <a:t>NOT</a:t>
            </a:r>
            <a:r>
              <a:rPr lang="en-US" sz="2000">
                <a:solidFill>
                  <a:srgbClr val="000000"/>
                </a:solidFill>
                <a:latin typeface="Consolas"/>
                <a:ea typeface="Inter"/>
              </a:rPr>
              <a:t> </a:t>
            </a:r>
            <a:r>
              <a:rPr lang="en-US" sz="2000">
                <a:solidFill>
                  <a:srgbClr val="3165BB"/>
                </a:solidFill>
                <a:latin typeface="Consolas"/>
                <a:ea typeface="Inter"/>
              </a:rPr>
              <a:t>ISBLANK</a:t>
            </a:r>
            <a:r>
              <a:rPr lang="en-US" sz="200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r>
              <a:rPr lang="en-US" sz="2000" err="1">
                <a:solidFill>
                  <a:srgbClr val="001080"/>
                </a:solidFill>
                <a:latin typeface="Consolas"/>
                <a:ea typeface="Inter"/>
              </a:rPr>
              <a:t>HR_dataset</a:t>
            </a:r>
            <a:r>
              <a:rPr lang="en-US" sz="2000">
                <a:solidFill>
                  <a:srgbClr val="001080"/>
                </a:solidFill>
                <a:latin typeface="Consolas"/>
                <a:ea typeface="Inter"/>
              </a:rPr>
              <a:t>[Leave Date]</a:t>
            </a:r>
            <a:r>
              <a:rPr lang="en-US" sz="2000">
                <a:solidFill>
                  <a:srgbClr val="000000"/>
                </a:solidFill>
                <a:latin typeface="Consolas"/>
                <a:ea typeface="Inter"/>
              </a:rPr>
              <a:t>)</a:t>
            </a:r>
            <a:endParaRPr lang="en-US" sz="2000">
              <a:latin typeface="Consolas"/>
              <a:ea typeface="Inter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Inter"/>
              </a:rPr>
              <a:t> )</a:t>
            </a:r>
            <a:endParaRPr lang="en-US" sz="2000">
              <a:latin typeface="Consolas"/>
              <a:ea typeface="Inter"/>
            </a:endParaRPr>
          </a:p>
          <a:p>
            <a:pPr lvl="1">
              <a:lnSpc>
                <a:spcPct val="100000"/>
              </a:lnSpc>
            </a:pPr>
            <a:endParaRPr lang="en-US" sz="2000">
              <a:latin typeface="Consolas"/>
            </a:endParaRPr>
          </a:p>
          <a:p>
            <a:pPr marL="342900" indent="-342900">
              <a:lnSpc>
                <a:spcPct val="100000"/>
              </a:lnSpc>
              <a:buFont typeface="Arial,Sans-Serif" panose="020B0502030000000004" pitchFamily="34" charset="0"/>
              <a:buChar char="•"/>
            </a:pPr>
            <a:endParaRPr lang="en-US" sz="2000">
              <a:latin typeface="Consolas"/>
            </a:endParaRPr>
          </a:p>
          <a:p>
            <a:pPr marL="342900" indent="-342900">
              <a:lnSpc>
                <a:spcPct val="100000"/>
              </a:lnSpc>
              <a:buFont typeface="Arial,Sans-Serif" panose="020B0502030000000004" pitchFamily="34" charset="0"/>
              <a:buChar char="•"/>
            </a:pPr>
            <a:r>
              <a:rPr lang="en-US" sz="2000" err="1">
                <a:solidFill>
                  <a:srgbClr val="000000"/>
                </a:solidFill>
                <a:latin typeface="Consolas"/>
                <a:ea typeface="Inter"/>
              </a:rPr>
              <a:t>Graafiku</a:t>
            </a:r>
            <a:r>
              <a:rPr lang="en-US" sz="2000">
                <a:solidFill>
                  <a:srgbClr val="000000"/>
                </a:solidFill>
                <a:latin typeface="Consolas"/>
                <a:ea typeface="Inter"/>
              </a:rPr>
              <a:t> legendi </a:t>
            </a:r>
            <a:r>
              <a:rPr lang="en-US" sz="2000" err="1">
                <a:solidFill>
                  <a:srgbClr val="000000"/>
                </a:solidFill>
                <a:latin typeface="Consolas"/>
                <a:ea typeface="Inter"/>
              </a:rPr>
              <a:t>lahkumise</a:t>
            </a:r>
            <a:r>
              <a:rPr lang="en-US" sz="2000">
                <a:solidFill>
                  <a:srgbClr val="000000"/>
                </a:solidFill>
                <a:latin typeface="Consolas"/>
                <a:ea typeface="Inter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nsolas"/>
                <a:ea typeface="Inter"/>
              </a:rPr>
              <a:t>põhjus</a:t>
            </a:r>
            <a:endParaRPr lang="en-US" err="1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124181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FA165-250D-4525-1250-935B69B38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F9711-F4F6-415E-F6BE-C62BC9D633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b="1" err="1">
                <a:ea typeface="+mj-lt"/>
                <a:cs typeface="+mj-lt"/>
              </a:rPr>
              <a:t>Lahkunud</a:t>
            </a:r>
            <a:r>
              <a:rPr lang="en-US" sz="2800" b="1">
                <a:ea typeface="+mj-lt"/>
                <a:cs typeface="+mj-lt"/>
              </a:rPr>
              <a:t> </a:t>
            </a:r>
            <a:r>
              <a:rPr lang="en-US" sz="2800" b="1" err="1">
                <a:ea typeface="+mj-lt"/>
                <a:cs typeface="+mj-lt"/>
              </a:rPr>
              <a:t>töötajate</a:t>
            </a:r>
            <a:r>
              <a:rPr lang="en-US" sz="2800" b="1">
                <a:ea typeface="+mj-lt"/>
                <a:cs typeface="+mj-lt"/>
              </a:rPr>
              <a:t> % </a:t>
            </a:r>
            <a:endParaRPr lang="en-US" sz="2800" b="1">
              <a:solidFill>
                <a:srgbClr val="121212"/>
              </a:solidFill>
              <a:ea typeface="+mj-lt"/>
              <a:cs typeface="+mj-lt"/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97558-9A9E-7C2F-DD57-536AEEA2046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lnSpc>
                <a:spcPct val="100000"/>
              </a:lnSpc>
              <a:buFont typeface="Arial,Sans-Serif" panose="020B0502030000000004" pitchFamily="34" charset="0"/>
              <a:buChar char="•"/>
            </a:pPr>
            <a:r>
              <a:rPr lang="en-US" sz="2000" err="1">
                <a:ea typeface="Inter"/>
              </a:rPr>
              <a:t>Mõõdik</a:t>
            </a:r>
            <a:r>
              <a:rPr lang="en-US" sz="2000">
                <a:ea typeface="Inter"/>
              </a:rPr>
              <a:t>: </a:t>
            </a:r>
          </a:p>
          <a:p>
            <a:pPr>
              <a:lnSpc>
                <a:spcPct val="100000"/>
              </a:lnSpc>
            </a:pPr>
            <a:endParaRPr lang="en-US" sz="1800"/>
          </a:p>
          <a:p>
            <a:pPr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Inter"/>
              </a:rPr>
              <a:t>  Employee Turnover = </a:t>
            </a:r>
            <a:r>
              <a:rPr lang="en-US" sz="2400">
                <a:solidFill>
                  <a:srgbClr val="68349C"/>
                </a:solidFill>
                <a:latin typeface="Consolas"/>
                <a:ea typeface="Inter"/>
              </a:rPr>
              <a:t>[Left Employees]</a:t>
            </a:r>
            <a:r>
              <a:rPr lang="en-US" sz="2400">
                <a:solidFill>
                  <a:srgbClr val="000000"/>
                </a:solidFill>
                <a:latin typeface="Consolas"/>
                <a:ea typeface="Inter"/>
              </a:rPr>
              <a:t>/</a:t>
            </a:r>
            <a:r>
              <a:rPr lang="en-US" sz="2400">
                <a:solidFill>
                  <a:srgbClr val="68349C"/>
                </a:solidFill>
                <a:latin typeface="Consolas"/>
                <a:ea typeface="Inter"/>
              </a:rPr>
              <a:t>[Active Employees]</a:t>
            </a:r>
            <a:endParaRPr lang="en-US" sz="2400">
              <a:solidFill>
                <a:srgbClr val="68349C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>
              <a:solidFill>
                <a:srgbClr val="000000"/>
              </a:solidFill>
              <a:latin typeface="Consolas"/>
              <a:ea typeface="Inter"/>
            </a:endParaRPr>
          </a:p>
          <a:p>
            <a:pPr lvl="1" indent="-285750">
              <a:lnSpc>
                <a:spcPct val="100000"/>
              </a:lnSpc>
            </a:pPr>
            <a:r>
              <a:rPr lang="en-US" sz="2000" err="1">
                <a:latin typeface="Consolas"/>
                <a:ea typeface="Inter"/>
              </a:rPr>
              <a:t>Vormistada</a:t>
            </a:r>
            <a:r>
              <a:rPr lang="en-US" sz="2000">
                <a:latin typeface="Consolas"/>
                <a:ea typeface="Inter"/>
              </a:rPr>
              <a:t> %-</a:t>
            </a:r>
            <a:r>
              <a:rPr lang="en-US" sz="2000" err="1">
                <a:latin typeface="Consolas"/>
                <a:ea typeface="Inter"/>
              </a:rPr>
              <a:t>na</a:t>
            </a:r>
            <a:endParaRPr lang="en-US" sz="2000" err="1">
              <a:latin typeface="Consolas"/>
            </a:endParaRPr>
          </a:p>
          <a:p>
            <a:pPr marL="342900" indent="-342900">
              <a:lnSpc>
                <a:spcPct val="100000"/>
              </a:lnSpc>
              <a:buFont typeface="Arial,Sans-Serif" panose="020B0502030000000004" pitchFamily="34" charset="0"/>
              <a:buChar char="•"/>
            </a:pPr>
            <a:endParaRPr lang="en-US" sz="2000">
              <a:latin typeface="Consolas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n-US" sz="2000">
                <a:latin typeface="Inter"/>
                <a:ea typeface="Inter"/>
              </a:rPr>
              <a:t>Kas </a:t>
            </a:r>
            <a:r>
              <a:rPr lang="en-US" sz="2000" err="1">
                <a:latin typeface="Inter"/>
                <a:ea typeface="Inter"/>
              </a:rPr>
              <a:t>graafikute</a:t>
            </a:r>
            <a:r>
              <a:rPr lang="en-US" sz="2000">
                <a:latin typeface="Inter"/>
                <a:ea typeface="Inter"/>
              </a:rPr>
              <a:t> </a:t>
            </a:r>
            <a:r>
              <a:rPr lang="en-US" sz="2000" err="1">
                <a:latin typeface="Inter"/>
                <a:ea typeface="Inter"/>
              </a:rPr>
              <a:t>vaheline</a:t>
            </a:r>
            <a:r>
              <a:rPr lang="en-US" sz="2000">
                <a:latin typeface="Inter"/>
                <a:ea typeface="Inter"/>
              </a:rPr>
              <a:t> </a:t>
            </a:r>
            <a:r>
              <a:rPr lang="en-US" sz="2000" err="1">
                <a:latin typeface="Inter"/>
                <a:ea typeface="Inter"/>
              </a:rPr>
              <a:t>suhtlus</a:t>
            </a:r>
            <a:r>
              <a:rPr lang="en-US" sz="2000">
                <a:latin typeface="Inter"/>
                <a:ea typeface="Inter"/>
              </a:rPr>
              <a:t> </a:t>
            </a:r>
            <a:r>
              <a:rPr lang="en-US" sz="2000" err="1">
                <a:latin typeface="Inter"/>
                <a:ea typeface="Inter"/>
              </a:rPr>
              <a:t>töötab</a:t>
            </a:r>
            <a:r>
              <a:rPr lang="en-US" sz="2000">
                <a:latin typeface="Inter"/>
                <a:ea typeface="Inter"/>
              </a:rPr>
              <a:t> </a:t>
            </a:r>
            <a:r>
              <a:rPr lang="en-US" sz="2000" err="1">
                <a:latin typeface="Inter"/>
                <a:ea typeface="Inter"/>
              </a:rPr>
              <a:t>korrektselt</a:t>
            </a:r>
            <a:r>
              <a:rPr lang="en-US" sz="2000">
                <a:latin typeface="Inter"/>
                <a:ea typeface="Inter"/>
              </a:rPr>
              <a:t>?</a:t>
            </a:r>
          </a:p>
          <a:p>
            <a:pPr marL="857250" lvl="1" indent="-342900">
              <a:lnSpc>
                <a:spcPct val="150000"/>
              </a:lnSpc>
            </a:pPr>
            <a:r>
              <a:rPr lang="en-US" sz="2000">
                <a:latin typeface="Inter"/>
                <a:ea typeface="Inter"/>
              </a:rPr>
              <a:t>Ei, </a:t>
            </a:r>
            <a:r>
              <a:rPr lang="en-US" sz="2000" err="1">
                <a:latin typeface="Inter"/>
                <a:ea typeface="Inter"/>
              </a:rPr>
              <a:t>sest</a:t>
            </a:r>
            <a:r>
              <a:rPr lang="en-US" sz="2000">
                <a:latin typeface="Inter"/>
                <a:ea typeface="Inter"/>
              </a:rPr>
              <a:t> "Active Employees" </a:t>
            </a:r>
            <a:r>
              <a:rPr lang="en-US" sz="2000" err="1">
                <a:latin typeface="Inter"/>
                <a:ea typeface="Inter"/>
              </a:rPr>
              <a:t>mõõdik</a:t>
            </a:r>
            <a:r>
              <a:rPr lang="en-US" sz="2000">
                <a:latin typeface="Inter"/>
                <a:ea typeface="Inter"/>
              </a:rPr>
              <a:t> </a:t>
            </a:r>
            <a:r>
              <a:rPr lang="en-US" sz="2000" err="1">
                <a:latin typeface="Inter"/>
                <a:ea typeface="Inter"/>
              </a:rPr>
              <a:t>filtreerib</a:t>
            </a:r>
            <a:r>
              <a:rPr lang="en-US" sz="2000">
                <a:latin typeface="Inter"/>
                <a:ea typeface="Inter"/>
              </a:rPr>
              <a:t> </a:t>
            </a:r>
            <a:r>
              <a:rPr lang="en-US" sz="2000" err="1">
                <a:latin typeface="Inter"/>
                <a:ea typeface="Inter"/>
              </a:rPr>
              <a:t>välja</a:t>
            </a:r>
            <a:r>
              <a:rPr lang="en-US" sz="2000">
                <a:latin typeface="Inter"/>
                <a:ea typeface="Inter"/>
              </a:rPr>
              <a:t> </a:t>
            </a:r>
            <a:r>
              <a:rPr lang="en-US" sz="2000" err="1">
                <a:latin typeface="Inter"/>
                <a:ea typeface="Inter"/>
              </a:rPr>
              <a:t>ainult</a:t>
            </a:r>
            <a:r>
              <a:rPr lang="en-US" sz="2000">
                <a:latin typeface="Inter"/>
                <a:ea typeface="Inter"/>
              </a:rPr>
              <a:t> </a:t>
            </a:r>
            <a:r>
              <a:rPr lang="en-US" sz="2000" err="1">
                <a:latin typeface="Inter"/>
                <a:ea typeface="Inter"/>
              </a:rPr>
              <a:t>töötajad</a:t>
            </a:r>
            <a:r>
              <a:rPr lang="en-US" sz="2000">
                <a:latin typeface="Inter"/>
                <a:ea typeface="Inter"/>
              </a:rPr>
              <a:t>, </a:t>
            </a:r>
            <a:r>
              <a:rPr lang="en-US" sz="2000" err="1">
                <a:latin typeface="Inter"/>
                <a:ea typeface="Inter"/>
              </a:rPr>
              <a:t>kellel</a:t>
            </a:r>
            <a:r>
              <a:rPr lang="en-US" sz="2000">
                <a:latin typeface="Inter"/>
                <a:ea typeface="Inter"/>
              </a:rPr>
              <a:t> on "Leave Reason" </a:t>
            </a:r>
            <a:r>
              <a:rPr lang="en-US" sz="2000" err="1">
                <a:latin typeface="Inter"/>
                <a:ea typeface="Inter"/>
              </a:rPr>
              <a:t>täidetud</a:t>
            </a:r>
          </a:p>
          <a:p>
            <a:pPr marL="857250" lvl="1" indent="-342900">
              <a:lnSpc>
                <a:spcPct val="150000"/>
              </a:lnSpc>
            </a:pPr>
            <a:r>
              <a:rPr lang="en-US" sz="2000" err="1">
                <a:latin typeface="Inter"/>
                <a:ea typeface="Inter"/>
              </a:rPr>
              <a:t>Täiendada</a:t>
            </a:r>
            <a:r>
              <a:rPr lang="en-US" sz="2000">
                <a:latin typeface="Inter"/>
                <a:ea typeface="Inter"/>
              </a:rPr>
              <a:t> "Active Employees" </a:t>
            </a:r>
            <a:r>
              <a:rPr lang="en-US" sz="2000" err="1">
                <a:latin typeface="Inter"/>
                <a:ea typeface="Inter"/>
              </a:rPr>
              <a:t>mõõdik</a:t>
            </a:r>
            <a:r>
              <a:rPr lang="en-US" sz="2000">
                <a:latin typeface="Inter"/>
                <a:ea typeface="Inter"/>
              </a:rPr>
              <a:t>: </a:t>
            </a:r>
          </a:p>
          <a:p>
            <a:pPr lvl="2">
              <a:lnSpc>
                <a:spcPct val="150000"/>
              </a:lnSpc>
            </a:pPr>
            <a:r>
              <a:rPr lang="en-US">
                <a:solidFill>
                  <a:srgbClr val="3165BB"/>
                </a:solidFill>
                <a:latin typeface="Consolas"/>
                <a:ea typeface="Inter"/>
              </a:rPr>
              <a:t>REMOVEFILTERS</a:t>
            </a:r>
            <a:r>
              <a:rPr lang="en-US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r>
              <a:rPr lang="en-US" err="1">
                <a:solidFill>
                  <a:srgbClr val="001080"/>
                </a:solidFill>
                <a:latin typeface="Consolas"/>
                <a:ea typeface="Inter"/>
              </a:rPr>
              <a:t>HR_dataset</a:t>
            </a:r>
            <a:r>
              <a:rPr lang="en-US">
                <a:solidFill>
                  <a:srgbClr val="001080"/>
                </a:solidFill>
                <a:latin typeface="Consolas"/>
                <a:ea typeface="Inter"/>
              </a:rPr>
              <a:t>[Leave Reason]</a:t>
            </a:r>
            <a:r>
              <a:rPr lang="en-US">
                <a:solidFill>
                  <a:srgbClr val="000000"/>
                </a:solidFill>
                <a:latin typeface="Consolas"/>
                <a:ea typeface="Inter"/>
              </a:rPr>
              <a:t>)</a:t>
            </a:r>
            <a:endParaRPr lang="en-US">
              <a:latin typeface="Inter"/>
              <a:ea typeface="Inter"/>
            </a:endParaRPr>
          </a:p>
          <a:p>
            <a:pPr marL="1257300" lvl="2" indent="-342900">
              <a:lnSpc>
                <a:spcPct val="150000"/>
              </a:lnSpc>
              <a:buFont typeface="Wingdings" panose="020B0502030000000004" pitchFamily="34" charset="0"/>
              <a:buChar char="§"/>
            </a:pPr>
            <a:endParaRPr lang="en-US" sz="2000">
              <a:latin typeface="Inter"/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209865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15F75-FC9C-EF8C-50B5-8243CA945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DA6FB-6CD2-65BA-09C4-FCC6EF0AF84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5E4C20F-523D-8335-2938-F35D9E570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14:45-15:00</a:t>
            </a:r>
          </a:p>
        </p:txBody>
      </p:sp>
    </p:spTree>
    <p:extLst>
      <p:ext uri="{BB962C8B-B14F-4D97-AF65-F5344CB8AC3E}">
        <p14:creationId xmlns:p14="http://schemas.microsoft.com/office/powerpoint/2010/main" val="161051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F35F0-BCFC-5B9F-E9BD-78649F0A2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5BD36-6DF8-CDC0-6356-8AEAA4A54E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b="1" err="1">
                <a:ea typeface="+mj-lt"/>
                <a:cs typeface="+mj-lt"/>
              </a:rPr>
              <a:t>Personaliosakond</a:t>
            </a:r>
            <a:r>
              <a:rPr lang="en-US" sz="2800" b="1">
                <a:ea typeface="+mj-lt"/>
                <a:cs typeface="+mj-lt"/>
              </a:rPr>
              <a:t> – </a:t>
            </a:r>
            <a:r>
              <a:rPr lang="en-US" sz="2800" b="1" err="1">
                <a:ea typeface="+mj-lt"/>
                <a:cs typeface="+mj-lt"/>
              </a:rPr>
              <a:t>rahuloluküsitlus</a:t>
            </a:r>
            <a:r>
              <a:rPr lang="en-US" sz="2800" b="1">
                <a:ea typeface="+mj-lt"/>
                <a:cs typeface="+mj-lt"/>
              </a:rPr>
              <a:t> - </a:t>
            </a:r>
            <a:r>
              <a:rPr lang="en-US" sz="2800" b="1" err="1">
                <a:ea typeface="+mj-lt"/>
                <a:cs typeface="+mj-lt"/>
              </a:rPr>
              <a:t>andmestik</a:t>
            </a:r>
            <a:r>
              <a:rPr lang="en-US" sz="2800" b="1">
                <a:ea typeface="+mj-lt"/>
                <a:cs typeface="+mj-lt"/>
              </a:rPr>
              <a:t> </a:t>
            </a:r>
            <a:endParaRPr lang="en-US" sz="2800" b="1">
              <a:ea typeface="Inter Bold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59BF5E-38FE-A27E-A7EA-FAC4C70A42A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628650" indent="-342900">
              <a:lnSpc>
                <a:spcPct val="150000"/>
              </a:lnSpc>
              <a:buClr>
                <a:srgbClr val="121212"/>
              </a:buClr>
            </a:pPr>
            <a:r>
              <a:rPr lang="en-US" sz="2000">
                <a:ea typeface="Inter"/>
              </a:rPr>
              <a:t>Lae </a:t>
            </a:r>
            <a:r>
              <a:rPr lang="en-US" sz="2000" err="1">
                <a:ea typeface="Inter"/>
              </a:rPr>
              <a:t>alla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alliktabel</a:t>
            </a:r>
            <a:r>
              <a:rPr lang="en-US" sz="2000">
                <a:ea typeface="Inter"/>
              </a:rPr>
              <a:t>: Day5 --&gt; </a:t>
            </a:r>
            <a:r>
              <a:rPr lang="en-US" sz="2000" err="1">
                <a:ea typeface="Inter"/>
              </a:rPr>
              <a:t>Employee_Satisfaction_Survey</a:t>
            </a:r>
            <a:endParaRPr lang="en-US" sz="2000" err="1"/>
          </a:p>
          <a:p>
            <a:pPr marL="514350">
              <a:lnSpc>
                <a:spcPct val="150000"/>
              </a:lnSpc>
              <a:buClr>
                <a:srgbClr val="121212"/>
              </a:buClr>
            </a:pPr>
            <a:r>
              <a:rPr lang="en-US" sz="2000">
                <a:ea typeface="Inter"/>
              </a:rPr>
              <a:t>Lae </a:t>
            </a:r>
            <a:r>
              <a:rPr lang="en-US" sz="2000" err="1">
                <a:ea typeface="Inter"/>
              </a:rPr>
              <a:t>üles</a:t>
            </a:r>
            <a:r>
              <a:rPr lang="en-US" sz="2000">
                <a:ea typeface="Inter"/>
              </a:rPr>
              <a:t> Power BI-</a:t>
            </a:r>
            <a:r>
              <a:rPr lang="en-US" sz="2000" err="1">
                <a:ea typeface="Inter"/>
              </a:rPr>
              <a:t>sse</a:t>
            </a:r>
            <a:endParaRPr lang="en-US" sz="2000" err="1"/>
          </a:p>
          <a:p>
            <a:pPr marL="514350">
              <a:lnSpc>
                <a:spcPct val="150000"/>
              </a:lnSpc>
              <a:buClr>
                <a:srgbClr val="121212"/>
              </a:buClr>
            </a:pPr>
            <a:r>
              <a:rPr lang="en-US" sz="2000" err="1">
                <a:ea typeface="Inter"/>
              </a:rPr>
              <a:t>Vaata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üle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tulbad</a:t>
            </a:r>
            <a:r>
              <a:rPr lang="en-US" sz="2000">
                <a:ea typeface="Inter"/>
              </a:rPr>
              <a:t> ja </a:t>
            </a:r>
            <a:r>
              <a:rPr lang="en-US" sz="2000" err="1">
                <a:ea typeface="Inter"/>
              </a:rPr>
              <a:t>vormistus</a:t>
            </a:r>
            <a:endParaRPr lang="en-US" sz="2000" err="1"/>
          </a:p>
          <a:p>
            <a:pPr marL="514350">
              <a:lnSpc>
                <a:spcPct val="150000"/>
              </a:lnSpc>
              <a:buClr>
                <a:srgbClr val="121212"/>
              </a:buClr>
            </a:pP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Kui </a:t>
            </a:r>
            <a:r>
              <a:rPr lang="en-US" sz="2000" err="1">
                <a:solidFill>
                  <a:srgbClr val="121212"/>
                </a:solidFill>
                <a:ea typeface="+mn-lt"/>
                <a:cs typeface="+mn-lt"/>
              </a:rPr>
              <a:t>tahame</a:t>
            </a: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121212"/>
                </a:solidFill>
                <a:ea typeface="+mn-lt"/>
                <a:cs typeface="+mn-lt"/>
              </a:rPr>
              <a:t>küsimuste</a:t>
            </a: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121212"/>
                </a:solidFill>
                <a:ea typeface="+mn-lt"/>
                <a:cs typeface="+mn-lt"/>
              </a:rPr>
              <a:t>kaupa</a:t>
            </a: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121212"/>
                </a:solidFill>
                <a:ea typeface="+mn-lt"/>
                <a:cs typeface="+mn-lt"/>
              </a:rPr>
              <a:t>tulemusi</a:t>
            </a: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121212"/>
                </a:solidFill>
                <a:ea typeface="+mn-lt"/>
                <a:cs typeface="+mn-lt"/>
              </a:rPr>
              <a:t>filtreerida</a:t>
            </a: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, kas </a:t>
            </a:r>
            <a:r>
              <a:rPr lang="en-US" sz="2000" err="1">
                <a:solidFill>
                  <a:srgbClr val="121212"/>
                </a:solidFill>
                <a:ea typeface="+mn-lt"/>
                <a:cs typeface="+mn-lt"/>
              </a:rPr>
              <a:t>praegusel</a:t>
            </a: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121212"/>
                </a:solidFill>
                <a:ea typeface="+mn-lt"/>
                <a:cs typeface="+mn-lt"/>
              </a:rPr>
              <a:t>kujul</a:t>
            </a: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121212"/>
                </a:solidFill>
                <a:ea typeface="+mn-lt"/>
                <a:cs typeface="+mn-lt"/>
              </a:rPr>
              <a:t>andmestik</a:t>
            </a: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121212"/>
                </a:solidFill>
                <a:ea typeface="+mn-lt"/>
                <a:cs typeface="+mn-lt"/>
              </a:rPr>
              <a:t>sobib</a:t>
            </a: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?</a:t>
            </a:r>
          </a:p>
          <a:p>
            <a:pPr marL="1028700"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>
                <a:solidFill>
                  <a:srgbClr val="121212"/>
                </a:solidFill>
                <a:latin typeface="Inter"/>
                <a:ea typeface="Inter"/>
              </a:rPr>
              <a:t>Vaja </a:t>
            </a:r>
            <a:r>
              <a:rPr lang="en-US" sz="2000" err="1">
                <a:solidFill>
                  <a:srgbClr val="121212"/>
                </a:solidFill>
                <a:latin typeface="Inter"/>
                <a:ea typeface="Inter"/>
              </a:rPr>
              <a:t>teha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</a:rPr>
              <a:t> Unpivot</a:t>
            </a:r>
            <a:endParaRPr lang="en-US" sz="2000">
              <a:solidFill>
                <a:srgbClr val="121212"/>
              </a:solidFill>
              <a:latin typeface="Inter" panose="02000503000000020004" pitchFamily="2" charset="0"/>
            </a:endParaRPr>
          </a:p>
          <a:p>
            <a:pPr marL="1028700"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err="1">
                <a:solidFill>
                  <a:srgbClr val="121212"/>
                </a:solidFill>
                <a:latin typeface="Inter"/>
                <a:ea typeface="Inter"/>
              </a:rPr>
              <a:t>Valime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</a:rPr>
              <a:t> "Question Round" ja "Answer ID" </a:t>
            </a:r>
            <a:r>
              <a:rPr lang="en-US" sz="2000" err="1">
                <a:solidFill>
                  <a:srgbClr val="121212"/>
                </a:solidFill>
                <a:latin typeface="Inter"/>
                <a:ea typeface="Inter"/>
              </a:rPr>
              <a:t>ning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</a:rPr>
              <a:t> "Unpivot Other Columns"</a:t>
            </a:r>
            <a:endParaRPr lang="en-US" sz="2000">
              <a:solidFill>
                <a:srgbClr val="121212"/>
              </a:solidFill>
              <a:latin typeface="Inter" panose="02000503000000020004" pitchFamily="2" charset="0"/>
            </a:endParaRPr>
          </a:p>
          <a:p>
            <a:pPr marL="142875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endParaRPr lang="en-US" sz="2000"/>
          </a:p>
          <a:p>
            <a:pPr marL="142875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endParaRPr lang="en-US" sz="2000"/>
          </a:p>
          <a:p>
            <a:pPr marL="514350">
              <a:lnSpc>
                <a:spcPct val="150000"/>
              </a:lnSpc>
              <a:buClr>
                <a:srgbClr val="121212"/>
              </a:buClr>
            </a:pPr>
            <a:endParaRPr lang="en-US" sz="2000"/>
          </a:p>
          <a:p>
            <a:pPr marL="514350">
              <a:lnSpc>
                <a:spcPct val="150000"/>
              </a:lnSpc>
              <a:buClr>
                <a:srgbClr val="121212"/>
              </a:buClr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79717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1F94B-C51D-F5D0-EA6E-B59170145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57E66-9AE4-19EB-285E-E5AFB83715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b="1" err="1">
                <a:ea typeface="+mj-lt"/>
                <a:cs typeface="+mj-lt"/>
              </a:rPr>
              <a:t>Personaliosakond</a:t>
            </a:r>
            <a:r>
              <a:rPr lang="en-US" sz="2800" b="1">
                <a:ea typeface="+mj-lt"/>
                <a:cs typeface="+mj-lt"/>
              </a:rPr>
              <a:t> – </a:t>
            </a:r>
            <a:r>
              <a:rPr lang="en-US" sz="2800" b="1" err="1">
                <a:ea typeface="+mj-lt"/>
                <a:cs typeface="+mj-lt"/>
              </a:rPr>
              <a:t>rahuloluküsitlus</a:t>
            </a:r>
            <a:r>
              <a:rPr lang="en-US" sz="2800" b="1">
                <a:ea typeface="+mj-lt"/>
                <a:cs typeface="+mj-lt"/>
              </a:rPr>
              <a:t> - </a:t>
            </a:r>
            <a:r>
              <a:rPr lang="en-US" sz="2800" b="1" err="1">
                <a:ea typeface="+mj-lt"/>
                <a:cs typeface="+mj-lt"/>
              </a:rPr>
              <a:t>raporti</a:t>
            </a:r>
            <a:r>
              <a:rPr lang="en-US" sz="2800" b="1">
                <a:ea typeface="+mj-lt"/>
                <a:cs typeface="+mj-lt"/>
              </a:rPr>
              <a:t> </a:t>
            </a:r>
            <a:r>
              <a:rPr lang="en-US" sz="2800" b="1" err="1">
                <a:ea typeface="+mj-lt"/>
                <a:cs typeface="+mj-lt"/>
              </a:rPr>
              <a:t>leht</a:t>
            </a:r>
            <a:r>
              <a:rPr lang="en-US" sz="2800" b="1">
                <a:ea typeface="+mj-lt"/>
                <a:cs typeface="+mj-lt"/>
              </a:rPr>
              <a:t> </a:t>
            </a:r>
            <a:endParaRPr lang="en-US" sz="2800" b="1">
              <a:ea typeface="Inter Bold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71896A-D27C-8337-FE2C-84CCEB0B165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628650" indent="-342900">
              <a:lnSpc>
                <a:spcPct val="150000"/>
              </a:lnSpc>
              <a:buClr>
                <a:srgbClr val="121212"/>
              </a:buClr>
            </a:pPr>
            <a:r>
              <a:rPr lang="en-US" sz="2000" err="1">
                <a:ea typeface="Inter"/>
              </a:rPr>
              <a:t>Näitame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kvartalite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kaupa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rahuloluküsitluse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tulemusi</a:t>
            </a:r>
            <a:endParaRPr lang="en-US" sz="2000" err="1">
              <a:solidFill>
                <a:srgbClr val="121212"/>
              </a:solidFill>
              <a:latin typeface="Inter" panose="02000503000000020004" pitchFamily="2" charset="0"/>
            </a:endParaRPr>
          </a:p>
          <a:p>
            <a:pPr marL="142875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endParaRPr lang="en-US" sz="2000"/>
          </a:p>
          <a:p>
            <a:pPr marL="142875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endParaRPr lang="en-US" sz="2000"/>
          </a:p>
          <a:p>
            <a:pPr marL="514350">
              <a:lnSpc>
                <a:spcPct val="150000"/>
              </a:lnSpc>
              <a:buClr>
                <a:srgbClr val="121212"/>
              </a:buClr>
            </a:pPr>
            <a:endParaRPr lang="en-US" sz="2000"/>
          </a:p>
          <a:p>
            <a:pPr marL="514350">
              <a:lnSpc>
                <a:spcPct val="150000"/>
              </a:lnSpc>
              <a:buClr>
                <a:srgbClr val="121212"/>
              </a:buClr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93589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heme/theme1.xml><?xml version="1.0" encoding="utf-8"?>
<a:theme xmlns:a="http://schemas.openxmlformats.org/drawingml/2006/main" name="BCS">
  <a:themeElements>
    <a:clrScheme name="Custom 18">
      <a:dk1>
        <a:srgbClr val="121212"/>
      </a:dk1>
      <a:lt1>
        <a:srgbClr val="FFFFFF"/>
      </a:lt1>
      <a:dk2>
        <a:srgbClr val="584FF5"/>
      </a:dk2>
      <a:lt2>
        <a:srgbClr val="F2F2F2"/>
      </a:lt2>
      <a:accent1>
        <a:srgbClr val="584FF5"/>
      </a:accent1>
      <a:accent2>
        <a:srgbClr val="EC6249"/>
      </a:accent2>
      <a:accent3>
        <a:srgbClr val="FAE060"/>
      </a:accent3>
      <a:accent4>
        <a:srgbClr val="54BA77"/>
      </a:accent4>
      <a:accent5>
        <a:srgbClr val="F0F0FF"/>
      </a:accent5>
      <a:accent6>
        <a:srgbClr val="EEF7F5"/>
      </a:accent6>
      <a:hlink>
        <a:srgbClr val="121212"/>
      </a:hlink>
      <a:folHlink>
        <a:srgbClr val="121212"/>
      </a:folHlink>
    </a:clrScheme>
    <a:fontScheme name="Custom 28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27B8FA8976546BCD79313C588588D" ma:contentTypeVersion="8" ma:contentTypeDescription="Create a new document." ma:contentTypeScope="" ma:versionID="a112c56f6fe148a79025c76584832af0">
  <xsd:schema xmlns:xsd="http://www.w3.org/2001/XMLSchema" xmlns:xs="http://www.w3.org/2001/XMLSchema" xmlns:p="http://schemas.microsoft.com/office/2006/metadata/properties" xmlns:ns2="a1a2d923-8fea-42f1-bd41-9cdfff65694e" targetNamespace="http://schemas.microsoft.com/office/2006/metadata/properties" ma:root="true" ma:fieldsID="97c8655d467eaa9470a714421e7268c0" ns2:_="">
    <xsd:import namespace="a1a2d923-8fea-42f1-bd41-9cdfff6569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a2d923-8fea-42f1-bd41-9cdfff656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DF4908-A52A-47DD-A794-6E02D71942F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CF4F972-2392-44D0-AA45-41AC4FDC4A59}">
  <ds:schemaRefs>
    <ds:schemaRef ds:uri="a1a2d923-8fea-42f1-bd41-9cdfff6569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DC439CA-6F1C-4005-ACA6-A52E04DEE0A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769</Words>
  <Application>Microsoft Office PowerPoint</Application>
  <PresentationFormat>Widescreen</PresentationFormat>
  <Paragraphs>142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Inter</vt:lpstr>
      <vt:lpstr>Consolas</vt:lpstr>
      <vt:lpstr>Wingdings</vt:lpstr>
      <vt:lpstr>Courier New</vt:lpstr>
      <vt:lpstr>Poppins SemiBold</vt:lpstr>
      <vt:lpstr>Arial,Sans-Serif</vt:lpstr>
      <vt:lpstr>Arial</vt:lpstr>
      <vt:lpstr>Calibri</vt:lpstr>
      <vt:lpstr>Inter Bold</vt:lpstr>
      <vt:lpstr>BCS</vt:lpstr>
      <vt:lpstr>Vali Andmetarkus!</vt:lpstr>
      <vt:lpstr>Päevakava - IV päev</vt:lpstr>
      <vt:lpstr>Personaliosakond – probleemi püstitus</vt:lpstr>
      <vt:lpstr>Personaliosakond – andmestik </vt:lpstr>
      <vt:lpstr>Töötajate arv aja  lõikes</vt:lpstr>
      <vt:lpstr>Aktiivsete töötajate arv osakondade ja aja lõikes</vt:lpstr>
      <vt:lpstr>Paus 10:30-10:45</vt:lpstr>
      <vt:lpstr>Staažigruppide kaupa aja lõikes</vt:lpstr>
      <vt:lpstr>Vaja tabel grupi väärtustega</vt:lpstr>
      <vt:lpstr>Aktiivsete töötajate arv staaži ja aja lõikes</vt:lpstr>
      <vt:lpstr>Lõunapaus 12:15-13:15</vt:lpstr>
      <vt:lpstr>Lahkunud töötajate arv lahkumise põhjuse kaupa </vt:lpstr>
      <vt:lpstr>Lahkunud töötajate %  </vt:lpstr>
      <vt:lpstr>Paus 14:45-15:00</vt:lpstr>
      <vt:lpstr>Personaliosakond – rahuloluküsitlus - andmestik </vt:lpstr>
      <vt:lpstr>Personaliosakond – rahuloluküsitlus - raporti leht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Virve Räni</cp:lastModifiedBy>
  <cp:revision>2</cp:revision>
  <dcterms:created xsi:type="dcterms:W3CDTF">2021-08-27T11:35:28Z</dcterms:created>
  <dcterms:modified xsi:type="dcterms:W3CDTF">2026-03-16T10:29:13Z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0x010100C4D27B8FA8976546BCD79313C588588D</vt:lpwstr>
  </property>
</Properties>
</file>