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417" r:id="rId5"/>
    <p:sldId id="457" r:id="rId6"/>
    <p:sldId id="447" r:id="rId7"/>
    <p:sldId id="641" r:id="rId8"/>
    <p:sldId id="448" r:id="rId9"/>
    <p:sldId id="449" r:id="rId10"/>
    <p:sldId id="579" r:id="rId11"/>
    <p:sldId id="450" r:id="rId12"/>
    <p:sldId id="603" r:id="rId13"/>
    <p:sldId id="638" r:id="rId14"/>
    <p:sldId id="639" r:id="rId15"/>
    <p:sldId id="640" r:id="rId16"/>
    <p:sldId id="484" r:id="rId17"/>
    <p:sldId id="635" r:id="rId18"/>
    <p:sldId id="580" r:id="rId19"/>
    <p:sldId id="588" r:id="rId20"/>
    <p:sldId id="460" r:id="rId21"/>
    <p:sldId id="461" r:id="rId22"/>
    <p:sldId id="581" r:id="rId23"/>
    <p:sldId id="503" r:id="rId24"/>
    <p:sldId id="480" r:id="rId25"/>
    <p:sldId id="604" r:id="rId26"/>
  </p:sldIdLst>
  <p:sldSz cx="12192000" cy="6858000"/>
  <p:notesSz cx="6858000" cy="9144000"/>
  <p:embeddedFontLst>
    <p:embeddedFont>
      <p:font typeface="Inter" panose="020B0604020202020204" charset="0"/>
      <p:regular r:id="rId29"/>
      <p:bold r:id="rId30"/>
      <p:italic r:id="rId31"/>
      <p:boldItalic r:id="rId32"/>
    </p:embeddedFont>
    <p:embeddedFont>
      <p:font typeface="Inter Bold" panose="020B0604020202020204" charset="0"/>
      <p:bold r:id="rId33"/>
    </p:embeddedFont>
    <p:embeddedFont>
      <p:font typeface="Poppins SemiBold" panose="00000700000000000000" pitchFamily="2" charset="0"/>
      <p:bold r:id="rId34"/>
      <p:boldItalic r:id="rId35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64095-0336-4BCF-B0CD-C5AE405565C1}" v="3" dt="2026-03-31T14:38:11.7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212" autoAdjust="0"/>
  </p:normalViewPr>
  <p:slideViewPr>
    <p:cSldViewPr snapToGrid="0">
      <p:cViewPr varScale="1">
        <p:scale>
          <a:sx n="61" d="100"/>
          <a:sy n="61" d="100"/>
        </p:scale>
        <p:origin x="8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6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1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5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custSel addSld modSld sldOrd">
      <pc:chgData name="Virve Räni" userId="161a7437-7ef4-49ec-91bf-54882f313dfe" providerId="ADAL" clId="{6D754EED-65AA-4A21-B175-6769012CF487}" dt="2026-03-31T14:38:11.727" v="542" actId="20577"/>
      <pc:docMkLst>
        <pc:docMk/>
      </pc:docMkLst>
      <pc:sldChg chg="ord">
        <pc:chgData name="Virve Räni" userId="161a7437-7ef4-49ec-91bf-54882f313dfe" providerId="ADAL" clId="{6D754EED-65AA-4A21-B175-6769012CF487}" dt="2026-03-31T14:37:40.519" v="539"/>
        <pc:sldMkLst>
          <pc:docMk/>
          <pc:sldMk cId="2761534892" sldId="447"/>
        </pc:sldMkLst>
      </pc:sldChg>
      <pc:sldChg chg="modSp modAnim">
        <pc:chgData name="Virve Räni" userId="161a7437-7ef4-49ec-91bf-54882f313dfe" providerId="ADAL" clId="{6D754EED-65AA-4A21-B175-6769012CF487}" dt="2026-03-31T14:38:11.727" v="542" actId="20577"/>
        <pc:sldMkLst>
          <pc:docMk/>
          <pc:sldMk cId="2033048184" sldId="449"/>
        </pc:sldMkLst>
        <pc:spChg chg="mod">
          <ac:chgData name="Virve Räni" userId="161a7437-7ef4-49ec-91bf-54882f313dfe" providerId="ADAL" clId="{6D754EED-65AA-4A21-B175-6769012CF487}" dt="2026-03-31T14:38:11.727" v="542" actId="20577"/>
          <ac:spMkLst>
            <pc:docMk/>
            <pc:sldMk cId="2033048184" sldId="449"/>
            <ac:spMk id="3" creationId="{5724D9C5-3791-BF32-C6DA-2B258420122F}"/>
          </ac:spMkLst>
        </pc:spChg>
      </pc:sldChg>
      <pc:sldChg chg="modSp new mod">
        <pc:chgData name="Virve Räni" userId="161a7437-7ef4-49ec-91bf-54882f313dfe" providerId="ADAL" clId="{6D754EED-65AA-4A21-B175-6769012CF487}" dt="2026-03-31T14:34:39.244" v="537" actId="20577"/>
        <pc:sldMkLst>
          <pc:docMk/>
          <pc:sldMk cId="2411427698" sldId="641"/>
        </pc:sldMkLst>
        <pc:spChg chg="mod">
          <ac:chgData name="Virve Räni" userId="161a7437-7ef4-49ec-91bf-54882f313dfe" providerId="ADAL" clId="{6D754EED-65AA-4A21-B175-6769012CF487}" dt="2026-03-31T14:26:20.550" v="79" actId="20577"/>
          <ac:spMkLst>
            <pc:docMk/>
            <pc:sldMk cId="2411427698" sldId="641"/>
            <ac:spMk id="2" creationId="{1524985D-536E-5D52-E9A5-AA1E3944782F}"/>
          </ac:spMkLst>
        </pc:spChg>
        <pc:spChg chg="mod">
          <ac:chgData name="Virve Räni" userId="161a7437-7ef4-49ec-91bf-54882f313dfe" providerId="ADAL" clId="{6D754EED-65AA-4A21-B175-6769012CF487}" dt="2026-03-31T14:34:39.244" v="537" actId="20577"/>
          <ac:spMkLst>
            <pc:docMk/>
            <pc:sldMk cId="2411427698" sldId="641"/>
            <ac:spMk id="3" creationId="{C53EAF1F-B8FA-F7FE-8F42-5998CE88420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31.03.2026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94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DF933-BFB9-27D3-0A06-54399311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798A3-F9BE-1F87-DE35-F0B237A62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96194-4EDA-7C56-21BE-C0BC2ED52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C18D4-5ABA-0A67-C066-259B68425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12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15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31.03.2026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powerquery-m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plotlib-journey.com/bonus/design-principl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polymersearch.com/blog/10-good-and-bad-examples-of-data-visualizatio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polymersearch.com/blog/10-good-and-bad-examples-of-data-visualization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ylon.com/blog/types-of-charts-graphs-examples-data-visualization" TargetMode="External"/><Relationship Id="rId2" Type="http://schemas.openxmlformats.org/officeDocument/2006/relationships/hyperlink" Target="https://www.polymersearch.com/blog/10-good-and-bad-examples-of-data-visualization" TargetMode="Externa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orytellingwithdata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stat.ee/et/statistikaamet/meist/konkurss-andmeparl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5E7A-D9DC-2EB1-B038-C8FBD977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5A0C-988F-422F-3820-660462E00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err="1">
                <a:ea typeface="+mj-lt"/>
                <a:cs typeface="+mj-lt"/>
              </a:rPr>
              <a:t>Päevakava</a:t>
            </a:r>
            <a:r>
              <a:rPr lang="en-US" sz="3600" b="1">
                <a:ea typeface="+mj-lt"/>
                <a:cs typeface="+mj-lt"/>
              </a:rPr>
              <a:t> - III </a:t>
            </a:r>
            <a:r>
              <a:rPr lang="en-US" sz="3600" b="1" err="1">
                <a:ea typeface="+mj-lt"/>
                <a:cs typeface="+mj-lt"/>
              </a:rPr>
              <a:t>päev</a:t>
            </a:r>
            <a:endParaRPr lang="en-US" err="1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2F3D34C-2699-76DE-4C1A-F379ABDEE53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703111389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M-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päringukeel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eelarve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visuaalid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visualiseerimise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parimad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praktikad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Raporti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vormistamine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jagamine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Andmeloo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jutustamine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905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C55E8-FBF1-AD5D-6DA0-CBD58BBEB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– </a:t>
            </a:r>
            <a:r>
              <a:rPr lang="en-US" err="1"/>
              <a:t>Päringud</a:t>
            </a:r>
            <a:r>
              <a:rPr lang="en-US"/>
              <a:t> (M-language)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7BB7F-4F12-0B50-CEE8-3F6E6A2C9E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>
                <a:ea typeface="Inter"/>
              </a:rPr>
              <a:t>Power BI </a:t>
            </a:r>
            <a:r>
              <a:rPr lang="en-US" sz="2400" err="1">
                <a:ea typeface="Inter"/>
              </a:rPr>
              <a:t>päringukeel</a:t>
            </a:r>
            <a:r>
              <a:rPr lang="en-US" sz="2400">
                <a:ea typeface="Inter"/>
              </a:rPr>
              <a:t> 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400" err="1">
                <a:ea typeface="Inter"/>
              </a:rPr>
              <a:t>Juhend</a:t>
            </a:r>
            <a:r>
              <a:rPr lang="en-US" sz="2400">
                <a:ea typeface="Inter"/>
              </a:rPr>
              <a:t>: </a:t>
            </a:r>
            <a:r>
              <a:rPr lang="en-US" sz="2400">
                <a:ea typeface="+mn-lt"/>
                <a:cs typeface="+mn-lt"/>
                <a:hlinkClick r:id="rId2"/>
              </a:rPr>
              <a:t>Power Query M formula language reference - PowerQuery M | Microsoft Learn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ea typeface="+mn-lt"/>
                <a:cs typeface="+mn-lt"/>
              </a:rPr>
              <a:t>Leitav</a:t>
            </a:r>
            <a:r>
              <a:rPr lang="en-US" sz="2400">
                <a:ea typeface="+mn-lt"/>
                <a:cs typeface="+mn-lt"/>
              </a:rPr>
              <a:t>: Model View --&gt; Edit Query</a:t>
            </a:r>
          </a:p>
          <a:p>
            <a:pPr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+mn-lt"/>
                <a:cs typeface="+mn-lt"/>
              </a:rPr>
              <a:t>Paremal </a:t>
            </a:r>
            <a:r>
              <a:rPr lang="en-US" sz="2400" err="1">
                <a:ea typeface="+mn-lt"/>
                <a:cs typeface="+mn-lt"/>
              </a:rPr>
              <a:t>sammude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kaupa</a:t>
            </a:r>
          </a:p>
          <a:p>
            <a:pPr lvl="1" indent="-51435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ea typeface="+mn-lt"/>
                <a:cs typeface="+mn-lt"/>
              </a:rPr>
              <a:t>Advanced Editor – </a:t>
            </a:r>
            <a:r>
              <a:rPr lang="en-US" sz="2400" err="1">
                <a:ea typeface="+mn-lt"/>
                <a:cs typeface="+mn-lt"/>
              </a:rPr>
              <a:t>kogu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päring</a:t>
            </a:r>
          </a:p>
        </p:txBody>
      </p:sp>
    </p:spTree>
    <p:extLst>
      <p:ext uri="{BB962C8B-B14F-4D97-AF65-F5344CB8AC3E}">
        <p14:creationId xmlns:p14="http://schemas.microsoft.com/office/powerpoint/2010/main" val="2761534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985D-536E-5D52-E9A5-AA1E39447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479570"/>
            <a:ext cx="11168719" cy="392789"/>
          </a:xfrm>
        </p:spPr>
        <p:txBody>
          <a:bodyPr/>
          <a:lstStyle/>
          <a:p>
            <a:r>
              <a:rPr lang="en-US" dirty="0" err="1"/>
              <a:t>Harjutus</a:t>
            </a:r>
            <a:r>
              <a:rPr lang="en-US" dirty="0"/>
              <a:t> – </a:t>
            </a:r>
            <a:r>
              <a:rPr lang="en-US" dirty="0" err="1"/>
              <a:t>muudame</a:t>
            </a:r>
            <a:r>
              <a:rPr lang="en-US" dirty="0"/>
              <a:t> </a:t>
            </a:r>
            <a:r>
              <a:rPr lang="en-US" dirty="0" err="1"/>
              <a:t>andmeallikad</a:t>
            </a:r>
            <a:r>
              <a:rPr lang="en-US" dirty="0"/>
              <a:t> </a:t>
            </a:r>
            <a:r>
              <a:rPr lang="en-US" dirty="0" err="1"/>
              <a:t>veebipõhiseks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EAF1F-B8FA-F7FE-8F42-5998CE8842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Lae alla Day3 </a:t>
            </a:r>
            <a:r>
              <a:rPr lang="en-US" sz="2400" dirty="0">
                <a:sym typeface="Wingdings" panose="05000000000000000000" pitchFamily="2" charset="2"/>
              </a:rPr>
              <a:t> DataSourcesDay3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ym typeface="Wingdings" panose="05000000000000000000" pitchFamily="2" charset="2"/>
              </a:rPr>
              <a:t>Unzip</a:t>
            </a:r>
          </a:p>
          <a:p>
            <a:pPr lvl="1">
              <a:lnSpc>
                <a:spcPct val="150000"/>
              </a:lnSpc>
            </a:pPr>
            <a:r>
              <a:rPr lang="en-US" sz="2400" dirty="0" err="1">
                <a:sym typeface="Wingdings" panose="05000000000000000000" pitchFamily="2" charset="2"/>
              </a:rPr>
              <a:t>Kopeeri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oma</a:t>
            </a:r>
            <a:r>
              <a:rPr lang="en-US" sz="2400" dirty="0">
                <a:sym typeface="Wingdings" panose="05000000000000000000" pitchFamily="2" charset="2"/>
              </a:rPr>
              <a:t> “andmetarkus2026” </a:t>
            </a:r>
            <a:r>
              <a:rPr lang="en-US" sz="2400" dirty="0" err="1">
                <a:sym typeface="Wingdings" panose="05000000000000000000" pitchFamily="2" charset="2"/>
              </a:rPr>
              <a:t>kausta</a:t>
            </a:r>
            <a:endParaRPr lang="en-US" sz="2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ym typeface="Wingdings" panose="05000000000000000000" pitchFamily="2" charset="2"/>
              </a:rPr>
              <a:t>Lae Visual Studio Code </a:t>
            </a:r>
            <a:r>
              <a:rPr lang="en-US" sz="2400" dirty="0" err="1">
                <a:sym typeface="Wingdings" panose="05000000000000000000" pitchFamily="2" charset="2"/>
              </a:rPr>
              <a:t>kaudu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üles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GitHubi</a:t>
            </a:r>
            <a:endParaRPr lang="en-US" sz="2400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ym typeface="Wingdings" panose="05000000000000000000" pitchFamily="2" charset="2"/>
              </a:rPr>
              <a:t>Võta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GitHubist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faili</a:t>
            </a:r>
            <a:r>
              <a:rPr lang="en-US" sz="2400" dirty="0">
                <a:sym typeface="Wingdings" panose="05000000000000000000" pitchFamily="2" charset="2"/>
              </a:rPr>
              <a:t> link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ym typeface="Wingdings" panose="05000000000000000000" pitchFamily="2" charset="2"/>
              </a:rPr>
              <a:t>Ava </a:t>
            </a:r>
            <a:r>
              <a:rPr lang="en-US" sz="2400" dirty="0" err="1">
                <a:sym typeface="Wingdings" panose="05000000000000000000" pitchFamily="2" charset="2"/>
              </a:rPr>
              <a:t>kaust</a:t>
            </a:r>
            <a:r>
              <a:rPr lang="en-US" sz="2400" dirty="0">
                <a:sym typeface="Wingdings" panose="05000000000000000000" pitchFamily="2" charset="2"/>
              </a:rPr>
              <a:t>  Ava fail  Raw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ym typeface="Wingdings" panose="05000000000000000000" pitchFamily="2" charset="2"/>
              </a:rPr>
              <a:t>Muuta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andmeallikas</a:t>
            </a:r>
            <a:r>
              <a:rPr lang="en-US" sz="2400" dirty="0">
                <a:sym typeface="Wingdings" panose="05000000000000000000" pitchFamily="2" charset="2"/>
              </a:rPr>
              <a:t> Transform Data </a:t>
            </a:r>
            <a:r>
              <a:rPr lang="en-US" sz="2400" dirty="0" err="1">
                <a:sym typeface="Wingdings" panose="05000000000000000000" pitchFamily="2" charset="2"/>
              </a:rPr>
              <a:t>kaudu</a:t>
            </a:r>
            <a:r>
              <a:rPr lang="en-US" sz="2400" dirty="0">
                <a:sym typeface="Wingdings" panose="05000000000000000000" pitchFamily="2" charset="2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 err="1">
                <a:sym typeface="Wingdings" panose="05000000000000000000" pitchFamily="2" charset="2"/>
              </a:rPr>
              <a:t>Kopeeri</a:t>
            </a:r>
            <a:r>
              <a:rPr lang="en-US" sz="2400" dirty="0">
                <a:sym typeface="Wingdings" panose="05000000000000000000" pitchFamily="2" charset="2"/>
              </a:rPr>
              <a:t> link “Source” </a:t>
            </a:r>
            <a:r>
              <a:rPr lang="en-US" sz="2400" dirty="0" err="1">
                <a:sym typeface="Wingdings" panose="05000000000000000000" pitchFamily="2" charset="2"/>
              </a:rPr>
              <a:t>sammu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jutumärkide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vahele</a:t>
            </a:r>
            <a:endParaRPr lang="en-US" sz="2400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sz="2400" dirty="0" err="1">
                <a:sym typeface="Wingdings" panose="05000000000000000000" pitchFamily="2" charset="2"/>
              </a:rPr>
              <a:t>Muuda</a:t>
            </a:r>
            <a:r>
              <a:rPr lang="en-US" sz="2400" dirty="0">
                <a:sym typeface="Wingdings" panose="05000000000000000000" pitchFamily="2" charset="2"/>
              </a:rPr>
              <a:t> “</a:t>
            </a:r>
            <a:r>
              <a:rPr lang="en-US" sz="2400" dirty="0" err="1">
                <a:sym typeface="Wingdings" panose="05000000000000000000" pitchFamily="2" charset="2"/>
              </a:rPr>
              <a:t>File.Contents</a:t>
            </a:r>
            <a:r>
              <a:rPr lang="en-US" sz="2400" dirty="0">
                <a:sym typeface="Wingdings" panose="05000000000000000000" pitchFamily="2" charset="2"/>
              </a:rPr>
              <a:t>”  “</a:t>
            </a:r>
            <a:r>
              <a:rPr lang="en-US" sz="2400" dirty="0" err="1">
                <a:sym typeface="Wingdings" panose="05000000000000000000" pitchFamily="2" charset="2"/>
              </a:rPr>
              <a:t>Web.Contents</a:t>
            </a:r>
            <a:r>
              <a:rPr lang="en-US" sz="2400" dirty="0">
                <a:sym typeface="Wingdings" panose="05000000000000000000" pitchFamily="2" charset="2"/>
              </a:rPr>
              <a:t>”</a:t>
            </a:r>
          </a:p>
          <a:p>
            <a:pPr lvl="1"/>
            <a:endParaRPr lang="et-EE" sz="2400" dirty="0"/>
          </a:p>
        </p:txBody>
      </p:sp>
    </p:spTree>
    <p:extLst>
      <p:ext uri="{BB962C8B-B14F-4D97-AF65-F5344CB8AC3E}">
        <p14:creationId xmlns:p14="http://schemas.microsoft.com/office/powerpoint/2010/main" val="2411427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BCF1-3C9A-3A58-37F2-D2D006BF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C9DA-68C6-2574-D71F-9682677EC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– </a:t>
            </a:r>
            <a:r>
              <a:rPr lang="en-US" err="1"/>
              <a:t>Eelarve</a:t>
            </a:r>
            <a:r>
              <a:rPr lang="en-US"/>
              <a:t> </a:t>
            </a:r>
            <a:r>
              <a:rPr lang="en-US" err="1"/>
              <a:t>faili</a:t>
            </a:r>
            <a:r>
              <a:rPr lang="en-US"/>
              <a:t> </a:t>
            </a:r>
            <a:r>
              <a:rPr lang="en-US" err="1"/>
              <a:t>lisamine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27649-761C-3A2F-3446-721B53FB49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err="1">
                <a:ea typeface="Inter"/>
              </a:rPr>
              <a:t>Ühendus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kuupäeva</a:t>
            </a:r>
            <a:r>
              <a:rPr lang="en-US" sz="2000">
                <a:ea typeface="Inter"/>
              </a:rPr>
              <a:t> (</a:t>
            </a:r>
            <a:r>
              <a:rPr lang="en-US" sz="2000" err="1">
                <a:ea typeface="Inter"/>
              </a:rPr>
              <a:t>eelarve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failis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kuu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esimene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päev</a:t>
            </a:r>
            <a:r>
              <a:rPr lang="en-US" sz="2000">
                <a:ea typeface="Inter"/>
              </a:rPr>
              <a:t>) ja </a:t>
            </a:r>
            <a:r>
              <a:rPr lang="en-US" sz="2000" err="1">
                <a:ea typeface="Inter"/>
              </a:rPr>
              <a:t>SalesRep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alusel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000" err="1">
                <a:ea typeface="Inter"/>
              </a:rPr>
              <a:t>Eelarve</a:t>
            </a:r>
            <a:r>
              <a:rPr lang="en-US" sz="2000">
                <a:ea typeface="Inter"/>
              </a:rPr>
              <a:t> fail on </a:t>
            </a:r>
            <a:r>
              <a:rPr lang="en-US" sz="2000" err="1">
                <a:ea typeface="Inter"/>
              </a:rPr>
              <a:t>risttabeli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kujul</a:t>
            </a:r>
            <a:r>
              <a:rPr lang="en-US" sz="2000">
                <a:ea typeface="Inter"/>
              </a:rPr>
              <a:t> – </a:t>
            </a:r>
            <a:r>
              <a:rPr lang="en-US" sz="2000" err="1">
                <a:ea typeface="Inter"/>
              </a:rPr>
              <a:t>vajalik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muuta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lihttabeliks</a:t>
            </a:r>
            <a:endParaRPr lang="en-US" sz="2000" err="1"/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Promote Headers</a:t>
            </a:r>
            <a:endParaRPr lang="en-US" sz="2000"/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Vali </a:t>
            </a:r>
            <a:r>
              <a:rPr lang="en-US" sz="2000" err="1">
                <a:ea typeface="Inter"/>
              </a:rPr>
              <a:t>SalesRep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tulp</a:t>
            </a:r>
            <a:r>
              <a:rPr lang="en-US" sz="2000">
                <a:ea typeface="Inter"/>
              </a:rPr>
              <a:t> ja Unpivot other columns</a:t>
            </a:r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 err="1">
                <a:ea typeface="Inter"/>
              </a:rPr>
              <a:t>Vaata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üle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tulpade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formaat</a:t>
            </a:r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Nimeta </a:t>
            </a:r>
            <a:r>
              <a:rPr lang="en-US" sz="2000" err="1">
                <a:ea typeface="Inter"/>
              </a:rPr>
              <a:t>tulbad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kirjeldavate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nimedega</a:t>
            </a:r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Loo </a:t>
            </a:r>
            <a:r>
              <a:rPr lang="en-US" sz="2000" err="1">
                <a:ea typeface="Inter"/>
              </a:rPr>
              <a:t>ühendused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mudelis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teiste</a:t>
            </a:r>
            <a:r>
              <a:rPr lang="en-US" sz="2000">
                <a:ea typeface="Inter"/>
              </a:rPr>
              <a:t> </a:t>
            </a:r>
            <a:r>
              <a:rPr lang="en-US" sz="2000" err="1">
                <a:ea typeface="Inter"/>
              </a:rPr>
              <a:t>tabelitega</a:t>
            </a:r>
          </a:p>
          <a:p>
            <a:pPr lvl="1" indent="-514350">
              <a:lnSpc>
                <a:spcPct val="150000"/>
              </a:lnSpc>
              <a:buAutoNum type="arabicPeriod"/>
            </a:pPr>
            <a:r>
              <a:rPr lang="en-US" sz="2000">
                <a:ea typeface="Inter"/>
              </a:rPr>
              <a:t>Loo </a:t>
            </a:r>
            <a:r>
              <a:rPr lang="en-US" sz="2000" err="1">
                <a:ea typeface="Inter"/>
              </a:rPr>
              <a:t>visuaalid</a:t>
            </a:r>
          </a:p>
        </p:txBody>
      </p:sp>
    </p:spTree>
    <p:extLst>
      <p:ext uri="{BB962C8B-B14F-4D97-AF65-F5344CB8AC3E}">
        <p14:creationId xmlns:p14="http://schemas.microsoft.com/office/powerpoint/2010/main" val="169911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37C5-6E00-3DCD-857E-9E3F1CA5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C413F-2097-0435-884E-DC88E14FF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– </a:t>
            </a:r>
            <a:r>
              <a:rPr lang="en-US" err="1"/>
              <a:t>päringu</a:t>
            </a:r>
            <a:r>
              <a:rPr lang="en-US"/>
              <a:t> </a:t>
            </a:r>
            <a:r>
              <a:rPr lang="en-US" err="1"/>
              <a:t>kaudu</a:t>
            </a:r>
            <a:r>
              <a:rPr lang="en-US"/>
              <a:t> </a:t>
            </a:r>
            <a:r>
              <a:rPr lang="en-US" err="1"/>
              <a:t>tulpade</a:t>
            </a:r>
            <a:r>
              <a:rPr lang="en-US"/>
              <a:t> </a:t>
            </a:r>
            <a:r>
              <a:rPr lang="en-US" err="1"/>
              <a:t>lisamine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4D9C5-3791-BF32-C6DA-2B258420122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>
                <a:ea typeface="Inter"/>
              </a:rPr>
              <a:t>Mitmeid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võimalusi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uue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tulba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lisamiseks</a:t>
            </a:r>
            <a:endParaRPr lang="en-US" sz="20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ea typeface="Inter"/>
              </a:rPr>
              <a:t>Tulp </a:t>
            </a:r>
            <a:r>
              <a:rPr lang="en-US" sz="2000" dirty="0" err="1">
                <a:ea typeface="Inter"/>
              </a:rPr>
              <a:t>müügiesindaja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eesnime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jaoks</a:t>
            </a:r>
            <a:endParaRPr lang="en-US" sz="2000" dirty="0">
              <a:ea typeface="Inter"/>
            </a:endParaRPr>
          </a:p>
          <a:p>
            <a:pPr lvl="1" indent="-514350">
              <a:lnSpc>
                <a:spcPct val="150000"/>
              </a:lnSpc>
            </a:pPr>
            <a:r>
              <a:rPr lang="en-US" sz="2000" dirty="0">
                <a:ea typeface="Inter"/>
              </a:rPr>
              <a:t>Column from example</a:t>
            </a: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</a:rPr>
              <a:t>Trükime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esimesse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lahtrisse</a:t>
            </a:r>
            <a:r>
              <a:rPr lang="en-US" sz="2000" dirty="0">
                <a:ea typeface="Inter"/>
              </a:rPr>
              <a:t>, </a:t>
            </a:r>
            <a:r>
              <a:rPr lang="en-US" sz="2000" dirty="0" err="1">
                <a:ea typeface="Inter"/>
              </a:rPr>
              <a:t>mida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tahame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väärtusena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näha</a:t>
            </a:r>
            <a:endParaRPr lang="en-US" sz="2000" dirty="0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</a:rPr>
              <a:t>PowerQuery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loob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automaatselt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valemi</a:t>
            </a:r>
            <a:endParaRPr lang="en-US" sz="2000" dirty="0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Inter"/>
              </a:rPr>
              <a:t>Vaatame </a:t>
            </a:r>
            <a:r>
              <a:rPr lang="en-US" sz="2000" dirty="0" err="1">
                <a:ea typeface="Inter"/>
              </a:rPr>
              <a:t>üle</a:t>
            </a:r>
            <a:r>
              <a:rPr lang="en-US" sz="2000" dirty="0">
                <a:ea typeface="Inter"/>
              </a:rPr>
              <a:t>, et </a:t>
            </a:r>
            <a:r>
              <a:rPr lang="en-US" sz="2000" dirty="0" err="1">
                <a:ea typeface="Inter"/>
              </a:rPr>
              <a:t>õige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loogika</a:t>
            </a:r>
            <a:r>
              <a:rPr lang="en-US" sz="2000" dirty="0">
                <a:ea typeface="Inter"/>
              </a:rPr>
              <a:t> ja </a:t>
            </a:r>
            <a:r>
              <a:rPr lang="en-US" sz="2000" dirty="0" err="1">
                <a:ea typeface="Inter"/>
              </a:rPr>
              <a:t>rakendame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kõigile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ridadele</a:t>
            </a:r>
            <a:endParaRPr lang="en-US" sz="2000" dirty="0">
              <a:ea typeface="Inter"/>
            </a:endParaRPr>
          </a:p>
          <a:p>
            <a:pPr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>
                <a:ea typeface="Inter"/>
              </a:rPr>
              <a:t>Vaatame </a:t>
            </a:r>
            <a:r>
              <a:rPr lang="en-US" sz="2000" dirty="0" err="1">
                <a:ea typeface="Inter"/>
              </a:rPr>
              <a:t>üle</a:t>
            </a:r>
            <a:r>
              <a:rPr lang="en-US" sz="2000" dirty="0">
                <a:ea typeface="Inter"/>
              </a:rPr>
              <a:t>, kas </a:t>
            </a:r>
            <a:r>
              <a:rPr lang="en-US" sz="2000" dirty="0" err="1">
                <a:ea typeface="Inter"/>
              </a:rPr>
              <a:t>tulid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korrektsed</a:t>
            </a:r>
            <a:r>
              <a:rPr lang="en-US" sz="2000" dirty="0">
                <a:ea typeface="Inter"/>
              </a:rPr>
              <a:t> </a:t>
            </a:r>
            <a:r>
              <a:rPr lang="en-US" sz="2000" dirty="0" err="1">
                <a:ea typeface="Inter"/>
              </a:rPr>
              <a:t>väärtused</a:t>
            </a:r>
            <a:endParaRPr lang="en-US" sz="200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3304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0673-B2ED-8144-8F2F-C8A3A2C5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DC3F9-BC59-F923-A2D9-857DEA278E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545A85-9D11-3167-DEC4-B510A6A1B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1979717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AD23-21CF-7D29-8D66-63668357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95D8-D648-FA54-EB16-9C6627828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Andmete</a:t>
            </a:r>
            <a:r>
              <a:rPr lang="en-US"/>
              <a:t> </a:t>
            </a:r>
            <a:r>
              <a:rPr lang="en-US" err="1"/>
              <a:t>visualiseerimise</a:t>
            </a:r>
            <a:r>
              <a:rPr lang="en-US"/>
              <a:t> </a:t>
            </a:r>
            <a:r>
              <a:rPr lang="en-US" err="1"/>
              <a:t>parimad</a:t>
            </a:r>
            <a:r>
              <a:rPr lang="en-US"/>
              <a:t> </a:t>
            </a:r>
            <a:r>
              <a:rPr lang="en-US" err="1"/>
              <a:t>praktikad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9F0EF-349F-BB4C-824A-C77DF0566A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Eesmärgipärane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Arusaadav</a:t>
            </a:r>
            <a:r>
              <a:rPr lang="en-US" sz="2400">
                <a:solidFill>
                  <a:srgbClr val="000000"/>
                </a:solidFill>
                <a:ea typeface="Inter"/>
              </a:rPr>
              <a:t> –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lisada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pealkirjad</a:t>
            </a:r>
            <a:r>
              <a:rPr lang="en-US" sz="2400">
                <a:solidFill>
                  <a:srgbClr val="000000"/>
                </a:solidFill>
                <a:ea typeface="Inter"/>
              </a:rPr>
              <a:t>,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kirjeldused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Lihtne</a:t>
            </a:r>
            <a:r>
              <a:rPr lang="en-US" sz="2400">
                <a:solidFill>
                  <a:srgbClr val="000000"/>
                </a:solidFill>
                <a:ea typeface="Inter"/>
              </a:rPr>
              <a:t> -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ainult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mõistmiseks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vajalik</a:t>
            </a:r>
            <a:r>
              <a:rPr lang="en-US" sz="2400">
                <a:solidFill>
                  <a:srgbClr val="000000"/>
                </a:solidFill>
                <a:ea typeface="Inter"/>
              </a:rPr>
              <a:t>,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muu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eemaldada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Ligipääsetav</a:t>
            </a:r>
            <a:r>
              <a:rPr lang="en-US" sz="2400">
                <a:solidFill>
                  <a:srgbClr val="000000"/>
                </a:solidFill>
                <a:ea typeface="Inter"/>
              </a:rPr>
              <a:t> (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nt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värvipimedusega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arvestamine</a:t>
            </a:r>
            <a:r>
              <a:rPr lang="en-US" sz="2400">
                <a:solidFill>
                  <a:srgbClr val="000000"/>
                </a:solidFill>
                <a:ea typeface="Inter"/>
              </a:rPr>
              <a:t>)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>
                <a:solidFill>
                  <a:srgbClr val="000000"/>
                </a:solidFill>
                <a:ea typeface="Inter"/>
              </a:rPr>
              <a:t>Piisav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kontrast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tausta</a:t>
            </a:r>
            <a:r>
              <a:rPr lang="en-US" sz="2400">
                <a:solidFill>
                  <a:srgbClr val="000000"/>
                </a:solidFill>
                <a:ea typeface="Inter"/>
              </a:rPr>
              <a:t> ja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graafiku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värvide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vahel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Teljed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alustada</a:t>
            </a:r>
            <a:r>
              <a:rPr lang="en-US" sz="2400">
                <a:solidFill>
                  <a:srgbClr val="000000"/>
                </a:solidFill>
                <a:ea typeface="Inter"/>
              </a:rPr>
              <a:t> 0-st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Kasutaja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loeb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vasakult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ülevalt</a:t>
            </a:r>
            <a:r>
              <a:rPr lang="en-US" sz="2400">
                <a:solidFill>
                  <a:srgbClr val="000000"/>
                </a:solidFill>
                <a:ea typeface="Inter"/>
              </a:rPr>
              <a:t> 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paremale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alla</a:t>
            </a:r>
            <a:r>
              <a:rPr lang="en-US" sz="2400">
                <a:solidFill>
                  <a:srgbClr val="000000"/>
                </a:solidFill>
                <a:ea typeface="Inter"/>
              </a:rPr>
              <a:t> – info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samas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loogikas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esitada</a:t>
            </a:r>
            <a:endParaRPr lang="en-US" sz="2400" err="1"/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Visuaalide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võrdluse</a:t>
            </a:r>
            <a:r>
              <a:rPr lang="en-US" sz="2400">
                <a:solidFill>
                  <a:srgbClr val="000000"/>
                </a:solidFill>
                <a:ea typeface="Inter"/>
              </a:rPr>
              <a:t> test: 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  <a:hlinkClick r:id="rId3"/>
              </a:rPr>
              <a:t>Dataviz Design Principles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6151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9665-760D-358F-27BE-96E726B14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Kas see on </a:t>
            </a:r>
            <a:r>
              <a:rPr lang="en-US" err="1">
                <a:ea typeface="+mj-lt"/>
                <a:cs typeface="+mj-lt"/>
              </a:rPr>
              <a:t>hea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visuaal</a:t>
            </a:r>
            <a:r>
              <a:rPr lang="en-US">
                <a:ea typeface="+mj-lt"/>
                <a:cs typeface="+mj-lt"/>
              </a:rPr>
              <a:t> – </a:t>
            </a:r>
            <a:r>
              <a:rPr lang="en-US" err="1">
                <a:ea typeface="+mj-lt"/>
                <a:cs typeface="+mj-lt"/>
              </a:rPr>
              <a:t>miks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või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miks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mitte</a:t>
            </a:r>
            <a:r>
              <a:rPr lang="en-US">
                <a:ea typeface="+mj-lt"/>
                <a:cs typeface="+mj-lt"/>
              </a:rPr>
              <a:t>?</a:t>
            </a:r>
            <a:endParaRPr lang="en-US">
              <a:solidFill>
                <a:srgbClr val="000000"/>
              </a:solidFill>
              <a:ea typeface="+mj-lt"/>
              <a:cs typeface="+mj-lt"/>
            </a:endParaRPr>
          </a:p>
          <a:p>
            <a:endParaRPr lang="en-US"/>
          </a:p>
        </p:txBody>
      </p:sp>
      <p:pic>
        <p:nvPicPr>
          <p:cNvPr id="4" name="Content Placeholder 3" descr="chart, pie chart">
            <a:extLst>
              <a:ext uri="{FF2B5EF4-FFF2-40B4-BE49-F238E27FC236}">
                <a16:creationId xmlns:a16="http://schemas.microsoft.com/office/drawing/2014/main" id="{0A6BB9F2-11DF-2DBD-BD78-2AD402C8967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465810" y="1268413"/>
            <a:ext cx="5257205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2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70693-807C-0582-E2F8-D70C2E33A1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Kumb </a:t>
            </a:r>
            <a:r>
              <a:rPr lang="en-US" err="1"/>
              <a:t>visuaal</a:t>
            </a:r>
            <a:r>
              <a:rPr lang="en-US"/>
              <a:t> on  </a:t>
            </a:r>
            <a:r>
              <a:rPr lang="en-US" err="1"/>
              <a:t>parem</a:t>
            </a:r>
            <a:r>
              <a:rPr lang="en-US"/>
              <a:t> – </a:t>
            </a:r>
            <a:r>
              <a:rPr lang="en-US" err="1"/>
              <a:t>miks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D13E-E6C1-F13D-85FB-D41B6EB0BA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4A489-80BB-9D68-E783-307EEB75483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4" descr="A graph of co2 emissions&#10;&#10;AI-generated content may be incorrect.">
            <a:extLst>
              <a:ext uri="{FF2B5EF4-FFF2-40B4-BE49-F238E27FC236}">
                <a16:creationId xmlns:a16="http://schemas.microsoft.com/office/drawing/2014/main" id="{42F28992-9372-2820-2AA9-A223EC4F3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79" y="1266546"/>
            <a:ext cx="5181752" cy="4159478"/>
          </a:xfrm>
          <a:prstGeom prst="rect">
            <a:avLst/>
          </a:prstGeom>
        </p:spPr>
      </p:pic>
      <p:pic>
        <p:nvPicPr>
          <p:cNvPr id="8" name="Content Placeholder 5" descr="A graph with a red bar and gray bars&#10;&#10;AI-generated content may be incorrect.">
            <a:extLst>
              <a:ext uri="{FF2B5EF4-FFF2-40B4-BE49-F238E27FC236}">
                <a16:creationId xmlns:a16="http://schemas.microsoft.com/office/drawing/2014/main" id="{FDC5B212-1535-8D2B-FD2B-642991781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849" y="1268413"/>
            <a:ext cx="5371682" cy="4143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9BEFD3-193A-7B44-10AC-572FE16CDF23}"/>
              </a:ext>
            </a:extLst>
          </p:cNvPr>
          <p:cNvSpPr txBox="1"/>
          <p:nvPr/>
        </p:nvSpPr>
        <p:spPr>
          <a:xfrm>
            <a:off x="631795" y="6124716"/>
            <a:ext cx="85770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Inter"/>
              </a:rPr>
              <a:t>Allikas: </a:t>
            </a:r>
            <a:r>
              <a:rPr lang="en-US" sz="1200">
                <a:ea typeface="Inter"/>
                <a:hlinkClick r:id="rId4"/>
              </a:rPr>
              <a:t>Rand Owens. </a:t>
            </a:r>
            <a:r>
              <a:rPr lang="en-US" sz="1200">
                <a:solidFill>
                  <a:srgbClr val="000000"/>
                </a:solidFill>
                <a:hlinkClick r:id="rId4"/>
              </a:rPr>
              <a:t>10 Good and Bad Examples of Data Visualization in 2024.</a:t>
            </a:r>
            <a:endParaRPr lang="en-US" sz="120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73110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A2B20-17DB-62FA-4642-AEDF9BBEE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5F4C-1D32-4631-F4CF-0F9BD91F5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Kumb </a:t>
            </a:r>
            <a:r>
              <a:rPr lang="en-US" err="1"/>
              <a:t>visuaal</a:t>
            </a:r>
            <a:r>
              <a:rPr lang="en-US"/>
              <a:t> on  </a:t>
            </a:r>
            <a:r>
              <a:rPr lang="en-US" err="1"/>
              <a:t>parem</a:t>
            </a:r>
            <a:r>
              <a:rPr lang="en-US"/>
              <a:t> – </a:t>
            </a:r>
            <a:r>
              <a:rPr lang="en-US" err="1"/>
              <a:t>miks</a:t>
            </a:r>
            <a:r>
              <a:rPr lang="en-US"/>
              <a:t>?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A52F640-1D0A-6676-2612-F74C1B9849E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757193" y="1722741"/>
            <a:ext cx="4140445" cy="3674208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9DEEC26-55A7-9770-1A7A-48D155173F1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088110" y="1722743"/>
            <a:ext cx="4582257" cy="3674207"/>
          </a:xfrm>
          <a:prstGeom prst="rect">
            <a:avLst/>
          </a:prstGeom>
          <a:ln>
            <a:solidFill>
              <a:schemeClr val="tx1">
                <a:lumMod val="10000"/>
                <a:lumOff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3550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B6255-A18B-98C8-37D3-5A91EE8E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ADF3-06C6-7A42-2CFB-B3F6BEA29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Kumb </a:t>
            </a:r>
            <a:r>
              <a:rPr lang="en-US" err="1"/>
              <a:t>visuaal</a:t>
            </a:r>
            <a:r>
              <a:rPr lang="en-US"/>
              <a:t> on </a:t>
            </a:r>
            <a:r>
              <a:rPr lang="en-US" err="1"/>
              <a:t>parem</a:t>
            </a:r>
            <a:r>
              <a:rPr lang="en-US"/>
              <a:t> – </a:t>
            </a:r>
            <a:r>
              <a:rPr lang="en-US" err="1"/>
              <a:t>miks</a:t>
            </a:r>
            <a:r>
              <a:rPr lang="en-US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5CB1DB-43DC-007D-0D83-3BFBC5B29A8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36455" y="1268413"/>
            <a:ext cx="4711055" cy="4131610"/>
          </a:xfrm>
          <a:prstGeom prst="rect">
            <a:avLst/>
          </a:prstGeom>
        </p:spPr>
      </p:pic>
      <p:pic>
        <p:nvPicPr>
          <p:cNvPr id="8" name="Content Placeholder 7" descr="A graph showing a number of sales&#10;&#10;AI-generated content may be incorrect.">
            <a:extLst>
              <a:ext uri="{FF2B5EF4-FFF2-40B4-BE49-F238E27FC236}">
                <a16:creationId xmlns:a16="http://schemas.microsoft.com/office/drawing/2014/main" id="{360B97AD-FC5D-BB0E-0676-B5A738A91A2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6747007" y="1268412"/>
            <a:ext cx="4685143" cy="4131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D38AA4-127B-D0C2-EC2D-3D9FC005B9BF}"/>
              </a:ext>
            </a:extLst>
          </p:cNvPr>
          <p:cNvSpPr txBox="1"/>
          <p:nvPr/>
        </p:nvSpPr>
        <p:spPr>
          <a:xfrm>
            <a:off x="631795" y="6124716"/>
            <a:ext cx="85770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Inter"/>
              </a:rPr>
              <a:t>Allikas: </a:t>
            </a:r>
            <a:r>
              <a:rPr lang="en-US" sz="1200">
                <a:ea typeface="Inter"/>
                <a:hlinkClick r:id="rId4"/>
              </a:rPr>
              <a:t>Rand Owens. </a:t>
            </a:r>
            <a:r>
              <a:rPr lang="en-US" sz="1200">
                <a:solidFill>
                  <a:srgbClr val="000000"/>
                </a:solidFill>
                <a:hlinkClick r:id="rId4"/>
              </a:rPr>
              <a:t>10 Good and Bad Examples of Data Visualization in 2024.</a:t>
            </a:r>
            <a:endParaRPr lang="en-US" sz="120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97544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95D20-17C4-BC51-A46D-45786216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AE3B-A6BD-571A-882F-3266F13CE7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Õige </a:t>
            </a:r>
            <a:r>
              <a:rPr lang="en-US" err="1"/>
              <a:t>visuaali</a:t>
            </a:r>
            <a:r>
              <a:rPr lang="en-US"/>
              <a:t> </a:t>
            </a:r>
            <a:r>
              <a:rPr lang="en-US" err="1"/>
              <a:t>valimine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B89B8-B808-32D1-3C5F-AF4D5CF10E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80FF65D0-1C51-2845-87B7-E7BF5BF17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486" y="974912"/>
            <a:ext cx="7360206" cy="540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5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5880A-65B9-EF2C-26CD-F373C75060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Lugemist</a:t>
            </a:r>
            <a:r>
              <a:rPr lang="en-US"/>
              <a:t> </a:t>
            </a:r>
            <a:r>
              <a:rPr lang="en-US" err="1"/>
              <a:t>visualiseerimise</a:t>
            </a:r>
            <a:r>
              <a:rPr lang="en-US"/>
              <a:t> </a:t>
            </a:r>
            <a:r>
              <a:rPr lang="en-US" err="1"/>
              <a:t>teemal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6FC58-3D89-09B2-8E5F-8B998115BB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>
                <a:ea typeface="Inter"/>
                <a:hlinkClick r:id="rId2"/>
              </a:rPr>
              <a:t>Rand Owens. 10 Good and Bad Examples of Data Visualization in 2024.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2400">
                <a:ea typeface="Inter"/>
                <a:hlinkClick r:id="rId3"/>
              </a:rPr>
              <a:t>Ivan Kilin. 80 types of charts &amp; graphs for data visualization</a:t>
            </a:r>
            <a:r>
              <a:rPr lang="en-US" sz="2400">
                <a:ea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9496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2242-2C8B-7D72-D812-D7A90CB18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00C6-9E67-F7B5-9482-12F2FA61B5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BDC649-FC18-AEC5-0827-D5FAAF4BD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3847127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841B-1620-7F64-AABF-17AC8BE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5146-E745-CD30-E5D4-2398C96FD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Müükide</a:t>
            </a:r>
            <a:r>
              <a:rPr lang="en-US"/>
              <a:t> </a:t>
            </a:r>
            <a:r>
              <a:rPr lang="en-US" err="1"/>
              <a:t>ülevaade</a:t>
            </a:r>
            <a:r>
              <a:rPr lang="en-US"/>
              <a:t> </a:t>
            </a:r>
            <a:r>
              <a:rPr lang="en-US" err="1"/>
              <a:t>müügitiimile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4B09-5239-995B-53EC-8B8446BCCF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Kuidas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edeneb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käesoleval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kuul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eelarve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täitmine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müügiesindajate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kaupa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?</a:t>
            </a: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130150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3FD9-D77E-162D-7041-13E961378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699D-1274-F976-3263-C742CC939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Desktop – </a:t>
            </a:r>
            <a:r>
              <a:rPr lang="en-US" err="1"/>
              <a:t>vormistame</a:t>
            </a:r>
            <a:r>
              <a:rPr lang="en-US"/>
              <a:t> </a:t>
            </a:r>
            <a:r>
              <a:rPr lang="en-US" err="1"/>
              <a:t>raporti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E1846-2AEC-E6FD-1A12-9E9DD48102E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Värvid</a:t>
            </a:r>
            <a:r>
              <a:rPr lang="en-US" sz="2400">
                <a:solidFill>
                  <a:srgbClr val="000000"/>
                </a:solidFill>
                <a:ea typeface="Inter"/>
              </a:rPr>
              <a:t> -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võimalik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valida</a:t>
            </a:r>
            <a:r>
              <a:rPr lang="en-US" sz="2400">
                <a:solidFill>
                  <a:srgbClr val="000000"/>
                </a:solidFill>
                <a:ea typeface="Inter"/>
              </a:rPr>
              <a:t> View --&gt; Themes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000" err="1">
                <a:solidFill>
                  <a:srgbClr val="000000"/>
                </a:solidFill>
                <a:ea typeface="Inter"/>
              </a:rPr>
              <a:t>Tihti</a:t>
            </a:r>
            <a:r>
              <a:rPr lang="en-US" sz="2000">
                <a:solidFill>
                  <a:srgbClr val="000000"/>
                </a:solidFill>
                <a:ea typeface="Inter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Inter"/>
              </a:rPr>
              <a:t>firmadel</a:t>
            </a:r>
            <a:r>
              <a:rPr lang="en-US" sz="2000">
                <a:solidFill>
                  <a:srgbClr val="000000"/>
                </a:solidFill>
                <a:ea typeface="Inter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Inter"/>
              </a:rPr>
              <a:t>enda</a:t>
            </a:r>
            <a:r>
              <a:rPr lang="en-US" sz="2000">
                <a:solidFill>
                  <a:srgbClr val="000000"/>
                </a:solidFill>
                <a:ea typeface="Inter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Inter"/>
              </a:rPr>
              <a:t>fondid</a:t>
            </a:r>
            <a:r>
              <a:rPr lang="en-US" sz="2000">
                <a:solidFill>
                  <a:srgbClr val="000000"/>
                </a:solidFill>
                <a:ea typeface="Inter"/>
              </a:rPr>
              <a:t> ja </a:t>
            </a:r>
            <a:r>
              <a:rPr lang="en-US" sz="2000" err="1">
                <a:solidFill>
                  <a:srgbClr val="000000"/>
                </a:solidFill>
                <a:ea typeface="Inter"/>
              </a:rPr>
              <a:t>värvid</a:t>
            </a:r>
            <a:r>
              <a:rPr lang="en-US" sz="2000">
                <a:solidFill>
                  <a:srgbClr val="000000"/>
                </a:solidFill>
                <a:ea typeface="Inter"/>
              </a:rPr>
              <a:t>, </a:t>
            </a:r>
            <a:r>
              <a:rPr lang="en-US" sz="2000" err="1">
                <a:solidFill>
                  <a:srgbClr val="000000"/>
                </a:solidFill>
                <a:ea typeface="Inter"/>
              </a:rPr>
              <a:t>siis</a:t>
            </a:r>
            <a:r>
              <a:rPr lang="en-US" sz="2000">
                <a:solidFill>
                  <a:srgbClr val="000000"/>
                </a:solidFill>
                <a:ea typeface="Inter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Inter"/>
              </a:rPr>
              <a:t>saab</a:t>
            </a:r>
            <a:r>
              <a:rPr lang="en-US" sz="2000">
                <a:solidFill>
                  <a:srgbClr val="000000"/>
                </a:solidFill>
                <a:ea typeface="Inter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Inter"/>
              </a:rPr>
              <a:t>seadistada</a:t>
            </a:r>
            <a:r>
              <a:rPr lang="en-US" sz="2000">
                <a:solidFill>
                  <a:srgbClr val="000000"/>
                </a:solidFill>
                <a:ea typeface="Inter"/>
              </a:rPr>
              <a:t> Custom Theme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Visuaalid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joondada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Visuaalid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üle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vaadata</a:t>
            </a:r>
            <a:r>
              <a:rPr lang="en-US" sz="2400">
                <a:solidFill>
                  <a:srgbClr val="000000"/>
                </a:solidFill>
                <a:ea typeface="Inter"/>
              </a:rPr>
              <a:t> – kas on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ainult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vajalikud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elemendid</a:t>
            </a:r>
            <a:r>
              <a:rPr lang="en-US" sz="2400">
                <a:solidFill>
                  <a:srgbClr val="000000"/>
                </a:solidFill>
                <a:ea typeface="Inter"/>
              </a:rPr>
              <a:t>?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Pealkirjad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üle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vaadata</a:t>
            </a:r>
            <a:endParaRPr lang="en-US" sz="2400">
              <a:solidFill>
                <a:srgbClr val="000000"/>
              </a:solidFill>
              <a:ea typeface="Inter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28759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4585-D2DF-8BBA-F76F-A1F663592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2E5D-075E-DD90-191E-85206ABC80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Power BI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7BEB0-F68E-0C93-C7A0-ABBBB81469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Veebikeskkond</a:t>
            </a:r>
            <a:r>
              <a:rPr lang="en-US" sz="2400">
                <a:solidFill>
                  <a:srgbClr val="000000"/>
                </a:solidFill>
                <a:ea typeface="Inter"/>
              </a:rPr>
              <a:t> PBI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raportite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jagamiseks</a:t>
            </a:r>
            <a:endParaRPr lang="en-US" err="1"/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Tasuta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versioonis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ainult</a:t>
            </a:r>
            <a:r>
              <a:rPr lang="en-US" sz="2400">
                <a:solidFill>
                  <a:srgbClr val="000000"/>
                </a:solidFill>
                <a:ea typeface="Inter"/>
              </a:rPr>
              <a:t> My Workspace ja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ei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saa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jagada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teistega</a:t>
            </a: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Üleslaadimisel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tekib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kaks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faili</a:t>
            </a:r>
            <a:r>
              <a:rPr lang="en-US" sz="2400">
                <a:solidFill>
                  <a:srgbClr val="000000"/>
                </a:solidFill>
                <a:ea typeface="Inter"/>
              </a:rPr>
              <a:t>: 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Andmestik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Raport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58728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15F75-FC9C-EF8C-50B5-8243CA94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DA6FB-6CD2-65BA-09C4-FCC6EF0AF8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4C20F-523D-8335-2938-F35D9E570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3731588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9484-4C76-162B-D0A1-45BF448AB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DC7B-D396-F1F4-9065-942A05C79C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Andmeloo</a:t>
            </a:r>
            <a:r>
              <a:rPr lang="en-US"/>
              <a:t> </a:t>
            </a:r>
            <a:r>
              <a:rPr lang="en-US" err="1"/>
              <a:t>jutustamine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76C14-59CC-5214-7F12-0F82D85E4D1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ea typeface="Inter"/>
              </a:rPr>
              <a:t>Kui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tahad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edasi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anda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kindla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sõnumi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Üks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põhiline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sõnum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visuaali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kohta</a:t>
            </a:r>
            <a:endParaRPr lang="en-US" sz="24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Kirjeldava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pealkirja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asemel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järeldusega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pealkiri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Minimaalselt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värve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Inspiratsiooni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: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  <a:hlinkClick r:id="rId3"/>
              </a:rPr>
              <a:t>https://www.storytellingwithdata.com/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ea typeface="Inter"/>
              </a:rPr>
              <a:t>Andmepärli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Inter"/>
              </a:rPr>
              <a:t>konkurss</a:t>
            </a:r>
            <a:r>
              <a:rPr lang="en-US" sz="2400" dirty="0">
                <a:solidFill>
                  <a:srgbClr val="000000"/>
                </a:solidFill>
                <a:ea typeface="Inter"/>
              </a:rPr>
              <a:t>: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https://stat.ee/et/statistikaamet/meist/konkurss-andmeparl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20893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162B-AE13-BD52-4200-1745BFF2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2EF5-E4B4-624F-B619-0D4537D5B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Järelduste</a:t>
            </a:r>
            <a:r>
              <a:rPr lang="en-US"/>
              <a:t> </a:t>
            </a:r>
            <a:r>
              <a:rPr lang="en-US" err="1"/>
              <a:t>tegemine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61742-DF25-4363-F470-8E384FA03D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ea typeface="Inter"/>
              </a:rPr>
              <a:t>Mida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saame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järeldada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oma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müügiandmestiku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analüüsist</a:t>
            </a:r>
            <a:r>
              <a:rPr lang="en-US" sz="2400">
                <a:solidFill>
                  <a:srgbClr val="000000"/>
                </a:solidFill>
                <a:ea typeface="Inter"/>
              </a:rPr>
              <a:t>?</a:t>
            </a:r>
            <a:endParaRPr lang="en-US" err="1">
              <a:solidFill>
                <a:srgbClr val="121212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err="1">
                <a:solidFill>
                  <a:srgbClr val="000000"/>
                </a:solidFill>
                <a:ea typeface="Inter"/>
              </a:rPr>
              <a:t>Kuidas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analüüsi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teistega</a:t>
            </a:r>
            <a:r>
              <a:rPr lang="en-US" sz="2400">
                <a:solidFill>
                  <a:srgbClr val="000000"/>
                </a:solidFill>
                <a:ea typeface="Inter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Inter"/>
              </a:rPr>
              <a:t>jagada</a:t>
            </a:r>
            <a:r>
              <a:rPr lang="en-US" sz="2400">
                <a:solidFill>
                  <a:srgbClr val="000000"/>
                </a:solidFill>
                <a:ea typeface="Inter"/>
              </a:rPr>
              <a:t>?</a:t>
            </a:r>
            <a:endParaRPr lang="en-US" sz="240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>
              <a:solidFill>
                <a:srgbClr val="000000"/>
              </a:solidFill>
              <a:ea typeface="Inter"/>
            </a:endParaRP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426166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9ECF-1EF0-3F4D-AFB7-FEEC40A6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4B0E90-E399-3E85-BFCD-9421C7D97FE8}"/>
              </a:ext>
            </a:extLst>
          </p:cNvPr>
          <p:cNvSpPr txBox="1"/>
          <p:nvPr/>
        </p:nvSpPr>
        <p:spPr>
          <a:xfrm>
            <a:off x="589226" y="466103"/>
            <a:ext cx="103686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latin typeface="Inter Bold"/>
                <a:ea typeface="Inter"/>
              </a:rPr>
              <a:t>Müügiandmete</a:t>
            </a:r>
            <a:r>
              <a:rPr lang="en-US" sz="2400" b="1">
                <a:latin typeface="Inter Bold"/>
                <a:ea typeface="Inter"/>
              </a:rPr>
              <a:t> </a:t>
            </a:r>
            <a:r>
              <a:rPr lang="en-US" sz="2400" b="1" err="1">
                <a:latin typeface="Inter Bold"/>
                <a:ea typeface="Inter"/>
              </a:rPr>
              <a:t>põhjal</a:t>
            </a:r>
            <a:r>
              <a:rPr lang="en-US" sz="2400" b="1">
                <a:latin typeface="Inter Bold"/>
                <a:ea typeface="Inter"/>
              </a:rPr>
              <a:t> </a:t>
            </a:r>
            <a:r>
              <a:rPr lang="en-US" sz="2400" b="1" err="1">
                <a:latin typeface="Inter Bold"/>
                <a:ea typeface="Inter"/>
              </a:rPr>
              <a:t>näide</a:t>
            </a:r>
            <a:r>
              <a:rPr lang="en-US" sz="2400" b="1">
                <a:latin typeface="Inter Bold"/>
                <a:ea typeface="Inter"/>
              </a:rPr>
              <a:t> </a:t>
            </a:r>
            <a:r>
              <a:rPr lang="en-US" sz="2400" b="1" err="1">
                <a:latin typeface="Inter Bold"/>
                <a:ea typeface="Inter"/>
              </a:rPr>
              <a:t>andmeloost</a:t>
            </a:r>
            <a:endParaRPr lang="en-US" sz="2400" b="1">
              <a:latin typeface="Inter Bold"/>
              <a:ea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FEA15-4673-3222-BBD5-D47FECE98245}"/>
              </a:ext>
            </a:extLst>
          </p:cNvPr>
          <p:cNvSpPr txBox="1"/>
          <p:nvPr/>
        </p:nvSpPr>
        <p:spPr>
          <a:xfrm>
            <a:off x="3118183" y="4481763"/>
            <a:ext cx="6176209" cy="700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1400" dirty="0">
                <a:ea typeface="Inter"/>
              </a:rPr>
              <a:t>Costs are significantly different, but average unit prices are similar. 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US" sz="1400" dirty="0">
                <a:ea typeface="Inter"/>
              </a:rPr>
              <a:t>Consider raising prices for Gadget C and Device 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C40542A-C4B6-64AE-9BC2-3A8D5B54DA5B}"/>
              </a:ext>
            </a:extLst>
          </p:cNvPr>
          <p:cNvGrpSpPr/>
          <p:nvPr/>
        </p:nvGrpSpPr>
        <p:grpSpPr>
          <a:xfrm>
            <a:off x="3118184" y="2105525"/>
            <a:ext cx="6045868" cy="3078079"/>
            <a:chOff x="3118184" y="2105525"/>
            <a:chExt cx="6045868" cy="307807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FFF91DC-E0E0-6460-0FD6-993B52FEEF9B}"/>
                </a:ext>
              </a:extLst>
            </p:cNvPr>
            <p:cNvGrpSpPr/>
            <p:nvPr/>
          </p:nvGrpSpPr>
          <p:grpSpPr>
            <a:xfrm>
              <a:off x="3118184" y="2105525"/>
              <a:ext cx="6045868" cy="3078079"/>
              <a:chOff x="3118184" y="2105525"/>
              <a:chExt cx="6045868" cy="3078079"/>
            </a:xfrm>
          </p:grpSpPr>
          <p:pic>
            <p:nvPicPr>
              <p:cNvPr id="3" name="Picture 2" descr="A screenshot of a price list&#10;&#10;AI-generated content may be incorrect.">
                <a:extLst>
                  <a:ext uri="{FF2B5EF4-FFF2-40B4-BE49-F238E27FC236}">
                    <a16:creationId xmlns:a16="http://schemas.microsoft.com/office/drawing/2014/main" id="{5710E79F-52E9-74F5-8969-7A5AEF53A3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87150" y="2665272"/>
                <a:ext cx="5438273" cy="170998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AB000F-3FDF-A298-A857-299EE56275A9}"/>
                  </a:ext>
                </a:extLst>
              </p:cNvPr>
              <p:cNvSpPr txBox="1"/>
              <p:nvPr/>
            </p:nvSpPr>
            <p:spPr>
              <a:xfrm>
                <a:off x="3118184" y="2105526"/>
                <a:ext cx="6045868" cy="36933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b="1">
                    <a:solidFill>
                      <a:srgbClr val="FFFFFF"/>
                    </a:solidFill>
                    <a:ea typeface="Inter"/>
                  </a:rPr>
                  <a:t>Pricing model needs review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8C684C0-8797-503E-DAD1-EC900E96B8A7}"/>
                  </a:ext>
                </a:extLst>
              </p:cNvPr>
              <p:cNvSpPr/>
              <p:nvPr/>
            </p:nvSpPr>
            <p:spPr>
              <a:xfrm>
                <a:off x="3118184" y="2105525"/>
                <a:ext cx="6045867" cy="307807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938FF6-1A89-CFA2-0A21-F0F5D52BF284}"/>
                </a:ext>
              </a:extLst>
            </p:cNvPr>
            <p:cNvSpPr/>
            <p:nvPr/>
          </p:nvSpPr>
          <p:spPr>
            <a:xfrm>
              <a:off x="4772526" y="2626894"/>
              <a:ext cx="1072816" cy="1704473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9601003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594</Words>
  <Application>Microsoft Office PowerPoint</Application>
  <PresentationFormat>Widescreen</PresentationFormat>
  <Paragraphs>100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Inter</vt:lpstr>
      <vt:lpstr>Calibri</vt:lpstr>
      <vt:lpstr>Courier New</vt:lpstr>
      <vt:lpstr>Poppins SemiBold</vt:lpstr>
      <vt:lpstr>Inter Bold</vt:lpstr>
      <vt:lpstr>Wingdings</vt:lpstr>
      <vt:lpstr>BCS</vt:lpstr>
      <vt:lpstr>Vali Andmetarkus!</vt:lpstr>
      <vt:lpstr>Päevakava - III päev</vt:lpstr>
      <vt:lpstr>Power BI – Päringud (M-language)</vt:lpstr>
      <vt:lpstr>Harjutus – muudame andmeallikad veebipõhiseks</vt:lpstr>
      <vt:lpstr>Power BI – Eelarve faili lisamine</vt:lpstr>
      <vt:lpstr>Power BI – päringu kaudu tulpade lisamine</vt:lpstr>
      <vt:lpstr>Paus 10:30-10:45</vt:lpstr>
      <vt:lpstr>Andmete visualiseerimise parimad praktikad</vt:lpstr>
      <vt:lpstr>Kas see on hea visuaal – miks või miks mitte? </vt:lpstr>
      <vt:lpstr>Kumb visuaal on  parem – miks?</vt:lpstr>
      <vt:lpstr>Kumb visuaal on  parem – miks?</vt:lpstr>
      <vt:lpstr>Kumb visuaal on parem – miks?</vt:lpstr>
      <vt:lpstr>Õige visuaali valimine</vt:lpstr>
      <vt:lpstr>Lugemist visualiseerimise teemal</vt:lpstr>
      <vt:lpstr>Lõunapaus 12:15-13:15</vt:lpstr>
      <vt:lpstr>Müükide ülevaade müügitiimile</vt:lpstr>
      <vt:lpstr>Power BI Desktop – vormistame raporti</vt:lpstr>
      <vt:lpstr>Power BI Service</vt:lpstr>
      <vt:lpstr>Paus 14:45-15:00</vt:lpstr>
      <vt:lpstr>Andmeloo jutustamine</vt:lpstr>
      <vt:lpstr>Järelduste tegemine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2</cp:revision>
  <dcterms:created xsi:type="dcterms:W3CDTF">2021-08-27T11:35:28Z</dcterms:created>
  <dcterms:modified xsi:type="dcterms:W3CDTF">2026-03-31T14:38:18Z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