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417" r:id="rId5"/>
    <p:sldId id="457" r:id="rId6"/>
    <p:sldId id="447" r:id="rId7"/>
    <p:sldId id="641" r:id="rId8"/>
    <p:sldId id="448" r:id="rId9"/>
    <p:sldId id="449" r:id="rId10"/>
    <p:sldId id="579" r:id="rId11"/>
    <p:sldId id="450" r:id="rId12"/>
    <p:sldId id="603" r:id="rId13"/>
    <p:sldId id="638" r:id="rId14"/>
    <p:sldId id="639" r:id="rId15"/>
    <p:sldId id="640" r:id="rId16"/>
    <p:sldId id="484" r:id="rId17"/>
    <p:sldId id="635" r:id="rId18"/>
    <p:sldId id="580" r:id="rId19"/>
    <p:sldId id="588" r:id="rId20"/>
    <p:sldId id="460" r:id="rId21"/>
    <p:sldId id="461" r:id="rId22"/>
    <p:sldId id="581" r:id="rId23"/>
    <p:sldId id="503" r:id="rId24"/>
    <p:sldId id="480" r:id="rId25"/>
    <p:sldId id="604" r:id="rId26"/>
  </p:sldIdLst>
  <p:sldSz cx="12192000" cy="6858000"/>
  <p:notesSz cx="6858000" cy="9144000"/>
  <p:embeddedFontLst>
    <p:embeddedFont>
      <p:font typeface="Inter" panose="020B0604020202020204" charset="0"/>
      <p:regular r:id="rId29"/>
      <p:bold r:id="rId30"/>
      <p:italic r:id="rId31"/>
      <p:boldItalic r:id="rId32"/>
    </p:embeddedFont>
    <p:embeddedFont>
      <p:font typeface="Inter Bold" panose="020B0604020202020204" charset="0"/>
      <p:bold r:id="rId33"/>
    </p:embeddedFont>
    <p:embeddedFont>
      <p:font typeface="Poppins SemiBold" panose="00000700000000000000" pitchFamily="2" charset="0"/>
      <p:bold r:id="rId34"/>
      <p:boldItalic r:id="rId35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264095-0336-4BCF-B0CD-C5AE405565C1}" v="3" dt="2026-03-31T14:38:11.7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61" d="100"/>
          <a:sy n="61" d="100"/>
        </p:scale>
        <p:origin x="8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font" Target="fonts/font6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1.fntdata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4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5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custSel addSld modSld sldOrd">
      <pc:chgData name="Virve Räni" userId="161a7437-7ef4-49ec-91bf-54882f313dfe" providerId="ADAL" clId="{6D754EED-65AA-4A21-B175-6769012CF487}" dt="2026-04-01T12:11:11.925" v="569" actId="20577"/>
      <pc:docMkLst>
        <pc:docMk/>
      </pc:docMkLst>
      <pc:sldChg chg="ord">
        <pc:chgData name="Virve Räni" userId="161a7437-7ef4-49ec-91bf-54882f313dfe" providerId="ADAL" clId="{6D754EED-65AA-4A21-B175-6769012CF487}" dt="2026-03-31T14:37:40.519" v="539"/>
        <pc:sldMkLst>
          <pc:docMk/>
          <pc:sldMk cId="2761534892" sldId="447"/>
        </pc:sldMkLst>
      </pc:sldChg>
      <pc:sldChg chg="modSp modAnim">
        <pc:chgData name="Virve Räni" userId="161a7437-7ef4-49ec-91bf-54882f313dfe" providerId="ADAL" clId="{6D754EED-65AA-4A21-B175-6769012CF487}" dt="2026-03-31T14:38:11.727" v="542" actId="20577"/>
        <pc:sldMkLst>
          <pc:docMk/>
          <pc:sldMk cId="2033048184" sldId="449"/>
        </pc:sldMkLst>
        <pc:spChg chg="mod">
          <ac:chgData name="Virve Räni" userId="161a7437-7ef4-49ec-91bf-54882f313dfe" providerId="ADAL" clId="{6D754EED-65AA-4A21-B175-6769012CF487}" dt="2026-03-31T14:38:11.727" v="542" actId="20577"/>
          <ac:spMkLst>
            <pc:docMk/>
            <pc:sldMk cId="2033048184" sldId="449"/>
            <ac:spMk id="3" creationId="{5724D9C5-3791-BF32-C6DA-2B258420122F}"/>
          </ac:spMkLst>
        </pc:spChg>
      </pc:sldChg>
      <pc:sldChg chg="modSp mod">
        <pc:chgData name="Virve Räni" userId="161a7437-7ef4-49ec-91bf-54882f313dfe" providerId="ADAL" clId="{6D754EED-65AA-4A21-B175-6769012CF487}" dt="2026-04-01T12:11:11.925" v="569" actId="20577"/>
        <pc:sldMkLst>
          <pc:docMk/>
          <pc:sldMk cId="1426166856" sldId="480"/>
        </pc:sldMkLst>
        <pc:spChg chg="mod">
          <ac:chgData name="Virve Räni" userId="161a7437-7ef4-49ec-91bf-54882f313dfe" providerId="ADAL" clId="{6D754EED-65AA-4A21-B175-6769012CF487}" dt="2026-04-01T12:11:11.925" v="569" actId="20577"/>
          <ac:spMkLst>
            <pc:docMk/>
            <pc:sldMk cId="1426166856" sldId="480"/>
            <ac:spMk id="3" creationId="{FE461742-DF25-4363-F470-8E384FA03D54}"/>
          </ac:spMkLst>
        </pc:spChg>
      </pc:sldChg>
      <pc:sldChg chg="modSp new mod">
        <pc:chgData name="Virve Räni" userId="161a7437-7ef4-49ec-91bf-54882f313dfe" providerId="ADAL" clId="{6D754EED-65AA-4A21-B175-6769012CF487}" dt="2026-03-31T14:34:39.244" v="537" actId="20577"/>
        <pc:sldMkLst>
          <pc:docMk/>
          <pc:sldMk cId="2411427698" sldId="641"/>
        </pc:sldMkLst>
        <pc:spChg chg="mod">
          <ac:chgData name="Virve Räni" userId="161a7437-7ef4-49ec-91bf-54882f313dfe" providerId="ADAL" clId="{6D754EED-65AA-4A21-B175-6769012CF487}" dt="2026-03-31T14:26:20.550" v="79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Virve Räni" userId="161a7437-7ef4-49ec-91bf-54882f313dfe" providerId="ADAL" clId="{6D754EED-65AA-4A21-B175-6769012CF487}" dt="2026-03-31T14:34:39.244" v="537" actId="20577"/>
          <ac:spMkLst>
            <pc:docMk/>
            <pc:sldMk cId="2411427698" sldId="641"/>
            <ac:spMk id="3" creationId="{C53EAF1F-B8FA-F7FE-8F42-5998CE884202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01.04.2026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DF933-BFB9-27D3-0A06-54399311E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798A3-F9BE-1F87-DE35-F0B237A62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96194-4EDA-7C56-21BE-C0BC2ED52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C18D4-5ABA-0A67-C066-259B68425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212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01.04.2026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03111389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M-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päringukeel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eelarve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Raporti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vormistamine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jagamine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Power BI </a:t>
            </a:r>
            <a:r>
              <a:rPr lang="en-US" sz="2400" err="1">
                <a:ea typeface="Inter"/>
              </a:rPr>
              <a:t>päringukeel</a:t>
            </a:r>
            <a:r>
              <a:rPr lang="en-US" sz="2400">
                <a:ea typeface="Inter"/>
              </a:rPr>
              <a:t> 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Juhend</a:t>
            </a:r>
            <a:r>
              <a:rPr lang="en-US" sz="2400">
                <a:ea typeface="Inter"/>
              </a:rPr>
              <a:t>: </a:t>
            </a:r>
            <a:r>
              <a:rPr lang="en-US" sz="2400">
                <a:ea typeface="+mn-lt"/>
                <a:cs typeface="+mn-lt"/>
                <a:hlinkClick r:id="rId2"/>
              </a:rPr>
              <a:t>Power Query M formula language reference - PowerQuery M | Microsoft Learn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+mn-lt"/>
                <a:cs typeface="+mn-lt"/>
              </a:rPr>
              <a:t>Leitav</a:t>
            </a:r>
            <a:r>
              <a:rPr lang="en-US" sz="240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ea typeface="+mn-lt"/>
                <a:cs typeface="+mn-lt"/>
              </a:rPr>
              <a:t>Paremal </a:t>
            </a:r>
            <a:r>
              <a:rPr lang="en-US" sz="2400" err="1">
                <a:ea typeface="+mn-lt"/>
                <a:cs typeface="+mn-lt"/>
              </a:rPr>
              <a:t>sammude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ea typeface="+mn-lt"/>
                <a:cs typeface="+mn-lt"/>
              </a:rPr>
              <a:t>Advanced Editor – </a:t>
            </a:r>
            <a:r>
              <a:rPr lang="en-US" sz="2400" err="1">
                <a:ea typeface="+mn-lt"/>
                <a:cs typeface="+mn-lt"/>
              </a:rPr>
              <a:t>kogu</a:t>
            </a:r>
            <a:r>
              <a:rPr lang="en-US" sz="240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päring</a:t>
            </a: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Lae alla Day3 </a:t>
            </a:r>
            <a:r>
              <a:rPr lang="en-US" sz="2400" dirty="0">
                <a:sym typeface="Wingdings" panose="05000000000000000000" pitchFamily="2" charset="2"/>
              </a:rPr>
              <a:t> DataSourcesDay3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sym typeface="Wingdings" panose="05000000000000000000" pitchFamily="2" charset="2"/>
              </a:rPr>
              <a:t>Unzip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sym typeface="Wingdings" panose="05000000000000000000" pitchFamily="2" charset="2"/>
              </a:rPr>
              <a:t>Kopeeri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oma</a:t>
            </a:r>
            <a:r>
              <a:rPr lang="en-US" sz="2400" dirty="0">
                <a:sym typeface="Wingdings" panose="05000000000000000000" pitchFamily="2" charset="2"/>
              </a:rPr>
              <a:t> “andmetarkus2026” </a:t>
            </a:r>
            <a:r>
              <a:rPr lang="en-US" sz="2400" dirty="0" err="1">
                <a:sym typeface="Wingdings" panose="05000000000000000000" pitchFamily="2" charset="2"/>
              </a:rPr>
              <a:t>kausta</a:t>
            </a:r>
            <a:endParaRPr lang="en-US" sz="2400" dirty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ym typeface="Wingdings" panose="05000000000000000000" pitchFamily="2" charset="2"/>
              </a:rPr>
              <a:t>Lae Visual Studio Code </a:t>
            </a:r>
            <a:r>
              <a:rPr lang="en-US" sz="2400" dirty="0" err="1">
                <a:sym typeface="Wingdings" panose="05000000000000000000" pitchFamily="2" charset="2"/>
              </a:rPr>
              <a:t>kaudu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üles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GitHubi</a:t>
            </a:r>
            <a:endParaRPr lang="en-US" sz="2400" dirty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ym typeface="Wingdings" panose="05000000000000000000" pitchFamily="2" charset="2"/>
              </a:rPr>
              <a:t>Võta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GitHubist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faili</a:t>
            </a:r>
            <a:r>
              <a:rPr lang="en-US" sz="2400" dirty="0">
                <a:sym typeface="Wingdings" panose="05000000000000000000" pitchFamily="2" charset="2"/>
              </a:rPr>
              <a:t> link 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sym typeface="Wingdings" panose="05000000000000000000" pitchFamily="2" charset="2"/>
              </a:rPr>
              <a:t>Ava </a:t>
            </a:r>
            <a:r>
              <a:rPr lang="en-US" sz="2400" dirty="0" err="1">
                <a:sym typeface="Wingdings" panose="05000000000000000000" pitchFamily="2" charset="2"/>
              </a:rPr>
              <a:t>kaust</a:t>
            </a:r>
            <a:r>
              <a:rPr lang="en-US" sz="2400" dirty="0">
                <a:sym typeface="Wingdings" panose="05000000000000000000" pitchFamily="2" charset="2"/>
              </a:rPr>
              <a:t>  Ava fail  Raw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ym typeface="Wingdings" panose="05000000000000000000" pitchFamily="2" charset="2"/>
              </a:rPr>
              <a:t>Muuta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andmeallikas</a:t>
            </a:r>
            <a:r>
              <a:rPr lang="en-US" sz="2400" dirty="0">
                <a:sym typeface="Wingdings" panose="05000000000000000000" pitchFamily="2" charset="2"/>
              </a:rPr>
              <a:t> Transform Data </a:t>
            </a:r>
            <a:r>
              <a:rPr lang="en-US" sz="2400" dirty="0" err="1">
                <a:sym typeface="Wingdings" panose="05000000000000000000" pitchFamily="2" charset="2"/>
              </a:rPr>
              <a:t>kaudu</a:t>
            </a:r>
            <a:r>
              <a:rPr lang="en-US" sz="2400" dirty="0">
                <a:sym typeface="Wingdings" panose="05000000000000000000" pitchFamily="2" charset="2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sym typeface="Wingdings" panose="05000000000000000000" pitchFamily="2" charset="2"/>
              </a:rPr>
              <a:t>Kopeeri</a:t>
            </a:r>
            <a:r>
              <a:rPr lang="en-US" sz="2400" dirty="0">
                <a:sym typeface="Wingdings" panose="05000000000000000000" pitchFamily="2" charset="2"/>
              </a:rPr>
              <a:t> link “Source” </a:t>
            </a:r>
            <a:r>
              <a:rPr lang="en-US" sz="2400" dirty="0" err="1">
                <a:sym typeface="Wingdings" panose="05000000000000000000" pitchFamily="2" charset="2"/>
              </a:rPr>
              <a:t>sammu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jutumärkide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  <a:r>
              <a:rPr lang="en-US" sz="2400" dirty="0" err="1">
                <a:sym typeface="Wingdings" panose="05000000000000000000" pitchFamily="2" charset="2"/>
              </a:rPr>
              <a:t>vahele</a:t>
            </a:r>
            <a:endParaRPr lang="en-US" sz="2400" dirty="0"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sym typeface="Wingdings" panose="05000000000000000000" pitchFamily="2" charset="2"/>
              </a:rPr>
              <a:t>Muuda</a:t>
            </a:r>
            <a:r>
              <a:rPr lang="en-US" sz="2400" dirty="0">
                <a:sym typeface="Wingdings" panose="05000000000000000000" pitchFamily="2" charset="2"/>
              </a:rPr>
              <a:t> “</a:t>
            </a:r>
            <a:r>
              <a:rPr lang="en-US" sz="2400" dirty="0" err="1">
                <a:sym typeface="Wingdings" panose="05000000000000000000" pitchFamily="2" charset="2"/>
              </a:rPr>
              <a:t>File.Contents</a:t>
            </a:r>
            <a:r>
              <a:rPr lang="en-US" sz="2400" dirty="0">
                <a:sym typeface="Wingdings" panose="05000000000000000000" pitchFamily="2" charset="2"/>
              </a:rPr>
              <a:t>”  “</a:t>
            </a:r>
            <a:r>
              <a:rPr lang="en-US" sz="2400" dirty="0" err="1">
                <a:sym typeface="Wingdings" panose="05000000000000000000" pitchFamily="2" charset="2"/>
              </a:rPr>
              <a:t>Web.Contents</a:t>
            </a:r>
            <a:r>
              <a:rPr lang="en-US" sz="2400" dirty="0">
                <a:sym typeface="Wingdings" panose="05000000000000000000" pitchFamily="2" charset="2"/>
              </a:rPr>
              <a:t>”</a:t>
            </a:r>
          </a:p>
          <a:p>
            <a:pPr lvl="1"/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Eelarve</a:t>
            </a:r>
            <a:r>
              <a:rPr lang="en-US"/>
              <a:t> </a:t>
            </a:r>
            <a:r>
              <a:rPr lang="en-US" err="1"/>
              <a:t>faili</a:t>
            </a:r>
            <a:r>
              <a:rPr lang="en-US"/>
              <a:t> </a:t>
            </a:r>
            <a:r>
              <a:rPr lang="en-US" err="1"/>
              <a:t>lisamine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Ühendus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kuupäeva</a:t>
            </a:r>
            <a:r>
              <a:rPr lang="en-US" sz="2000">
                <a:ea typeface="Inter"/>
              </a:rPr>
              <a:t> (</a:t>
            </a:r>
            <a:r>
              <a:rPr lang="en-US" sz="2000" err="1">
                <a:ea typeface="Inter"/>
              </a:rPr>
              <a:t>eelarve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failis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esimene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päev</a:t>
            </a:r>
            <a:r>
              <a:rPr lang="en-US" sz="2000">
                <a:ea typeface="Inter"/>
              </a:rPr>
              <a:t>) ja </a:t>
            </a:r>
            <a:r>
              <a:rPr lang="en-US" sz="2000" err="1">
                <a:ea typeface="Inter"/>
              </a:rPr>
              <a:t>SalesRep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alusel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Eelarve</a:t>
            </a:r>
            <a:r>
              <a:rPr lang="en-US" sz="2000">
                <a:ea typeface="Inter"/>
              </a:rPr>
              <a:t> fail on </a:t>
            </a:r>
            <a:r>
              <a:rPr lang="en-US" sz="2000" err="1">
                <a:ea typeface="Inter"/>
              </a:rPr>
              <a:t>risttabeli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kujul</a:t>
            </a:r>
            <a:r>
              <a:rPr lang="en-US" sz="2000">
                <a:ea typeface="Inter"/>
              </a:rPr>
              <a:t> – </a:t>
            </a:r>
            <a:r>
              <a:rPr lang="en-US" sz="2000" err="1">
                <a:ea typeface="Inter"/>
              </a:rPr>
              <a:t>vajalik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lihttabeliks</a:t>
            </a:r>
            <a:endParaRPr lang="en-US" sz="2000" err="1"/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Promote Headers</a:t>
            </a:r>
            <a:endParaRPr lang="en-US" sz="2000"/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Vali </a:t>
            </a:r>
            <a:r>
              <a:rPr lang="en-US" sz="2000" err="1">
                <a:ea typeface="Inter"/>
              </a:rPr>
              <a:t>SalesRep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</a:t>
            </a:r>
            <a:r>
              <a:rPr lang="en-US" sz="2000">
                <a:ea typeface="Inter"/>
              </a:rPr>
              <a:t> ja Unpivot other columns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</a:rPr>
              <a:t>Vaata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tulpade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formaat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Nimeta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kirjeldavate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nimedega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Loo </a:t>
            </a:r>
            <a:r>
              <a:rPr lang="en-US" sz="2000" err="1">
                <a:ea typeface="Inter"/>
              </a:rPr>
              <a:t>ühendused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mudelis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teiste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tabelitega</a:t>
            </a:r>
          </a:p>
          <a:p>
            <a:pPr lvl="1" indent="-514350">
              <a:lnSpc>
                <a:spcPct val="150000"/>
              </a:lnSpc>
              <a:buAutoNum type="arabicPeriod"/>
            </a:pPr>
            <a:r>
              <a:rPr lang="en-US" sz="2000">
                <a:ea typeface="Inter"/>
              </a:rPr>
              <a:t>Loo </a:t>
            </a:r>
            <a:r>
              <a:rPr lang="en-US" sz="2000" err="1">
                <a:ea typeface="Inter"/>
              </a:rPr>
              <a:t>visuaalid</a:t>
            </a:r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kaudu</a:t>
            </a:r>
            <a:r>
              <a:rPr lang="en-US"/>
              <a:t> </a:t>
            </a:r>
            <a:r>
              <a:rPr lang="en-US" err="1"/>
              <a:t>tulpade</a:t>
            </a:r>
            <a:r>
              <a:rPr lang="en-US"/>
              <a:t> </a:t>
            </a:r>
            <a:r>
              <a:rPr lang="en-US" err="1"/>
              <a:t>lisamine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uue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Eesmärgipärane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Arusaadav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lisada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kirjeldused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Lihtne</a:t>
            </a:r>
            <a:r>
              <a:rPr lang="en-US" sz="2400">
                <a:solidFill>
                  <a:srgbClr val="000000"/>
                </a:solidFill>
                <a:ea typeface="Inter"/>
              </a:rPr>
              <a:t> -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mõistmiseks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vajalik</a:t>
            </a:r>
            <a:r>
              <a:rPr lang="en-US" sz="2400">
                <a:solidFill>
                  <a:srgbClr val="000000"/>
                </a:solidFill>
                <a:ea typeface="Inter"/>
              </a:rPr>
              <a:t>,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muu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eemaldada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Ligipääsetav</a:t>
            </a:r>
            <a:r>
              <a:rPr lang="en-US" sz="240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nt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värvipimedusega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arvestamine</a:t>
            </a:r>
            <a:r>
              <a:rPr lang="en-US" sz="2400">
                <a:solidFill>
                  <a:srgbClr val="000000"/>
                </a:solidFill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>
                <a:solidFill>
                  <a:srgbClr val="000000"/>
                </a:solidFill>
                <a:ea typeface="Inter"/>
              </a:rPr>
              <a:t>Piisav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kontrast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tausta</a:t>
            </a:r>
            <a:r>
              <a:rPr lang="en-US" sz="24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graafiku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värvide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vahel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0-st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Kasutaja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loeb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vasakult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ülevalt</a:t>
            </a:r>
            <a:r>
              <a:rPr lang="en-US" sz="2400">
                <a:solidFill>
                  <a:srgbClr val="000000"/>
                </a:solidFill>
                <a:ea typeface="Inter"/>
              </a:rPr>
              <a:t> 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paremale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alla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info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samas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loogikas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esitada</a:t>
            </a:r>
            <a:endParaRPr lang="en-US" sz="2400" err="1"/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 Design Principles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23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473110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3550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797544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Õige </a:t>
            </a:r>
            <a:r>
              <a:rPr lang="en-US" err="1"/>
              <a:t>visuaali</a:t>
            </a:r>
            <a:r>
              <a:rPr lang="en-US"/>
              <a:t> </a:t>
            </a:r>
            <a:r>
              <a:rPr lang="en-US" err="1"/>
              <a:t>valimine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974912"/>
            <a:ext cx="7360206" cy="54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153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9496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841B-1620-7F64-AABF-17AC8BEAD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5146-E745-CD30-E5D4-2398C96FDC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Müükide</a:t>
            </a:r>
            <a:r>
              <a:rPr lang="en-US"/>
              <a:t> </a:t>
            </a:r>
            <a:r>
              <a:rPr lang="en-US" err="1"/>
              <a:t>ülevaade</a:t>
            </a:r>
            <a:r>
              <a:rPr lang="en-US"/>
              <a:t> </a:t>
            </a:r>
            <a:r>
              <a:rPr lang="en-US" err="1"/>
              <a:t>müügitiimile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4B09-5239-995B-53EC-8B8446BCCF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Kuidas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edeneb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käesoleval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kuul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eelarve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täitmine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müügiesindajate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+mn-lt"/>
                <a:cs typeface="+mn-lt"/>
              </a:rPr>
              <a:t>kaupa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?</a:t>
            </a: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130150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>
                <a:solidFill>
                  <a:srgbClr val="000000"/>
                </a:solidFill>
                <a:ea typeface="Inter"/>
              </a:rPr>
              <a:t> -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võimalik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>
                <a:solidFill>
                  <a:srgbClr val="000000"/>
                </a:solidFill>
                <a:ea typeface="Inter"/>
              </a:rPr>
              <a:t>,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siis</a:t>
            </a:r>
            <a:r>
              <a:rPr lang="en-US" sz="200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>
                <a:solidFill>
                  <a:srgbClr val="000000"/>
                </a:solidFill>
                <a:ea typeface="Inter"/>
              </a:rPr>
              <a:t> Custom Theme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Visuaalid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joondada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Visuaalid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üle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vaadata</a:t>
            </a:r>
            <a:r>
              <a:rPr lang="en-US" sz="2400">
                <a:solidFill>
                  <a:srgbClr val="000000"/>
                </a:solidFill>
                <a:ea typeface="Inter"/>
              </a:rPr>
              <a:t> – kas on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vajalikud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elemendid</a:t>
            </a:r>
            <a:r>
              <a:rPr lang="en-US" sz="2400">
                <a:solidFill>
                  <a:srgbClr val="000000"/>
                </a:solidFill>
                <a:ea typeface="Inter"/>
              </a:rPr>
              <a:t>?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Pealkirjad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üle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vaadata</a:t>
            </a:r>
            <a:endParaRPr lang="en-US" sz="2400">
              <a:solidFill>
                <a:srgbClr val="00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jagamiseks</a:t>
            </a:r>
            <a:endParaRPr lang="en-US" err="1"/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teistega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Andmestik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Raport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2162B-AE13-BD52-4200-1745BFF2F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82EF5-E4B4-624F-B619-0D4537D5B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Järelduste</a:t>
            </a:r>
            <a:r>
              <a:rPr lang="en-US"/>
              <a:t> </a:t>
            </a:r>
            <a:r>
              <a:rPr lang="en-US" err="1"/>
              <a:t>tegemine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61742-DF25-4363-F470-8E384FA03D5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Mida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saame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oma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müügiandmestiku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analüüsist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?</a:t>
            </a:r>
            <a:endParaRPr lang="en-US" dirty="0">
              <a:solidFill>
                <a:srgbClr val="121212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Kuidas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analüüsi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Kuidas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tõsta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kasumlikkust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?</a:t>
            </a:r>
            <a:endParaRPr lang="en-US" sz="2400" dirty="0">
              <a:solidFill>
                <a:srgbClr val="000000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426166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F9ECF-1EF0-3F4D-AFB7-FEEC40A6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4B0E90-E399-3E85-BFCD-9421C7D97FE8}"/>
              </a:ext>
            </a:extLst>
          </p:cNvPr>
          <p:cNvSpPr txBox="1"/>
          <p:nvPr/>
        </p:nvSpPr>
        <p:spPr>
          <a:xfrm>
            <a:off x="589226" y="466103"/>
            <a:ext cx="10368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err="1">
                <a:latin typeface="Inter Bold"/>
                <a:ea typeface="Inter"/>
              </a:rPr>
              <a:t>Müügiandmete</a:t>
            </a:r>
            <a:r>
              <a:rPr lang="en-US" sz="2400" b="1">
                <a:latin typeface="Inter Bold"/>
                <a:ea typeface="Inter"/>
              </a:rPr>
              <a:t> </a:t>
            </a:r>
            <a:r>
              <a:rPr lang="en-US" sz="2400" b="1" err="1">
                <a:latin typeface="Inter Bold"/>
                <a:ea typeface="Inter"/>
              </a:rPr>
              <a:t>põhjal</a:t>
            </a:r>
            <a:r>
              <a:rPr lang="en-US" sz="2400" b="1">
                <a:latin typeface="Inter Bold"/>
                <a:ea typeface="Inter"/>
              </a:rPr>
              <a:t> </a:t>
            </a:r>
            <a:r>
              <a:rPr lang="en-US" sz="2400" b="1" err="1">
                <a:latin typeface="Inter Bold"/>
                <a:ea typeface="Inter"/>
              </a:rPr>
              <a:t>näide</a:t>
            </a:r>
            <a:r>
              <a:rPr lang="en-US" sz="2400" b="1">
                <a:latin typeface="Inter Bold"/>
                <a:ea typeface="Inter"/>
              </a:rPr>
              <a:t> </a:t>
            </a:r>
            <a:r>
              <a:rPr lang="en-US" sz="2400" b="1" err="1">
                <a:latin typeface="Inter Bold"/>
                <a:ea typeface="Inter"/>
              </a:rPr>
              <a:t>andmeloost</a:t>
            </a:r>
            <a:endParaRPr lang="en-US" sz="2400" b="1">
              <a:latin typeface="Inter Bold"/>
              <a:ea typeface="Inter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7FEA15-4673-3222-BBD5-D47FECE98245}"/>
              </a:ext>
            </a:extLst>
          </p:cNvPr>
          <p:cNvSpPr txBox="1"/>
          <p:nvPr/>
        </p:nvSpPr>
        <p:spPr>
          <a:xfrm>
            <a:off x="3118183" y="4481763"/>
            <a:ext cx="6176209" cy="70083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Ø"/>
            </a:pPr>
            <a:r>
              <a:rPr lang="en-US" sz="1400" dirty="0">
                <a:ea typeface="Inter"/>
              </a:rPr>
              <a:t>Costs are significantly different, but average unit prices are similar. </a:t>
            </a:r>
          </a:p>
          <a:p>
            <a:pPr marL="285750" indent="-285750">
              <a:lnSpc>
                <a:spcPct val="150000"/>
              </a:lnSpc>
              <a:buFont typeface="Wingdings"/>
              <a:buChar char="Ø"/>
            </a:pPr>
            <a:r>
              <a:rPr lang="en-US" sz="1400" dirty="0">
                <a:ea typeface="Inter"/>
              </a:rPr>
              <a:t>Consider raising prices for Gadget C and Device D.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C40542A-C4B6-64AE-9BC2-3A8D5B54DA5B}"/>
              </a:ext>
            </a:extLst>
          </p:cNvPr>
          <p:cNvGrpSpPr/>
          <p:nvPr/>
        </p:nvGrpSpPr>
        <p:grpSpPr>
          <a:xfrm>
            <a:off x="3118184" y="2105525"/>
            <a:ext cx="6045868" cy="3078079"/>
            <a:chOff x="3118184" y="2105525"/>
            <a:chExt cx="6045868" cy="307807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FFF91DC-E0E0-6460-0FD6-993B52FEEF9B}"/>
                </a:ext>
              </a:extLst>
            </p:cNvPr>
            <p:cNvGrpSpPr/>
            <p:nvPr/>
          </p:nvGrpSpPr>
          <p:grpSpPr>
            <a:xfrm>
              <a:off x="3118184" y="2105525"/>
              <a:ext cx="6045868" cy="3078079"/>
              <a:chOff x="3118184" y="2105525"/>
              <a:chExt cx="6045868" cy="3078079"/>
            </a:xfrm>
          </p:grpSpPr>
          <p:pic>
            <p:nvPicPr>
              <p:cNvPr id="3" name="Picture 2" descr="A screenshot of a price list&#10;&#10;AI-generated content may be incorrect.">
                <a:extLst>
                  <a:ext uri="{FF2B5EF4-FFF2-40B4-BE49-F238E27FC236}">
                    <a16:creationId xmlns:a16="http://schemas.microsoft.com/office/drawing/2014/main" id="{5710E79F-52E9-74F5-8969-7A5AEF53A3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87150" y="2665272"/>
                <a:ext cx="5438273" cy="1709988"/>
              </a:xfrm>
              <a:prstGeom prst="rect">
                <a:avLst/>
              </a:prstGeom>
              <a:ln>
                <a:noFill/>
              </a:ln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AAB000F-3FDF-A298-A857-299EE56275A9}"/>
                  </a:ext>
                </a:extLst>
              </p:cNvPr>
              <p:cNvSpPr txBox="1"/>
              <p:nvPr/>
            </p:nvSpPr>
            <p:spPr>
              <a:xfrm>
                <a:off x="3118184" y="2105526"/>
                <a:ext cx="6045868" cy="369332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b="1">
                    <a:solidFill>
                      <a:srgbClr val="FFFFFF"/>
                    </a:solidFill>
                    <a:ea typeface="Inter"/>
                  </a:rPr>
                  <a:t>Pricing model needs review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C684C0-8797-503E-DAD1-EC900E96B8A7}"/>
                  </a:ext>
                </a:extLst>
              </p:cNvPr>
              <p:cNvSpPr/>
              <p:nvPr/>
            </p:nvSpPr>
            <p:spPr>
              <a:xfrm>
                <a:off x="3118184" y="2105525"/>
                <a:ext cx="6045867" cy="307807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C938FF6-1A89-CFA2-0A21-F0F5D52BF284}"/>
                </a:ext>
              </a:extLst>
            </p:cNvPr>
            <p:cNvSpPr/>
            <p:nvPr/>
          </p:nvSpPr>
          <p:spPr>
            <a:xfrm>
              <a:off x="4772526" y="2626894"/>
              <a:ext cx="1072816" cy="1704473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960100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845</TotalTime>
  <Words>598</Words>
  <Application>Microsoft Office PowerPoint</Application>
  <PresentationFormat>Widescreen</PresentationFormat>
  <Paragraphs>101</Paragraphs>
  <Slides>22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Poppins SemiBold</vt:lpstr>
      <vt:lpstr>Wingdings</vt:lpstr>
      <vt:lpstr>Inter Bold</vt:lpstr>
      <vt:lpstr>Inter</vt:lpstr>
      <vt:lpstr>Arial</vt:lpstr>
      <vt:lpstr>Courier New</vt:lpstr>
      <vt:lpstr>Calibri</vt:lpstr>
      <vt:lpstr>BCS</vt:lpstr>
      <vt:lpstr>Vali Andmetarkus!</vt:lpstr>
      <vt:lpstr>Päevakava - III päev</vt:lpstr>
      <vt:lpstr>Power BI – Päringud (M-language)</vt:lpstr>
      <vt:lpstr>Harjutus – muudame andmeallikad veebipõhiseks</vt:lpstr>
      <vt:lpstr>Power BI – Eelarve faili lisamine</vt:lpstr>
      <vt:lpstr>Power BI – päringu kaudu tulpade lisamine</vt:lpstr>
      <vt:lpstr>Paus 10:30-10:45</vt:lpstr>
      <vt:lpstr>Andmete visualiseerimise parimad praktikad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Õige visuaali valimine</vt:lpstr>
      <vt:lpstr>Lugemist visualiseerimise teemal</vt:lpstr>
      <vt:lpstr>Lõunapaus 12:15-13:15</vt:lpstr>
      <vt:lpstr>Müükide ülevaade müügitiimile</vt:lpstr>
      <vt:lpstr>Power BI Desktop – vormistame raporti</vt:lpstr>
      <vt:lpstr>Power BI Service</vt:lpstr>
      <vt:lpstr>Paus 14:45-15:00</vt:lpstr>
      <vt:lpstr>Andmeloo jutustamine</vt:lpstr>
      <vt:lpstr>Järelduste tegemine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</cp:revision>
  <dcterms:created xsi:type="dcterms:W3CDTF">2021-08-27T11:35:28Z</dcterms:created>
  <dcterms:modified xsi:type="dcterms:W3CDTF">2026-04-01T12:15:20Z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